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431" r:id="rId2"/>
    <p:sldId id="432" r:id="rId3"/>
    <p:sldId id="435" r:id="rId4"/>
    <p:sldId id="436" r:id="rId5"/>
    <p:sldId id="461" r:id="rId6"/>
    <p:sldId id="434" r:id="rId7"/>
    <p:sldId id="462" r:id="rId8"/>
    <p:sldId id="433" r:id="rId9"/>
    <p:sldId id="437" r:id="rId10"/>
    <p:sldId id="448" r:id="rId11"/>
    <p:sldId id="464" r:id="rId12"/>
    <p:sldId id="438" r:id="rId13"/>
    <p:sldId id="439" r:id="rId14"/>
    <p:sldId id="440" r:id="rId15"/>
    <p:sldId id="441" r:id="rId16"/>
    <p:sldId id="442" r:id="rId17"/>
    <p:sldId id="443" r:id="rId18"/>
    <p:sldId id="444" r:id="rId19"/>
    <p:sldId id="445" r:id="rId20"/>
    <p:sldId id="446" r:id="rId21"/>
    <p:sldId id="468" r:id="rId22"/>
    <p:sldId id="467" r:id="rId23"/>
    <p:sldId id="447" r:id="rId24"/>
    <p:sldId id="449" r:id="rId25"/>
    <p:sldId id="450" r:id="rId26"/>
    <p:sldId id="451" r:id="rId27"/>
    <p:sldId id="452" r:id="rId28"/>
    <p:sldId id="453" r:id="rId29"/>
    <p:sldId id="454" r:id="rId30"/>
    <p:sldId id="455" r:id="rId31"/>
    <p:sldId id="457" r:id="rId32"/>
    <p:sldId id="456" r:id="rId33"/>
    <p:sldId id="465" r:id="rId34"/>
    <p:sldId id="458" r:id="rId35"/>
    <p:sldId id="466" r:id="rId36"/>
    <p:sldId id="471" r:id="rId37"/>
    <p:sldId id="474" r:id="rId38"/>
    <p:sldId id="473" r:id="rId39"/>
    <p:sldId id="472" r:id="rId40"/>
    <p:sldId id="459" r:id="rId41"/>
    <p:sldId id="463" r:id="rId42"/>
    <p:sldId id="46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1121" autoAdjust="0"/>
  </p:normalViewPr>
  <p:slideViewPr>
    <p:cSldViewPr snapToGrid="0">
      <p:cViewPr varScale="1">
        <p:scale>
          <a:sx n="113" d="100"/>
          <a:sy n="113" d="100"/>
        </p:scale>
        <p:origin x="258" y="12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B5AA8-8505-AA42-AFAF-B8E23F61A9D2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1BFCA-FBDE-5F40-8484-A4B98B2B0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44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1BFCA-FBDE-5F40-8484-A4B98B2B0A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796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1BFCA-FBDE-5F40-8484-A4B98B2B0A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20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1BFCA-FBDE-5F40-8484-A4B98B2B0A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51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7315-5F99-0EA8-F410-D3683620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5FD60-3B28-D159-E01B-B622681FFB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F84ED-D99D-C1AC-AD0B-FA9E274BC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AC883-7A3E-42A2-8F83-82F7DCC4F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1BFCA-FBDE-5F40-8484-A4B98B2B0A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87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1BFCA-FBDE-5F40-8484-A4B98B2B0A4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1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870A9-CCF2-F02A-EA0C-33B74AEDC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5A0F0-E0B3-9813-0AB9-0DC3E6CE3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C0E5-79D9-2C89-B192-155233AB6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07855-B929-2537-E346-B1C0CBA2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8427-8B88-2189-C4B7-1EA6BB25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4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07675-B58E-1B9B-E38F-16263DF40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6F21A-5538-7201-1E17-CF811BD17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70907-BEE4-7B28-B90E-022E53F65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CD92D-1CCB-719F-5B9C-4DE51B94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7605A-EF33-385E-1CF8-57BAAFFF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61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D30F4-3E84-E91A-22A3-E3F96E160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62237-85EA-947F-D8CA-FE1291E9B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A1CAB-8528-2E85-0E8E-F8BAD1AC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586EF-80DE-D145-7828-12914D90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39EE4-897E-4203-0560-297F0154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5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0CEFF-3EF5-2797-FEBE-2AE5C8A6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DC5E8-492A-1156-4BC3-7C1D7F3F7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83D11-65D4-BDF4-7FAD-F1C11C263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5E3DE-0ED1-6DCD-234F-65C8202E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FF9C7-1890-035D-DD2D-9499F6AE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083DF-CCC0-5493-3DDE-5CDE1152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4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95B4-6CF1-8E8D-92E2-954BA61A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78CCA-ED36-5B1C-D0DF-6B6D4326D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5ACAA-C228-FD3B-F456-239AC2B34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35001D-9273-91F3-F009-79C23306F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2A9C1-421F-5D93-BFC9-4AA4DD9B2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E2180-1457-B278-BEB7-1E157BB4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011F5-E551-E40F-2554-A956A359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15ED34-CD39-93B8-014A-F816A6F6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8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03511-C258-3324-E3E5-2A1FBF92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F22BC-762D-9B1C-81EF-60509847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D01AF-1BB6-7C7C-54DB-F254E507F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4206F-EA67-5B44-81E5-C2AD6752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1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8BB07-2E75-6E3B-C8DB-0C1CFF5C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8E959-E68C-4BE3-791C-4A4918A06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5CAB8-8935-6F06-7FBF-BAD859789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1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DAE5-E1FF-5727-7578-20C81B75C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3991D-F705-A0C9-9B25-51FE51B35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AB8E1-F47B-B25E-5DBD-DAEF096E7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6D455-30A0-22EA-DE22-6FEA8E90A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FA5D2-CEA6-D8D9-D02E-101FFF40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EB05F-ECDC-42D3-9514-AEA694F2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5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BB85D-4EF7-EC1F-C4C0-46D6E0B6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3A05B4-EABD-4779-5A19-C6FC53634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598E6-AFB3-0EBC-3B02-47418B580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F24D6-FEFE-117F-0F9C-15B1EF4C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CADC4-39F5-EFBA-2319-6B2946008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878F6-D4FF-38D8-9680-A8E733BF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74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946BC-1FD0-2248-A21D-EAD07179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A4BE2-1476-93BB-7BA5-83D2F0188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565CC-716A-B8E0-B286-6A5C8CBB2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49A66-B5EC-A010-AA9B-94A941ABA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B3CBE-95C4-8D5C-834F-6B7C2663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2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B0778-F5D9-83C2-6083-CCBFAF870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96415-30EE-8000-71B1-50B60E0C2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E84CF-06BA-A51F-C121-F0B5553B6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1D972-B0D3-38ED-43A8-C66A260FA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4E7BF-E66A-EE59-1614-8516C053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92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A46420-D1CC-5501-48E6-E24419EF4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5CAEF-C2A8-5E43-6B12-99816BA01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DD223-4B00-721E-C263-BF8C4C23BD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3B0DB-27AC-BA40-ABB7-134D8612C1E7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1506B-9A31-0E97-218A-9E3B594FB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96B5-55D3-44AE-C484-F83E6293E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467D9-B608-DF41-8BF0-677248A77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8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jpeg"/><Relationship Id="rId7" Type="http://schemas.openxmlformats.org/officeDocument/2006/relationships/image" Target="../media/image18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10" Type="http://schemas.openxmlformats.org/officeDocument/2006/relationships/image" Target="../media/image19.jpeg"/><Relationship Id="rId4" Type="http://schemas.openxmlformats.org/officeDocument/2006/relationships/image" Target="../media/image148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5.jpeg"/><Relationship Id="rId7" Type="http://schemas.openxmlformats.org/officeDocument/2006/relationships/image" Target="../media/image1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7.jpeg"/><Relationship Id="rId4" Type="http://schemas.openxmlformats.org/officeDocument/2006/relationships/image" Target="../media/image5.jpe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7.jpe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image" Target="../media/image2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7.jpeg"/><Relationship Id="rId5" Type="http://schemas.openxmlformats.org/officeDocument/2006/relationships/image" Target="../media/image40.png"/><Relationship Id="rId10" Type="http://schemas.openxmlformats.org/officeDocument/2006/relationships/image" Target="../media/image44.png"/><Relationship Id="rId4" Type="http://schemas.openxmlformats.org/officeDocument/2006/relationships/image" Target="../media/image5.jpe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6.png"/><Relationship Id="rId12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5.jpeg"/><Relationship Id="rId10" Type="http://schemas.openxmlformats.org/officeDocument/2006/relationships/image" Target="../media/image48.png"/><Relationship Id="rId4" Type="http://schemas.openxmlformats.org/officeDocument/2006/relationships/image" Target="../media/image44.png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72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72.png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5.jpeg"/><Relationship Id="rId7" Type="http://schemas.openxmlformats.org/officeDocument/2006/relationships/image" Target="../media/image89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10" Type="http://schemas.openxmlformats.org/officeDocument/2006/relationships/image" Target="../media/image7.jpeg"/><Relationship Id="rId4" Type="http://schemas.openxmlformats.org/officeDocument/2006/relationships/image" Target="../media/image87.png"/><Relationship Id="rId9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6.png"/><Relationship Id="rId3" Type="http://schemas.openxmlformats.org/officeDocument/2006/relationships/image" Target="../media/image92.png"/><Relationship Id="rId7" Type="http://schemas.openxmlformats.org/officeDocument/2006/relationships/image" Target="../media/image87.png"/><Relationship Id="rId12" Type="http://schemas.openxmlformats.org/officeDocument/2006/relationships/image" Target="../media/image9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90.png"/><Relationship Id="rId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93.png"/><Relationship Id="rId14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4.png"/><Relationship Id="rId3" Type="http://schemas.openxmlformats.org/officeDocument/2006/relationships/image" Target="../media/image116.png"/><Relationship Id="rId7" Type="http://schemas.openxmlformats.org/officeDocument/2006/relationships/image" Target="../media/image5.jpeg"/><Relationship Id="rId12" Type="http://schemas.openxmlformats.org/officeDocument/2006/relationships/image" Target="../media/image123.png"/><Relationship Id="rId2" Type="http://schemas.openxmlformats.org/officeDocument/2006/relationships/image" Target="../media/image115.png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2.png"/><Relationship Id="rId5" Type="http://schemas.openxmlformats.org/officeDocument/2006/relationships/image" Target="../media/image118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4" Type="http://schemas.openxmlformats.org/officeDocument/2006/relationships/image" Target="../media/image117.png"/><Relationship Id="rId14" Type="http://schemas.openxmlformats.org/officeDocument/2006/relationships/image" Target="../media/image1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7.png"/><Relationship Id="rId7" Type="http://schemas.openxmlformats.org/officeDocument/2006/relationships/image" Target="../media/image13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10" Type="http://schemas.openxmlformats.org/officeDocument/2006/relationships/image" Target="../media/image7.jpeg"/><Relationship Id="rId9" Type="http://schemas.openxmlformats.org/officeDocument/2006/relationships/image" Target="../media/image13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3" Type="http://schemas.openxmlformats.org/officeDocument/2006/relationships/image" Target="../media/image1340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0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B7A3-17E3-CCB2-6B99-9AB086983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0866" y="572494"/>
            <a:ext cx="8303812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Interactive Proofs for Distribution Testing with Conditional Oracles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1A821-9D0C-C738-2467-160291E4D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59" y="5381400"/>
            <a:ext cx="12069455" cy="565779"/>
          </a:xfrm>
        </p:spPr>
        <p:txBody>
          <a:bodyPr/>
          <a:lstStyle/>
          <a:p>
            <a:pPr algn="l"/>
            <a:r>
              <a:rPr lang="en-US" dirty="0"/>
              <a:t>Ari Biswas                    Mark Bun                  Clément </a:t>
            </a:r>
            <a:r>
              <a:rPr lang="en-US" dirty="0" err="1"/>
              <a:t>Canonne</a:t>
            </a:r>
            <a:r>
              <a:rPr lang="en-US" dirty="0"/>
              <a:t>                    Satchit Sivakumar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DD207-EAD1-BC6B-8A5B-3A1C7FEBC875}"/>
              </a:ext>
            </a:extLst>
          </p:cNvPr>
          <p:cNvSpPr txBox="1"/>
          <p:nvPr/>
        </p:nvSpPr>
        <p:spPr>
          <a:xfrm>
            <a:off x="230588" y="5779838"/>
            <a:ext cx="11595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University of Warwick               Boston University		    University of Sydney	                         Boston University</a:t>
            </a:r>
          </a:p>
          <a:p>
            <a:endParaRPr lang="en-US" dirty="0"/>
          </a:p>
        </p:txBody>
      </p:sp>
      <p:pic>
        <p:nvPicPr>
          <p:cNvPr id="1028" name="Picture 4" descr="Ari Biswas">
            <a:extLst>
              <a:ext uri="{FF2B5EF4-FFF2-40B4-BE49-F238E27FC236}">
                <a16:creationId xmlns:a16="http://schemas.microsoft.com/office/drawing/2014/main" id="{13D1F1FF-3E8D-1D8A-45F4-83229E44D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75" y="3742645"/>
            <a:ext cx="1638755" cy="163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lément Canonne's homepage">
            <a:extLst>
              <a:ext uri="{FF2B5EF4-FFF2-40B4-BE49-F238E27FC236}">
                <a16:creationId xmlns:a16="http://schemas.microsoft.com/office/drawing/2014/main" id="{0F307848-9446-3D08-02CD-9308FBFFD6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5" b="23121"/>
          <a:stretch>
            <a:fillRect/>
          </a:stretch>
        </p:blipFill>
        <p:spPr bwMode="auto">
          <a:xfrm>
            <a:off x="5956852" y="3429000"/>
            <a:ext cx="1842549" cy="188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oretical Computer Science at Boston University">
            <a:extLst>
              <a:ext uri="{FF2B5EF4-FFF2-40B4-BE49-F238E27FC236}">
                <a16:creationId xmlns:a16="http://schemas.microsoft.com/office/drawing/2014/main" id="{E35E204E-CB8C-43B0-2597-C757CC85B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451" y="3429000"/>
            <a:ext cx="1881932" cy="188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E2CEE5-C6E6-15D6-F97E-3F4300624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725" y="624172"/>
            <a:ext cx="2535141" cy="253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72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1A295E-A3DC-CE8E-3203-91288C5B624A}"/>
              </a:ext>
            </a:extLst>
          </p:cNvPr>
          <p:cNvSpPr/>
          <p:nvPr/>
        </p:nvSpPr>
        <p:spPr>
          <a:xfrm>
            <a:off x="5994752" y="4641600"/>
            <a:ext cx="5145102" cy="1459078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42B895-9754-AFFD-54A1-9F6BA964F5F9}"/>
              </a:ext>
            </a:extLst>
          </p:cNvPr>
          <p:cNvSpPr/>
          <p:nvPr/>
        </p:nvSpPr>
        <p:spPr>
          <a:xfrm>
            <a:off x="6096000" y="319177"/>
            <a:ext cx="5980981" cy="3971698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14487-B3B4-DC0D-7A9A-ACB0C873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64" y="-132793"/>
            <a:ext cx="10515600" cy="1325563"/>
          </a:xfrm>
        </p:spPr>
        <p:txBody>
          <a:bodyPr/>
          <a:lstStyle/>
          <a:p>
            <a:r>
              <a:rPr lang="en-US" dirty="0"/>
              <a:t>Distribution Testing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CBE3E6E9-F11D-9BB7-B9BB-02C63D606306}"/>
              </a:ext>
            </a:extLst>
          </p:cNvPr>
          <p:cNvSpPr/>
          <p:nvPr/>
        </p:nvSpPr>
        <p:spPr>
          <a:xfrm>
            <a:off x="219364" y="2120125"/>
            <a:ext cx="2596664" cy="1594120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The Elusive Aardvark - Needles Lodge">
            <a:extLst>
              <a:ext uri="{FF2B5EF4-FFF2-40B4-BE49-F238E27FC236}">
                <a16:creationId xmlns:a16="http://schemas.microsoft.com/office/drawing/2014/main" id="{8ABBD1D4-C4CC-F8F4-1416-D65EA26F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245" y="4290875"/>
            <a:ext cx="2359602" cy="145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Circular 7">
            <a:extLst>
              <a:ext uri="{FF2B5EF4-FFF2-40B4-BE49-F238E27FC236}">
                <a16:creationId xmlns:a16="http://schemas.microsoft.com/office/drawing/2014/main" id="{1392428B-CC8E-10B0-69C9-0D8CDF8D1ECB}"/>
              </a:ext>
            </a:extLst>
          </p:cNvPr>
          <p:cNvSpPr/>
          <p:nvPr/>
        </p:nvSpPr>
        <p:spPr>
          <a:xfrm rot="622171">
            <a:off x="1530098" y="2111547"/>
            <a:ext cx="3379668" cy="2996811"/>
          </a:xfrm>
          <a:prstGeom prst="circularArrow">
            <a:avLst>
              <a:gd name="adj1" fmla="val 9108"/>
              <a:gd name="adj2" fmla="val 852603"/>
              <a:gd name="adj3" fmla="val 21153664"/>
              <a:gd name="adj4" fmla="val 1444767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2062DD-0B2F-FD0D-C03A-E8BB5A5D5470}"/>
                  </a:ext>
                </a:extLst>
              </p:cNvPr>
              <p:cNvSpPr txBox="1"/>
              <p:nvPr/>
            </p:nvSpPr>
            <p:spPr>
              <a:xfrm>
                <a:off x="962315" y="2655575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2062DD-0B2F-FD0D-C03A-E8BB5A5D5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5" y="2655575"/>
                <a:ext cx="119149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9C7A21-D9D6-C268-F4A6-F8B5E322F8BD}"/>
                  </a:ext>
                </a:extLst>
              </p:cNvPr>
              <p:cNvSpPr txBox="1"/>
              <p:nvPr/>
            </p:nvSpPr>
            <p:spPr>
              <a:xfrm>
                <a:off x="1301034" y="1469952"/>
                <a:ext cx="44508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Unknown distribution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9C7A21-D9D6-C268-F4A6-F8B5E322F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034" y="1469952"/>
                <a:ext cx="4450877" cy="461665"/>
              </a:xfrm>
              <a:prstGeom prst="rect">
                <a:avLst/>
              </a:prstGeom>
              <a:blipFill>
                <a:blip r:embed="rId4"/>
                <a:stretch>
                  <a:fillRect l="-205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1D95391-C948-7EDC-3CF2-BD4AE573B91F}"/>
              </a:ext>
            </a:extLst>
          </p:cNvPr>
          <p:cNvSpPr txBox="1"/>
          <p:nvPr/>
        </p:nvSpPr>
        <p:spPr>
          <a:xfrm>
            <a:off x="4580898" y="273251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61C837-EE37-99CD-DFAA-96C3276F7EC5}"/>
                  </a:ext>
                </a:extLst>
              </p:cNvPr>
              <p:cNvSpPr txBox="1"/>
              <p:nvPr/>
            </p:nvSpPr>
            <p:spPr>
              <a:xfrm>
                <a:off x="6315391" y="660487"/>
                <a:ext cx="5992671" cy="3385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(approximately) uniform?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What is the support size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What is the Shannon entropy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Is the PMF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monotone?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61C837-EE37-99CD-DFAA-96C3276F7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391" y="660487"/>
                <a:ext cx="5992671" cy="3385542"/>
              </a:xfrm>
              <a:prstGeom prst="rect">
                <a:avLst/>
              </a:prstGeom>
              <a:blipFill>
                <a:blip r:embed="rId5"/>
                <a:stretch>
                  <a:fillRect l="-1831" t="-1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1F8048-1D37-B8A4-59C7-91234A0FF988}"/>
                  </a:ext>
                </a:extLst>
              </p:cNvPr>
              <p:cNvSpPr txBox="1"/>
              <p:nvPr/>
            </p:nvSpPr>
            <p:spPr>
              <a:xfrm>
                <a:off x="687953" y="4971555"/>
                <a:ext cx="2601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Testing algorithm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1F8048-1D37-B8A4-59C7-91234A0FF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3" y="4971555"/>
                <a:ext cx="2601565" cy="369332"/>
              </a:xfrm>
              <a:prstGeom prst="rect">
                <a:avLst/>
              </a:prstGeom>
              <a:blipFill>
                <a:blip r:embed="rId6"/>
                <a:stretch>
                  <a:fillRect l="-2108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29932E-0AA5-C9AC-4E8D-82B25CB8B8E9}"/>
                  </a:ext>
                </a:extLst>
              </p:cNvPr>
              <p:cNvSpPr txBox="1"/>
              <p:nvPr/>
            </p:nvSpPr>
            <p:spPr>
              <a:xfrm>
                <a:off x="6416984" y="4863834"/>
                <a:ext cx="431798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u="sng" dirty="0"/>
                  <a:t>Baseline:</a:t>
                </a:r>
                <a:r>
                  <a:rPr lang="en-US" sz="2800" dirty="0"/>
                  <a:t> Learn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using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800" dirty="0"/>
                  <a:t> samples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29932E-0AA5-C9AC-4E8D-82B25CB8B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984" y="4863834"/>
                <a:ext cx="4317980" cy="954107"/>
              </a:xfrm>
              <a:prstGeom prst="rect">
                <a:avLst/>
              </a:prstGeom>
              <a:blipFill>
                <a:blip r:embed="rId7"/>
                <a:stretch>
                  <a:fillRect l="-2966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097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71573-505B-07D1-9753-2754EC149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56F824-34BD-4449-06C6-E51838198E75}"/>
              </a:ext>
            </a:extLst>
          </p:cNvPr>
          <p:cNvSpPr/>
          <p:nvPr/>
        </p:nvSpPr>
        <p:spPr>
          <a:xfrm>
            <a:off x="6052572" y="319177"/>
            <a:ext cx="5980981" cy="548374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9109BA-0AE5-9763-836A-E8755B60DB53}"/>
                  </a:ext>
                </a:extLst>
              </p:cNvPr>
              <p:cNvSpPr txBox="1"/>
              <p:nvPr/>
            </p:nvSpPr>
            <p:spPr>
              <a:xfrm>
                <a:off x="6364694" y="738878"/>
                <a:ext cx="5705856" cy="5970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i="1" dirty="0"/>
                  <a:t>property</a:t>
                </a:r>
                <a:r>
                  <a:rPr lang="en-US" sz="2800" dirty="0"/>
                  <a:t>  is a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800" dirty="0"/>
                  <a:t> of distributions</a:t>
                </a:r>
              </a:p>
              <a:p>
                <a:endParaRPr lang="en-US" sz="2800" dirty="0"/>
              </a:p>
              <a:p>
                <a:r>
                  <a:rPr lang="en-US" sz="2800" u="sng" dirty="0"/>
                  <a:t>Completeness: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800" dirty="0"/>
                  <a:t>,</a:t>
                </a:r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]≥2/3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Soundness: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800" dirty="0"/>
                  <a:t>-far from every distribution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Cost:</a:t>
                </a:r>
                <a:r>
                  <a:rPr lang="en-US" sz="2800" dirty="0"/>
                  <a:t> Number of samples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draws from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9109BA-0AE5-9763-836A-E8755B60D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694" y="738878"/>
                <a:ext cx="5705856" cy="5970865"/>
              </a:xfrm>
              <a:prstGeom prst="rect">
                <a:avLst/>
              </a:prstGeom>
              <a:blipFill>
                <a:blip r:embed="rId3"/>
                <a:stretch>
                  <a:fillRect l="-2137" t="-1020" r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loud 6">
            <a:extLst>
              <a:ext uri="{FF2B5EF4-FFF2-40B4-BE49-F238E27FC236}">
                <a16:creationId xmlns:a16="http://schemas.microsoft.com/office/drawing/2014/main" id="{0ED25304-5E54-500D-D0BF-F1D6AA3421C5}"/>
              </a:ext>
            </a:extLst>
          </p:cNvPr>
          <p:cNvSpPr/>
          <p:nvPr/>
        </p:nvSpPr>
        <p:spPr>
          <a:xfrm>
            <a:off x="219364" y="2120125"/>
            <a:ext cx="2596664" cy="1594120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The Elusive Aardvark - Needles Lodge">
            <a:extLst>
              <a:ext uri="{FF2B5EF4-FFF2-40B4-BE49-F238E27FC236}">
                <a16:creationId xmlns:a16="http://schemas.microsoft.com/office/drawing/2014/main" id="{39CC0183-6BAD-1597-A6F6-ABAA5430C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245" y="4290875"/>
            <a:ext cx="2359602" cy="145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03B1FBF4-FF43-1DDA-2690-C4FADA0BFC4E}"/>
              </a:ext>
            </a:extLst>
          </p:cNvPr>
          <p:cNvSpPr/>
          <p:nvPr/>
        </p:nvSpPr>
        <p:spPr>
          <a:xfrm rot="622171">
            <a:off x="1530098" y="2111547"/>
            <a:ext cx="3379668" cy="2996811"/>
          </a:xfrm>
          <a:prstGeom prst="circularArrow">
            <a:avLst>
              <a:gd name="adj1" fmla="val 9108"/>
              <a:gd name="adj2" fmla="val 852603"/>
              <a:gd name="adj3" fmla="val 21153664"/>
              <a:gd name="adj4" fmla="val 1444767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14CD18-9D88-BFB5-79EC-03060FEDFC54}"/>
                  </a:ext>
                </a:extLst>
              </p:cNvPr>
              <p:cNvSpPr txBox="1"/>
              <p:nvPr/>
            </p:nvSpPr>
            <p:spPr>
              <a:xfrm>
                <a:off x="962315" y="2655575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14CD18-9D88-BFB5-79EC-03060FEDF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15" y="2655575"/>
                <a:ext cx="119149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B71D9A-D2EB-A064-FCA0-6B8F2FAEEF28}"/>
                  </a:ext>
                </a:extLst>
              </p:cNvPr>
              <p:cNvSpPr txBox="1"/>
              <p:nvPr/>
            </p:nvSpPr>
            <p:spPr>
              <a:xfrm>
                <a:off x="1301034" y="1469952"/>
                <a:ext cx="44508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Unknown distribution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B71D9A-D2EB-A064-FCA0-6B8F2FAEE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034" y="1469952"/>
                <a:ext cx="4450877" cy="461665"/>
              </a:xfrm>
              <a:prstGeom prst="rect">
                <a:avLst/>
              </a:prstGeom>
              <a:blipFill>
                <a:blip r:embed="rId6"/>
                <a:stretch>
                  <a:fillRect l="-205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DEE2FCC-58C7-4DCF-26A2-9EB3062293A1}"/>
              </a:ext>
            </a:extLst>
          </p:cNvPr>
          <p:cNvSpPr txBox="1"/>
          <p:nvPr/>
        </p:nvSpPr>
        <p:spPr>
          <a:xfrm>
            <a:off x="4580898" y="2732519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5A3F73F-60DC-9001-13E4-CDA8E94F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64" y="-132793"/>
            <a:ext cx="10515600" cy="1325563"/>
          </a:xfrm>
        </p:spPr>
        <p:txBody>
          <a:bodyPr/>
          <a:lstStyle/>
          <a:p>
            <a:r>
              <a:rPr lang="en-US" dirty="0"/>
              <a:t>Distribution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7EE983-3C17-E467-5446-A4C4FB66E8E0}"/>
                  </a:ext>
                </a:extLst>
              </p:cNvPr>
              <p:cNvSpPr txBox="1"/>
              <p:nvPr/>
            </p:nvSpPr>
            <p:spPr>
              <a:xfrm>
                <a:off x="687953" y="4971555"/>
                <a:ext cx="26015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Testing algorithm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7EE983-3C17-E467-5446-A4C4FB66E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53" y="4971555"/>
                <a:ext cx="2601565" cy="369332"/>
              </a:xfrm>
              <a:prstGeom prst="rect">
                <a:avLst/>
              </a:prstGeom>
              <a:blipFill>
                <a:blip r:embed="rId7"/>
                <a:stretch>
                  <a:fillRect l="-2108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39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55A5-2F5E-AA07-1624-1CE3D3548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22B00A-7AB6-9351-2ABC-26C2399C98BE}"/>
              </a:ext>
            </a:extLst>
          </p:cNvPr>
          <p:cNvSpPr/>
          <p:nvPr/>
        </p:nvSpPr>
        <p:spPr>
          <a:xfrm>
            <a:off x="6052572" y="319177"/>
            <a:ext cx="5980981" cy="548374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A666D-B133-7B78-3041-DBCDDB5B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64" y="-123336"/>
            <a:ext cx="10515600" cy="1325563"/>
          </a:xfrm>
        </p:spPr>
        <p:txBody>
          <a:bodyPr/>
          <a:lstStyle/>
          <a:p>
            <a:r>
              <a:rPr lang="en-US" dirty="0"/>
              <a:t>Distribution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FF18BD-C056-E75D-008C-794F332C3B5E}"/>
                  </a:ext>
                </a:extLst>
              </p:cNvPr>
              <p:cNvSpPr txBox="1"/>
              <p:nvPr/>
            </p:nvSpPr>
            <p:spPr>
              <a:xfrm>
                <a:off x="6364694" y="738878"/>
                <a:ext cx="5705856" cy="5970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i="1" dirty="0"/>
                  <a:t>property</a:t>
                </a:r>
                <a:r>
                  <a:rPr lang="en-US" sz="2800" dirty="0"/>
                  <a:t>  is a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800" dirty="0"/>
                  <a:t> of distributions</a:t>
                </a:r>
              </a:p>
              <a:p>
                <a:endParaRPr lang="en-US" sz="2800" dirty="0"/>
              </a:p>
              <a:p>
                <a:r>
                  <a:rPr lang="en-US" sz="2800" u="sng" dirty="0"/>
                  <a:t>Completeness: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800" dirty="0"/>
                  <a:t>,</a:t>
                </a:r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]≥2/3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Soundness: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800" dirty="0"/>
                  <a:t>-far from every distribution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Cost:</a:t>
                </a:r>
                <a:r>
                  <a:rPr lang="en-US" sz="2800" dirty="0"/>
                  <a:t> Number of samples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draws from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FF18BD-C056-E75D-008C-794F332C3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694" y="738878"/>
                <a:ext cx="5705856" cy="5970865"/>
              </a:xfrm>
              <a:prstGeom prst="rect">
                <a:avLst/>
              </a:prstGeom>
              <a:blipFill>
                <a:blip r:embed="rId3"/>
                <a:stretch>
                  <a:fillRect l="-2137" t="-1020" r="-1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68C64D-BC2F-903F-3C9F-CD3B15C5DB19}"/>
                  </a:ext>
                </a:extLst>
              </p:cNvPr>
              <p:cNvSpPr txBox="1"/>
              <p:nvPr/>
            </p:nvSpPr>
            <p:spPr>
              <a:xfrm>
                <a:off x="121450" y="1151726"/>
                <a:ext cx="6536246" cy="5990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uniform?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dirty="0"/>
                  <a:t>[Goldreich-Ron00]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Does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have support size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Does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have Shannon entropy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r>
                  <a:rPr lang="en-US" sz="2800" dirty="0"/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/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1600" dirty="0"/>
                  <a:t>[Raskhodnikova-Ron-Shpilka-Smith07, Valiant08, Valiant-Valiant11]</a:t>
                </a:r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Is the PMF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monotone?</a:t>
                </a:r>
              </a:p>
              <a:p>
                <a:r>
                  <a:rPr lang="en-US" sz="2800" dirty="0"/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             total ordering</a:t>
                </a:r>
              </a:p>
              <a:p>
                <a:r>
                  <a:rPr lang="en-US" sz="2800" dirty="0"/>
                  <a:t>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/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2800" dirty="0"/>
                  <a:t>    partial orderings</a:t>
                </a:r>
              </a:p>
              <a:p>
                <a:r>
                  <a:rPr lang="en-US" sz="1600" dirty="0"/>
                  <a:t>[Batu-Kumar-Rubinfeld04, Bhattacharyya-Fischer-Rubinfeld-Valiant10, Acharya-Daskalakis-Kamath15, Canonne-Diakonikolas-Gouleakis-Rubinfeld16, Aliakbarpour-Gouleakis-Peebles-Rubinfeld-Yodpinyanee19]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68C64D-BC2F-903F-3C9F-CD3B15C5D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50" y="1151726"/>
                <a:ext cx="6536246" cy="5990358"/>
              </a:xfrm>
              <a:prstGeom prst="rect">
                <a:avLst/>
              </a:prstGeom>
              <a:blipFill>
                <a:blip r:embed="rId4"/>
                <a:stretch>
                  <a:fillRect l="-1679" t="-1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482CC90-F5BB-3CDD-55BD-AF86936BAB64}"/>
              </a:ext>
            </a:extLst>
          </p:cNvPr>
          <p:cNvSpPr txBox="1"/>
          <p:nvPr/>
        </p:nvSpPr>
        <p:spPr>
          <a:xfrm>
            <a:off x="247404" y="738878"/>
            <a:ext cx="570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[Batu-Fortnow-Rubinfeld-Smith-White00]</a:t>
            </a:r>
          </a:p>
        </p:txBody>
      </p:sp>
    </p:spTree>
    <p:extLst>
      <p:ext uri="{BB962C8B-B14F-4D97-AF65-F5344CB8AC3E}">
        <p14:creationId xmlns:p14="http://schemas.microsoft.com/office/powerpoint/2010/main" val="196413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F4735-F2CD-977A-4D24-645CA2936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48A04-6870-6FEC-A786-CF6D9347B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-105930"/>
            <a:ext cx="10515600" cy="1325563"/>
          </a:xfrm>
        </p:spPr>
        <p:txBody>
          <a:bodyPr/>
          <a:lstStyle/>
          <a:p>
            <a:r>
              <a:rPr lang="en-US" dirty="0"/>
              <a:t>Verifying Distribution Properties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849ACD9F-F367-B2B3-38C7-2DECA3F6E9E7}"/>
              </a:ext>
            </a:extLst>
          </p:cNvPr>
          <p:cNvSpPr/>
          <p:nvPr/>
        </p:nvSpPr>
        <p:spPr>
          <a:xfrm>
            <a:off x="4479595" y="1472558"/>
            <a:ext cx="2318902" cy="1325563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The Elusive Aardvark - Needles Lodge">
            <a:extLst>
              <a:ext uri="{FF2B5EF4-FFF2-40B4-BE49-F238E27FC236}">
                <a16:creationId xmlns:a16="http://schemas.microsoft.com/office/drawing/2014/main" id="{DED81DB9-D240-CA28-3C3D-6C45278F7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691" y="4056193"/>
            <a:ext cx="2036360" cy="125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F9514D96-B3FC-0F9F-7BEF-508B61061908}"/>
              </a:ext>
            </a:extLst>
          </p:cNvPr>
          <p:cNvSpPr/>
          <p:nvPr/>
        </p:nvSpPr>
        <p:spPr>
          <a:xfrm rot="622171">
            <a:off x="5438839" y="2203192"/>
            <a:ext cx="3131238" cy="332932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36556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42D9FF-6B6A-526B-AC3B-7CD86FF28856}"/>
                  </a:ext>
                </a:extLst>
              </p:cNvPr>
              <p:cNvSpPr txBox="1"/>
              <p:nvPr/>
            </p:nvSpPr>
            <p:spPr>
              <a:xfrm>
                <a:off x="5043300" y="1873729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42D9FF-6B6A-526B-AC3B-7CD86FF28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300" y="1873729"/>
                <a:ext cx="119149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9265A7-B032-CAE5-6647-87427850B6AB}"/>
                  </a:ext>
                </a:extLst>
              </p:cNvPr>
              <p:cNvSpPr txBox="1"/>
              <p:nvPr/>
            </p:nvSpPr>
            <p:spPr>
              <a:xfrm>
                <a:off x="6387482" y="1083777"/>
                <a:ext cx="44508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Distribution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9265A7-B032-CAE5-6647-87427850B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482" y="1083777"/>
                <a:ext cx="4450877" cy="461665"/>
              </a:xfrm>
              <a:prstGeom prst="rect">
                <a:avLst/>
              </a:prstGeom>
              <a:blipFill>
                <a:blip r:embed="rId4"/>
                <a:stretch>
                  <a:fillRect l="-219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5A18CE3-B21C-79D5-CEA1-6CDDF16E509D}"/>
              </a:ext>
            </a:extLst>
          </p:cNvPr>
          <p:cNvSpPr txBox="1"/>
          <p:nvPr/>
        </p:nvSpPr>
        <p:spPr>
          <a:xfrm>
            <a:off x="8963273" y="280817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77EAEF-E369-B5F7-AF67-9ADBE2AF2F18}"/>
                  </a:ext>
                </a:extLst>
              </p:cNvPr>
              <p:cNvSpPr txBox="1"/>
              <p:nvPr/>
            </p:nvSpPr>
            <p:spPr>
              <a:xfrm>
                <a:off x="9612577" y="4501126"/>
                <a:ext cx="2272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77EAEF-E369-B5F7-AF67-9ADBE2AF2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577" y="4501126"/>
                <a:ext cx="2272145" cy="369332"/>
              </a:xfrm>
              <a:prstGeom prst="rect">
                <a:avLst/>
              </a:prstGeom>
              <a:blipFill>
                <a:blip r:embed="rId5"/>
                <a:stretch>
                  <a:fillRect l="-2413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DB5D91D0-1FDA-95FC-541C-DB5838E68237}"/>
              </a:ext>
            </a:extLst>
          </p:cNvPr>
          <p:cNvSpPr/>
          <p:nvPr/>
        </p:nvSpPr>
        <p:spPr>
          <a:xfrm rot="2826546">
            <a:off x="3224291" y="2296466"/>
            <a:ext cx="729971" cy="17522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8362EA-D2C7-C4A1-C294-5DD6C27A2E28}"/>
              </a:ext>
            </a:extLst>
          </p:cNvPr>
          <p:cNvSpPr txBox="1"/>
          <p:nvPr/>
        </p:nvSpPr>
        <p:spPr>
          <a:xfrm>
            <a:off x="1650130" y="2523942"/>
            <a:ext cx="220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knowledge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F472A0-00DA-9B0E-F4CB-84C3C3E9B827}"/>
              </a:ext>
            </a:extLst>
          </p:cNvPr>
          <p:cNvCxnSpPr/>
          <p:nvPr/>
        </p:nvCxnSpPr>
        <p:spPr>
          <a:xfrm>
            <a:off x="4101482" y="4183301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0FBBB2-54C2-3E90-A4DC-B0539E7445B2}"/>
              </a:ext>
            </a:extLst>
          </p:cNvPr>
          <p:cNvCxnSpPr/>
          <p:nvPr/>
        </p:nvCxnSpPr>
        <p:spPr>
          <a:xfrm>
            <a:off x="4101482" y="4501126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4B666E3-A4C3-E477-453D-969D2A135791}"/>
              </a:ext>
            </a:extLst>
          </p:cNvPr>
          <p:cNvCxnSpPr/>
          <p:nvPr/>
        </p:nvCxnSpPr>
        <p:spPr>
          <a:xfrm>
            <a:off x="4105235" y="4777308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FD7BC0-08F8-A052-AD97-C4095731A7BE}"/>
              </a:ext>
            </a:extLst>
          </p:cNvPr>
          <p:cNvCxnSpPr/>
          <p:nvPr/>
        </p:nvCxnSpPr>
        <p:spPr>
          <a:xfrm>
            <a:off x="4105235" y="5095133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E350C8-1853-7250-18C5-81A5849F4486}"/>
                  </a:ext>
                </a:extLst>
              </p:cNvPr>
              <p:cNvSpPr txBox="1"/>
              <p:nvPr/>
            </p:nvSpPr>
            <p:spPr>
              <a:xfrm>
                <a:off x="502231" y="4466868"/>
                <a:ext cx="2272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E350C8-1853-7250-18C5-81A5849F4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31" y="4466868"/>
                <a:ext cx="2272145" cy="369332"/>
              </a:xfrm>
              <a:prstGeom prst="rect">
                <a:avLst/>
              </a:prstGeom>
              <a:blipFill>
                <a:blip r:embed="rId7"/>
                <a:stretch>
                  <a:fillRect l="-2145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F20D5F5-158E-4FA5-6414-A1CF9ECE68F1}"/>
              </a:ext>
            </a:extLst>
          </p:cNvPr>
          <p:cNvSpPr txBox="1"/>
          <p:nvPr/>
        </p:nvSpPr>
        <p:spPr>
          <a:xfrm>
            <a:off x="6013914" y="5348059"/>
            <a:ext cx="203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accept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reject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1C16D8-3443-E107-5C88-A41484A40ACB}"/>
              </a:ext>
            </a:extLst>
          </p:cNvPr>
          <p:cNvSpPr txBox="1"/>
          <p:nvPr/>
        </p:nvSpPr>
        <p:spPr>
          <a:xfrm>
            <a:off x="7542238" y="380761"/>
            <a:ext cx="207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[Chiesa-Gur18]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F323CE-F169-C49E-7A23-E0C99FD8DF23}"/>
              </a:ext>
            </a:extLst>
          </p:cNvPr>
          <p:cNvSpPr txBox="1"/>
          <p:nvPr/>
        </p:nvSpPr>
        <p:spPr>
          <a:xfrm>
            <a:off x="6096000" y="6006241"/>
            <a:ext cx="6418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Inspired by interactive proofs from complexity/cryptography [Goldwasser-Micali-Rackoff85, Babai85]</a:t>
            </a:r>
          </a:p>
        </p:txBody>
      </p:sp>
      <p:pic>
        <p:nvPicPr>
          <p:cNvPr id="1028" name="Picture 4" descr="The Questions Around Arthur – The Stories of Scott D. Southard">
            <a:extLst>
              <a:ext uri="{FF2B5EF4-FFF2-40B4-BE49-F238E27FC236}">
                <a16:creationId xmlns:a16="http://schemas.microsoft.com/office/drawing/2014/main" id="{674BD267-5A68-6522-0223-EC527DFD0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8541" y="3328966"/>
            <a:ext cx="1073464" cy="122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A0A9D34E-B93C-9F07-605D-AE7A9675C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7" y="3984071"/>
            <a:ext cx="1775094" cy="133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22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9" grpId="0"/>
      <p:bldP spid="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B987C6D7-36B1-1E44-C775-885BF6A4E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7" y="3984071"/>
            <a:ext cx="1775094" cy="133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2D36DE-513C-B9AD-4E4B-E2CB5B7D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-105930"/>
            <a:ext cx="10515600" cy="1325563"/>
          </a:xfrm>
        </p:spPr>
        <p:txBody>
          <a:bodyPr/>
          <a:lstStyle/>
          <a:p>
            <a:r>
              <a:rPr lang="en-US" dirty="0"/>
              <a:t>Verifying Distribution Properties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7F283B1A-EB7F-20B3-C2D9-FE25DC381ACA}"/>
              </a:ext>
            </a:extLst>
          </p:cNvPr>
          <p:cNvSpPr/>
          <p:nvPr/>
        </p:nvSpPr>
        <p:spPr>
          <a:xfrm>
            <a:off x="4479595" y="1472558"/>
            <a:ext cx="2318902" cy="1325563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The Elusive Aardvark - Needles Lodge">
            <a:extLst>
              <a:ext uri="{FF2B5EF4-FFF2-40B4-BE49-F238E27FC236}">
                <a16:creationId xmlns:a16="http://schemas.microsoft.com/office/drawing/2014/main" id="{6129A928-931C-D21F-2FD3-240B2902A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691" y="4056193"/>
            <a:ext cx="2036360" cy="125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027EA570-4D4F-621E-F99A-8E1810BA4FF8}"/>
              </a:ext>
            </a:extLst>
          </p:cNvPr>
          <p:cNvSpPr/>
          <p:nvPr/>
        </p:nvSpPr>
        <p:spPr>
          <a:xfrm rot="622171">
            <a:off x="5438839" y="2203192"/>
            <a:ext cx="3131238" cy="332932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36556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D1EAEB-A0E2-37E7-79F0-438D5CC16700}"/>
                  </a:ext>
                </a:extLst>
              </p:cNvPr>
              <p:cNvSpPr txBox="1"/>
              <p:nvPr/>
            </p:nvSpPr>
            <p:spPr>
              <a:xfrm>
                <a:off x="5043300" y="1873729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ED1EAEB-A0E2-37E7-79F0-438D5CC16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300" y="1873729"/>
                <a:ext cx="119149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CCFA99-B7E2-0107-BEC0-34C045612000}"/>
                  </a:ext>
                </a:extLst>
              </p:cNvPr>
              <p:cNvSpPr txBox="1"/>
              <p:nvPr/>
            </p:nvSpPr>
            <p:spPr>
              <a:xfrm>
                <a:off x="6387482" y="1083777"/>
                <a:ext cx="44508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Distribution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CCFA99-B7E2-0107-BEC0-34C045612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482" y="1083777"/>
                <a:ext cx="4450877" cy="461665"/>
              </a:xfrm>
              <a:prstGeom prst="rect">
                <a:avLst/>
              </a:prstGeom>
              <a:blipFill>
                <a:blip r:embed="rId5"/>
                <a:stretch>
                  <a:fillRect l="-219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5ED3B2E-D6D3-DF05-EB86-5B204E1B87A7}"/>
              </a:ext>
            </a:extLst>
          </p:cNvPr>
          <p:cNvSpPr txBox="1"/>
          <p:nvPr/>
        </p:nvSpPr>
        <p:spPr>
          <a:xfrm>
            <a:off x="8963273" y="280817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51313E-3323-6FC8-16A9-C53211C0B9AA}"/>
                  </a:ext>
                </a:extLst>
              </p:cNvPr>
              <p:cNvSpPr txBox="1"/>
              <p:nvPr/>
            </p:nvSpPr>
            <p:spPr>
              <a:xfrm>
                <a:off x="9612577" y="4501126"/>
                <a:ext cx="2272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51313E-3323-6FC8-16A9-C53211C0B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577" y="4501126"/>
                <a:ext cx="2272145" cy="369332"/>
              </a:xfrm>
              <a:prstGeom prst="rect">
                <a:avLst/>
              </a:prstGeom>
              <a:blipFill>
                <a:blip r:embed="rId6"/>
                <a:stretch>
                  <a:fillRect l="-2413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578E5B99-F82E-89C4-FE5A-16689DF2A3ED}"/>
              </a:ext>
            </a:extLst>
          </p:cNvPr>
          <p:cNvSpPr/>
          <p:nvPr/>
        </p:nvSpPr>
        <p:spPr>
          <a:xfrm rot="2826546">
            <a:off x="3224291" y="2296466"/>
            <a:ext cx="729971" cy="17522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4691CF-E2CC-BC8E-0950-19EE0A8B5817}"/>
              </a:ext>
            </a:extLst>
          </p:cNvPr>
          <p:cNvSpPr txBox="1"/>
          <p:nvPr/>
        </p:nvSpPr>
        <p:spPr>
          <a:xfrm>
            <a:off x="1650130" y="2523942"/>
            <a:ext cx="220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knowledge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0726C5-5999-B977-F1DC-9ED047204F03}"/>
              </a:ext>
            </a:extLst>
          </p:cNvPr>
          <p:cNvCxnSpPr/>
          <p:nvPr/>
        </p:nvCxnSpPr>
        <p:spPr>
          <a:xfrm>
            <a:off x="4101482" y="4183301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D35F6B-EA1B-2355-044A-A0EDB1B44A69}"/>
              </a:ext>
            </a:extLst>
          </p:cNvPr>
          <p:cNvCxnSpPr/>
          <p:nvPr/>
        </p:nvCxnSpPr>
        <p:spPr>
          <a:xfrm>
            <a:off x="4101482" y="4501126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2812F6-1707-399F-F73D-A77109B1825B}"/>
              </a:ext>
            </a:extLst>
          </p:cNvPr>
          <p:cNvCxnSpPr/>
          <p:nvPr/>
        </p:nvCxnSpPr>
        <p:spPr>
          <a:xfrm>
            <a:off x="4105235" y="4777308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CB5B60-8119-C126-F4B5-2A1A70828CB1}"/>
              </a:ext>
            </a:extLst>
          </p:cNvPr>
          <p:cNvCxnSpPr/>
          <p:nvPr/>
        </p:nvCxnSpPr>
        <p:spPr>
          <a:xfrm>
            <a:off x="4105235" y="5095133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37FA76-7BC8-8B2B-3D81-C17C06A3C109}"/>
                  </a:ext>
                </a:extLst>
              </p:cNvPr>
              <p:cNvSpPr txBox="1"/>
              <p:nvPr/>
            </p:nvSpPr>
            <p:spPr>
              <a:xfrm>
                <a:off x="502231" y="4466868"/>
                <a:ext cx="2272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37FA76-7BC8-8B2B-3D81-C17C06A3C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31" y="4466868"/>
                <a:ext cx="2272145" cy="369332"/>
              </a:xfrm>
              <a:prstGeom prst="rect">
                <a:avLst/>
              </a:prstGeom>
              <a:blipFill>
                <a:blip r:embed="rId7"/>
                <a:stretch>
                  <a:fillRect l="-2145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D4BF480-B820-5925-F6B9-2BD2AD884C40}"/>
              </a:ext>
            </a:extLst>
          </p:cNvPr>
          <p:cNvSpPr txBox="1"/>
          <p:nvPr/>
        </p:nvSpPr>
        <p:spPr>
          <a:xfrm>
            <a:off x="6013914" y="5348059"/>
            <a:ext cx="203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accept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reject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53E15-59C9-475A-75EA-CD130BC9F050}"/>
              </a:ext>
            </a:extLst>
          </p:cNvPr>
          <p:cNvSpPr txBox="1"/>
          <p:nvPr/>
        </p:nvSpPr>
        <p:spPr>
          <a:xfrm>
            <a:off x="7542238" y="380761"/>
            <a:ext cx="207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[Chiesa-Gur18]</a:t>
            </a:r>
          </a:p>
          <a:p>
            <a:endParaRPr lang="en-US" dirty="0"/>
          </a:p>
        </p:txBody>
      </p:sp>
      <p:pic>
        <p:nvPicPr>
          <p:cNvPr id="14" name="Graphic 13" descr="Smart Phone outline">
            <a:extLst>
              <a:ext uri="{FF2B5EF4-FFF2-40B4-BE49-F238E27FC236}">
                <a16:creationId xmlns:a16="http://schemas.microsoft.com/office/drawing/2014/main" id="{32531937-2243-ED18-3B3B-3DBDCE8360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08836" y="3362291"/>
            <a:ext cx="1240970" cy="1240970"/>
          </a:xfrm>
          <a:prstGeom prst="rect">
            <a:avLst/>
          </a:prstGeom>
        </p:spPr>
      </p:pic>
      <p:pic>
        <p:nvPicPr>
          <p:cNvPr id="4098" name="Picture 2" descr="Best cloud computing provider of 2025 | TechRadar">
            <a:extLst>
              <a:ext uri="{FF2B5EF4-FFF2-40B4-BE49-F238E27FC236}">
                <a16:creationId xmlns:a16="http://schemas.microsoft.com/office/drawing/2014/main" id="{085B4CE0-184A-C488-3984-308D2A65F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37" y="3172609"/>
            <a:ext cx="2162074" cy="121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91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2B7FD-BA05-6E0D-3370-384743A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092BF734-27EE-E90B-F8CF-E2934DC53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7" y="3984071"/>
            <a:ext cx="1775094" cy="133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B6DF0B-9BBC-51B9-8F9B-3136A26BB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-105930"/>
            <a:ext cx="10515600" cy="1325563"/>
          </a:xfrm>
        </p:spPr>
        <p:txBody>
          <a:bodyPr/>
          <a:lstStyle/>
          <a:p>
            <a:r>
              <a:rPr lang="en-US" dirty="0"/>
              <a:t>Verifying Distribution Properties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AB339CB0-D1AF-D75A-962D-B49647981B2B}"/>
              </a:ext>
            </a:extLst>
          </p:cNvPr>
          <p:cNvSpPr/>
          <p:nvPr/>
        </p:nvSpPr>
        <p:spPr>
          <a:xfrm>
            <a:off x="4479595" y="1472558"/>
            <a:ext cx="2318902" cy="1325563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The Elusive Aardvark - Needles Lodge">
            <a:extLst>
              <a:ext uri="{FF2B5EF4-FFF2-40B4-BE49-F238E27FC236}">
                <a16:creationId xmlns:a16="http://schemas.microsoft.com/office/drawing/2014/main" id="{352E8EB2-9F92-B2F8-AFCF-3BDF071FD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691" y="4056193"/>
            <a:ext cx="2036360" cy="125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26957C91-434F-1C0E-ABE0-1E2CFBD785CC}"/>
              </a:ext>
            </a:extLst>
          </p:cNvPr>
          <p:cNvSpPr/>
          <p:nvPr/>
        </p:nvSpPr>
        <p:spPr>
          <a:xfrm rot="622171">
            <a:off x="5438839" y="2203192"/>
            <a:ext cx="3131238" cy="332932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36556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3C6FC6-A366-BBC0-7E62-73680789680D}"/>
                  </a:ext>
                </a:extLst>
              </p:cNvPr>
              <p:cNvSpPr txBox="1"/>
              <p:nvPr/>
            </p:nvSpPr>
            <p:spPr>
              <a:xfrm>
                <a:off x="5043300" y="1873729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3C6FC6-A366-BBC0-7E62-736807896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300" y="1873729"/>
                <a:ext cx="119149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EBD495-266B-30AE-5B83-CD9E30F8CA76}"/>
                  </a:ext>
                </a:extLst>
              </p:cNvPr>
              <p:cNvSpPr txBox="1"/>
              <p:nvPr/>
            </p:nvSpPr>
            <p:spPr>
              <a:xfrm>
                <a:off x="6387482" y="1083777"/>
                <a:ext cx="44508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Distribution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EBD495-266B-30AE-5B83-CD9E30F8C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482" y="1083777"/>
                <a:ext cx="4450877" cy="461665"/>
              </a:xfrm>
              <a:prstGeom prst="rect">
                <a:avLst/>
              </a:prstGeom>
              <a:blipFill>
                <a:blip r:embed="rId5"/>
                <a:stretch>
                  <a:fillRect l="-2192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D91E880-4E22-9DAB-522F-4EA5B4FC4501}"/>
              </a:ext>
            </a:extLst>
          </p:cNvPr>
          <p:cNvSpPr txBox="1"/>
          <p:nvPr/>
        </p:nvSpPr>
        <p:spPr>
          <a:xfrm>
            <a:off x="8963273" y="280817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84EE68-A683-274C-D40B-0C24806E00DE}"/>
                  </a:ext>
                </a:extLst>
              </p:cNvPr>
              <p:cNvSpPr txBox="1"/>
              <p:nvPr/>
            </p:nvSpPr>
            <p:spPr>
              <a:xfrm>
                <a:off x="9612577" y="4501126"/>
                <a:ext cx="2272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84EE68-A683-274C-D40B-0C24806E0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577" y="4501126"/>
                <a:ext cx="2272145" cy="369332"/>
              </a:xfrm>
              <a:prstGeom prst="rect">
                <a:avLst/>
              </a:prstGeom>
              <a:blipFill>
                <a:blip r:embed="rId6"/>
                <a:stretch>
                  <a:fillRect l="-2413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7F603102-71AE-09EC-1C7F-4641C1F5EF46}"/>
              </a:ext>
            </a:extLst>
          </p:cNvPr>
          <p:cNvSpPr/>
          <p:nvPr/>
        </p:nvSpPr>
        <p:spPr>
          <a:xfrm rot="2826546">
            <a:off x="3224291" y="2296466"/>
            <a:ext cx="729971" cy="17522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D3BB3F-CDB4-4193-5AEE-F178B960B1E3}"/>
              </a:ext>
            </a:extLst>
          </p:cNvPr>
          <p:cNvSpPr txBox="1"/>
          <p:nvPr/>
        </p:nvSpPr>
        <p:spPr>
          <a:xfrm>
            <a:off x="1650130" y="2523942"/>
            <a:ext cx="220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knowledge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320A5C-7076-3FED-B9FB-D728C855951D}"/>
              </a:ext>
            </a:extLst>
          </p:cNvPr>
          <p:cNvCxnSpPr/>
          <p:nvPr/>
        </p:nvCxnSpPr>
        <p:spPr>
          <a:xfrm>
            <a:off x="4101482" y="4183301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6ECC74-FE9C-23F0-A2CA-2F5EED850B7C}"/>
              </a:ext>
            </a:extLst>
          </p:cNvPr>
          <p:cNvCxnSpPr/>
          <p:nvPr/>
        </p:nvCxnSpPr>
        <p:spPr>
          <a:xfrm>
            <a:off x="4101482" y="4501126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DFD56F0-B9B7-6CA4-741B-75760D2A219B}"/>
              </a:ext>
            </a:extLst>
          </p:cNvPr>
          <p:cNvCxnSpPr/>
          <p:nvPr/>
        </p:nvCxnSpPr>
        <p:spPr>
          <a:xfrm>
            <a:off x="4105235" y="4777308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68230C-3CBD-6D5D-170F-71CB7A93A483}"/>
              </a:ext>
            </a:extLst>
          </p:cNvPr>
          <p:cNvCxnSpPr/>
          <p:nvPr/>
        </p:nvCxnSpPr>
        <p:spPr>
          <a:xfrm>
            <a:off x="4105235" y="5095133"/>
            <a:ext cx="28384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631A7B-F974-83B2-AE4C-8617F796BF48}"/>
                  </a:ext>
                </a:extLst>
              </p:cNvPr>
              <p:cNvSpPr txBox="1"/>
              <p:nvPr/>
            </p:nvSpPr>
            <p:spPr>
              <a:xfrm>
                <a:off x="502231" y="4466868"/>
                <a:ext cx="22721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631A7B-F974-83B2-AE4C-8617F796B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31" y="4466868"/>
                <a:ext cx="2272145" cy="369332"/>
              </a:xfrm>
              <a:prstGeom prst="rect">
                <a:avLst/>
              </a:prstGeom>
              <a:blipFill>
                <a:blip r:embed="rId7"/>
                <a:stretch>
                  <a:fillRect l="-2145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104A7E4-2B0A-FD6D-5958-A35C467EBE3A}"/>
              </a:ext>
            </a:extLst>
          </p:cNvPr>
          <p:cNvSpPr txBox="1"/>
          <p:nvPr/>
        </p:nvSpPr>
        <p:spPr>
          <a:xfrm>
            <a:off x="6013914" y="5348059"/>
            <a:ext cx="203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accept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reject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D00A1E-D4D6-0A58-DFB4-969B631BA7A3}"/>
              </a:ext>
            </a:extLst>
          </p:cNvPr>
          <p:cNvSpPr txBox="1"/>
          <p:nvPr/>
        </p:nvSpPr>
        <p:spPr>
          <a:xfrm>
            <a:off x="7542238" y="380761"/>
            <a:ext cx="2070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[Chiesa-Gur18]</a:t>
            </a:r>
          </a:p>
          <a:p>
            <a:endParaRPr lang="en-US" dirty="0"/>
          </a:p>
        </p:txBody>
      </p:sp>
      <p:pic>
        <p:nvPicPr>
          <p:cNvPr id="20" name="Picture 2" descr="Building Effective Teams in Scientific Research | Panda">
            <a:extLst>
              <a:ext uri="{FF2B5EF4-FFF2-40B4-BE49-F238E27FC236}">
                <a16:creationId xmlns:a16="http://schemas.microsoft.com/office/drawing/2014/main" id="{006E46F2-31F2-69DA-39EA-32AB60029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06" y="3257430"/>
            <a:ext cx="1810537" cy="1209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5 Tips for Building and Managing Research Teams | Researcher.Life">
            <a:extLst>
              <a:ext uri="{FF2B5EF4-FFF2-40B4-BE49-F238E27FC236}">
                <a16:creationId xmlns:a16="http://schemas.microsoft.com/office/drawing/2014/main" id="{E16E5F51-5C40-B733-7D2E-7BBAF44D3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265" y="3257430"/>
            <a:ext cx="1669517" cy="111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108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00E4-1A97-2325-80AE-4AF661D7D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10515600" cy="1325563"/>
          </a:xfrm>
        </p:spPr>
        <p:txBody>
          <a:bodyPr/>
          <a:lstStyle/>
          <a:p>
            <a:r>
              <a:rPr lang="en-US" dirty="0"/>
              <a:t>Verifiable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5B465-2BD0-B975-10D7-623EB540B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6731"/>
            <a:ext cx="11868150" cy="5093525"/>
          </a:xfrm>
        </p:spPr>
        <p:txBody>
          <a:bodyPr>
            <a:noAutofit/>
          </a:bodyPr>
          <a:lstStyle/>
          <a:p>
            <a:r>
              <a:rPr lang="en-US" sz="2400" dirty="0"/>
              <a:t>Interactive proofs where verification is cheaper than learning</a:t>
            </a:r>
          </a:p>
          <a:p>
            <a:pPr lvl="1">
              <a:buFontTx/>
              <a:buChar char="-"/>
            </a:pPr>
            <a:r>
              <a:rPr lang="en-US" dirty="0"/>
              <a:t>Distribution testing  </a:t>
            </a:r>
            <a:r>
              <a:rPr lang="en-US" sz="1600" dirty="0"/>
              <a:t>[Chiesa-Gur18, Herman-Rothblum22, Herman-Rothblum23, Herman-Rothblum24, Herman25]</a:t>
            </a:r>
            <a:r>
              <a:rPr lang="en-US" dirty="0"/>
              <a:t>   </a:t>
            </a:r>
            <a:r>
              <a:rPr lang="en-US" dirty="0">
                <a:solidFill>
                  <a:schemeClr val="accent6"/>
                </a:solidFill>
              </a:rPr>
              <a:t>Focus of this work</a:t>
            </a:r>
            <a:endParaRPr lang="en-US" sz="1600" dirty="0">
              <a:solidFill>
                <a:schemeClr val="accent6"/>
              </a:solidFill>
            </a:endParaRPr>
          </a:p>
          <a:p>
            <a:pPr lvl="1">
              <a:buFontTx/>
              <a:buChar char="-"/>
            </a:pPr>
            <a:endParaRPr lang="en-US" sz="1200" dirty="0"/>
          </a:p>
          <a:p>
            <a:pPr lvl="1">
              <a:buFontTx/>
              <a:buChar char="-"/>
            </a:pPr>
            <a:r>
              <a:rPr lang="en-US" dirty="0"/>
              <a:t>Agnostic PAC learning (classification)  </a:t>
            </a:r>
            <a:r>
              <a:rPr lang="en-US" sz="1600" dirty="0"/>
              <a:t>[Goldwasser-Rothblum-Shafer-Yehudayoff21, Mutreja-Shafer23, Gur-Jahanara-Khodabandeh-Rajgopal-Salamatian-Shinkar24, Caro-Hinsch-Ioannou-Nietner-Sweke24]</a:t>
            </a:r>
          </a:p>
          <a:p>
            <a:pPr lvl="1">
              <a:buFontTx/>
              <a:buChar char="-"/>
            </a:pPr>
            <a:endParaRPr lang="en-US" sz="1200" dirty="0"/>
          </a:p>
          <a:p>
            <a:pPr lvl="1">
              <a:buFontTx/>
              <a:buChar char="-"/>
            </a:pPr>
            <a:r>
              <a:rPr lang="en-US" dirty="0"/>
              <a:t>Proofs of proximity  </a:t>
            </a:r>
            <a:r>
              <a:rPr lang="en-US" sz="1600" dirty="0"/>
              <a:t>[Ergün-Kumar-Rubinfeld04, Rothblum-Vadhan-Wigderson13, Fischer-Goldhirsh-Lachish14, Gur-Rothblum15, Goldreich-Gur-Rothblum15, Reingold-Rothblum-Rothblum16, Gur-Rothblum17, Berman-Rothblum-Vaikuntanathan18, Gur-Liu-Rothblum18, Rothblum-Rothblum20, Goldreich-Gur21, Dall’Agnol-Gur-Moulik-Thaler22, Aaronson-Gur-Rajgopal-Rothblum24, Amir-Goldreich-Rothblum25]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2400" dirty="0"/>
              <a:t>Replicability as algorithmic stability </a:t>
            </a:r>
            <a:r>
              <a:rPr lang="en-US" sz="1600" dirty="0"/>
              <a:t>[Impagliazzo-Lei-Pitassi-Sorrell21, Ghazi-Kumar-Manurangsi21, B.-Gaboardi-Hopkins-Impagliazzo-Lei-Pitassi-Sivakumar-Sorrell23, Kalavasis-Karbasi-Moran-Velegkas23, Ghazi-Kamath-Kumar-Manurangsi-Meka-Zhang23, Moran-Schefler-Shafer23, Esfandiari-Kalavasis-Karbasi-Krause-Mirrokni-Velegkas23, Esfandiari-Karbasi-Mirrokni-Velegkas-Zhou23, Eaton-Hussin-Kearns-Sorrell23, Karbasi-Velegkas-Yang-Zhou23,…]</a:t>
            </a:r>
          </a:p>
        </p:txBody>
      </p:sp>
      <p:pic>
        <p:nvPicPr>
          <p:cNvPr id="1026" name="Picture 2" descr="Building Effective Teams in Scientific Research | Panda">
            <a:extLst>
              <a:ext uri="{FF2B5EF4-FFF2-40B4-BE49-F238E27FC236}">
                <a16:creationId xmlns:a16="http://schemas.microsoft.com/office/drawing/2014/main" id="{B3E1E18C-4313-B82B-97A5-5DD5CB8AC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2305"/>
            <a:ext cx="1628360" cy="108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5 Tips for Building and Managing Research Teams | Researcher.Life">
            <a:extLst>
              <a:ext uri="{FF2B5EF4-FFF2-40B4-BE49-F238E27FC236}">
                <a16:creationId xmlns:a16="http://schemas.microsoft.com/office/drawing/2014/main" id="{375C75CB-43E7-EE2C-D6E4-E1002E987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3883" y="212305"/>
            <a:ext cx="1669517" cy="111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earch Paper Outline with Paper Template">
            <a:extLst>
              <a:ext uri="{FF2B5EF4-FFF2-40B4-BE49-F238E27FC236}">
                <a16:creationId xmlns:a16="http://schemas.microsoft.com/office/drawing/2014/main" id="{903FF0FC-047C-D071-AAC3-DCCBB8C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3131" y="229028"/>
            <a:ext cx="1403103" cy="1079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BDB92463-2021-2DCC-64D3-E7A68CBC91E0}"/>
              </a:ext>
            </a:extLst>
          </p:cNvPr>
          <p:cNvSpPr/>
          <p:nvPr/>
        </p:nvSpPr>
        <p:spPr>
          <a:xfrm rot="16200000">
            <a:off x="7716777" y="542613"/>
            <a:ext cx="729971" cy="452560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0BD0C60-0B1A-E4A9-17E9-B1C2B45214FA}"/>
              </a:ext>
            </a:extLst>
          </p:cNvPr>
          <p:cNvSpPr/>
          <p:nvPr/>
        </p:nvSpPr>
        <p:spPr>
          <a:xfrm rot="16200000">
            <a:off x="9702618" y="542613"/>
            <a:ext cx="729971" cy="452560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2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E3C4F-D92E-93B9-38CD-37F65489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D968FA-9981-E46F-03AB-18E88DC08465}"/>
              </a:ext>
            </a:extLst>
          </p:cNvPr>
          <p:cNvSpPr/>
          <p:nvPr/>
        </p:nvSpPr>
        <p:spPr>
          <a:xfrm>
            <a:off x="5835466" y="861780"/>
            <a:ext cx="6225780" cy="564452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2AC10-EDAD-EC87-3FB8-0C38AC2E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04" y="-117457"/>
            <a:ext cx="10515600" cy="1325563"/>
          </a:xfrm>
        </p:spPr>
        <p:txBody>
          <a:bodyPr/>
          <a:lstStyle/>
          <a:p>
            <a:r>
              <a:rPr lang="en-US" dirty="0"/>
              <a:t>Verifying Distribution Properties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7D8372C3-BDAD-3D8D-11EA-C263A65F4DFF}"/>
              </a:ext>
            </a:extLst>
          </p:cNvPr>
          <p:cNvSpPr/>
          <p:nvPr/>
        </p:nvSpPr>
        <p:spPr>
          <a:xfrm>
            <a:off x="2067462" y="2021741"/>
            <a:ext cx="1390807" cy="986732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The Elusive Aardvark - Needles Lodge">
            <a:extLst>
              <a:ext uri="{FF2B5EF4-FFF2-40B4-BE49-F238E27FC236}">
                <a16:creationId xmlns:a16="http://schemas.microsoft.com/office/drawing/2014/main" id="{B437820A-6306-867C-6191-BE3C4F223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927" y="3948127"/>
            <a:ext cx="1437973" cy="88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E5A4EFDD-56BC-9012-3028-A0B0C797583F}"/>
              </a:ext>
            </a:extLst>
          </p:cNvPr>
          <p:cNvSpPr/>
          <p:nvPr/>
        </p:nvSpPr>
        <p:spPr>
          <a:xfrm rot="840166">
            <a:off x="2444115" y="2619118"/>
            <a:ext cx="1827807" cy="207001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36556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6260C6-158D-F0D0-FA68-5BA2C8AEE3DB}"/>
                  </a:ext>
                </a:extLst>
              </p:cNvPr>
              <p:cNvSpPr txBox="1"/>
              <p:nvPr/>
            </p:nvSpPr>
            <p:spPr>
              <a:xfrm>
                <a:off x="2167121" y="2239076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6260C6-158D-F0D0-FA68-5BA2C8AEE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121" y="2239076"/>
                <a:ext cx="119149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66F843-A49D-0D68-A80D-4B680E8C94D0}"/>
                  </a:ext>
                </a:extLst>
              </p:cNvPr>
              <p:cNvSpPr txBox="1"/>
              <p:nvPr/>
            </p:nvSpPr>
            <p:spPr>
              <a:xfrm>
                <a:off x="2643956" y="1533098"/>
                <a:ext cx="25328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Distribution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66F843-A49D-0D68-A80D-4B680E8C9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956" y="1533098"/>
                <a:ext cx="2532879" cy="400110"/>
              </a:xfrm>
              <a:prstGeom prst="rect">
                <a:avLst/>
              </a:prstGeom>
              <a:blipFill>
                <a:blip r:embed="rId4"/>
                <a:stretch>
                  <a:fillRect l="-2651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E09CD28-D600-D40A-F255-915E7C75C7AA}"/>
              </a:ext>
            </a:extLst>
          </p:cNvPr>
          <p:cNvSpPr txBox="1"/>
          <p:nvPr/>
        </p:nvSpPr>
        <p:spPr>
          <a:xfrm>
            <a:off x="3893642" y="243917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68E063-5ADB-E52C-9B62-67441CABED44}"/>
                  </a:ext>
                </a:extLst>
              </p:cNvPr>
              <p:cNvSpPr txBox="1"/>
              <p:nvPr/>
            </p:nvSpPr>
            <p:spPr>
              <a:xfrm>
                <a:off x="3215875" y="3631769"/>
                <a:ext cx="1082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68E063-5ADB-E52C-9B62-67441CABE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875" y="3631769"/>
                <a:ext cx="1082170" cy="369332"/>
              </a:xfrm>
              <a:prstGeom prst="rect">
                <a:avLst/>
              </a:prstGeom>
              <a:blipFill>
                <a:blip r:embed="rId5"/>
                <a:stretch>
                  <a:fillRect l="-5085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E4232A4B-9D24-A11B-A5A7-2413FF18C709}"/>
              </a:ext>
            </a:extLst>
          </p:cNvPr>
          <p:cNvSpPr/>
          <p:nvPr/>
        </p:nvSpPr>
        <p:spPr>
          <a:xfrm rot="2826546">
            <a:off x="1319803" y="2658112"/>
            <a:ext cx="581577" cy="1221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534687-2CDA-5C98-548A-98E462FE99EB}"/>
              </a:ext>
            </a:extLst>
          </p:cNvPr>
          <p:cNvSpPr txBox="1"/>
          <p:nvPr/>
        </p:nvSpPr>
        <p:spPr>
          <a:xfrm>
            <a:off x="130754" y="2551347"/>
            <a:ext cx="220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knowledge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2A349C0-1100-C187-8E58-D02CCF19BF27}"/>
              </a:ext>
            </a:extLst>
          </p:cNvPr>
          <p:cNvGrpSpPr/>
          <p:nvPr/>
        </p:nvGrpSpPr>
        <p:grpSpPr>
          <a:xfrm>
            <a:off x="1909362" y="4054795"/>
            <a:ext cx="1023368" cy="766539"/>
            <a:chOff x="4101482" y="4183301"/>
            <a:chExt cx="2842203" cy="911832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57451F1-90CD-C8FF-EF1B-549A3DC27486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183301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45F7EFA-BBBA-B4B6-4D6D-FEB27CE0B795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501126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B3A314C-F2D9-9727-28C4-398AE2C09B3B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4777308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F200D12-1C1F-CC6F-C415-AD37A303EA36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5095133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033554-7DBA-C879-F24F-EFD130DB8F78}"/>
                  </a:ext>
                </a:extLst>
              </p:cNvPr>
              <p:cNvSpPr txBox="1"/>
              <p:nvPr/>
            </p:nvSpPr>
            <p:spPr>
              <a:xfrm>
                <a:off x="503297" y="3677489"/>
                <a:ext cx="1022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033554-7DBA-C879-F24F-EFD130DB8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97" y="3677489"/>
                <a:ext cx="1022017" cy="369332"/>
              </a:xfrm>
              <a:prstGeom prst="rect">
                <a:avLst/>
              </a:prstGeom>
              <a:blipFill>
                <a:blip r:embed="rId7"/>
                <a:stretch>
                  <a:fillRect l="-538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1DAF7A9-315C-53D2-A52C-AB43E57B8598}"/>
              </a:ext>
            </a:extLst>
          </p:cNvPr>
          <p:cNvSpPr txBox="1"/>
          <p:nvPr/>
        </p:nvSpPr>
        <p:spPr>
          <a:xfrm>
            <a:off x="2105911" y="4921722"/>
            <a:ext cx="203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accept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reject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E9A24-34D8-9DD0-FD0E-2C247C7F073C}"/>
                  </a:ext>
                </a:extLst>
              </p:cNvPr>
              <p:cNvSpPr txBox="1"/>
              <p:nvPr/>
            </p:nvSpPr>
            <p:spPr>
              <a:xfrm>
                <a:off x="5897946" y="861780"/>
                <a:ext cx="6163300" cy="6401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/>
              </a:p>
              <a:p>
                <a:r>
                  <a:rPr lang="en-US" sz="2800" u="sng" dirty="0"/>
                  <a:t>Completeness: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800" dirty="0"/>
                  <a:t>,</a:t>
                </a:r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]≥2/3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Soundness: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800" dirty="0"/>
                  <a:t>-far from every distribution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7030A0"/>
                    </a:solidFill>
                  </a:rPr>
                  <a:t>for every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800" dirty="0"/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Cost:</a:t>
                </a:r>
                <a:r>
                  <a:rPr lang="en-US" sz="2800" dirty="0"/>
                  <a:t> </a:t>
                </a:r>
              </a:p>
              <a:p>
                <a:pPr marL="457200" indent="-457200">
                  <a:buFontTx/>
                  <a:buChar char="-"/>
                </a:pPr>
                <a:r>
                  <a:rPr lang="en-US" sz="2800" dirty="0"/>
                  <a:t>Number of samples </a:t>
                </a:r>
                <a14:m>
                  <m:oMath xmlns:m="http://schemas.openxmlformats.org/officeDocument/2006/math">
                    <m:r>
                      <a:rPr lang="pt-PT" sz="28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draws from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800" dirty="0"/>
              </a:p>
              <a:p>
                <a:pPr marL="457200" indent="-457200">
                  <a:buFontTx/>
                  <a:buChar char="-"/>
                </a:pPr>
                <a:r>
                  <a:rPr lang="en-US" sz="2800" dirty="0">
                    <a:solidFill>
                      <a:srgbClr val="7030A0"/>
                    </a:solidFill>
                  </a:rPr>
                  <a:t>Communication: Bits exchanged between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pt-PT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800" dirty="0">
                  <a:solidFill>
                    <a:srgbClr val="7030A0"/>
                  </a:solidFill>
                </a:endParaRPr>
              </a:p>
              <a:p>
                <a:endParaRPr lang="en-US" sz="2800" dirty="0"/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E9A24-34D8-9DD0-FD0E-2C247C7F0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946" y="861780"/>
                <a:ext cx="6163300" cy="6401753"/>
              </a:xfrm>
              <a:prstGeom prst="rect">
                <a:avLst/>
              </a:prstGeom>
              <a:blipFill>
                <a:blip r:embed="rId8"/>
                <a:stretch>
                  <a:fillRect l="-2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60B88097-3B6C-3530-0ED3-EF409F368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66" y="3968444"/>
            <a:ext cx="1113579" cy="8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486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58985-9A83-E071-7AAF-0D265791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2F11153-3FA9-CB7F-8062-E62B66A6E18A}"/>
              </a:ext>
            </a:extLst>
          </p:cNvPr>
          <p:cNvSpPr/>
          <p:nvPr/>
        </p:nvSpPr>
        <p:spPr>
          <a:xfrm>
            <a:off x="8046646" y="103674"/>
            <a:ext cx="4073640" cy="2320915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84EBB6-AB30-5014-5C16-5D57B209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04" y="-117457"/>
            <a:ext cx="10515600" cy="1325563"/>
          </a:xfrm>
        </p:spPr>
        <p:txBody>
          <a:bodyPr/>
          <a:lstStyle/>
          <a:p>
            <a:r>
              <a:rPr lang="en-US" dirty="0"/>
              <a:t>Verifying Distribution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7F92DD-E798-0347-DA76-6EAF1B7F0879}"/>
                  </a:ext>
                </a:extLst>
              </p:cNvPr>
              <p:cNvSpPr txBox="1"/>
              <p:nvPr/>
            </p:nvSpPr>
            <p:spPr>
              <a:xfrm>
                <a:off x="8146303" y="-223181"/>
                <a:ext cx="4045698" cy="3279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000" dirty="0"/>
              </a:p>
              <a:p>
                <a:r>
                  <a:rPr lang="en-US" sz="2000" u="sng" dirty="0"/>
                  <a:t>Completeness: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r>
                  <a:rPr lang="en-US" sz="20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000" dirty="0"/>
                  <a:t> accepts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]≥2/3</m:t>
                    </m:r>
                  </m:oMath>
                </a14:m>
                <a:endParaRPr lang="en-US" sz="2000" dirty="0"/>
              </a:p>
              <a:p>
                <a:endParaRPr lang="en-US" sz="1200" dirty="0"/>
              </a:p>
              <a:p>
                <a:r>
                  <a:rPr lang="en-US" sz="2000" u="sng" dirty="0"/>
                  <a:t>Soundness: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/>
                  <a:t>-far from every distribution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for every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/>
              </a:p>
              <a:p>
                <a:r>
                  <a:rPr lang="en-US" sz="20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000" dirty="0"/>
                  <a:t> accepts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2000" dirty="0"/>
              </a:p>
              <a:p>
                <a:endParaRPr lang="en-US" sz="1200" dirty="0"/>
              </a:p>
              <a:p>
                <a:r>
                  <a:rPr lang="en-US" sz="2000" u="sng" dirty="0"/>
                  <a:t>Cost:</a:t>
                </a:r>
                <a:r>
                  <a:rPr lang="en-US" sz="2000" dirty="0"/>
                  <a:t> Samples, Communication</a:t>
                </a:r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7F92DD-E798-0347-DA76-6EAF1B7F0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303" y="-223181"/>
                <a:ext cx="4045698" cy="3279296"/>
              </a:xfrm>
              <a:prstGeom prst="rect">
                <a:avLst/>
              </a:prstGeom>
              <a:blipFill>
                <a:blip r:embed="rId2"/>
                <a:stretch>
                  <a:fillRect l="-1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5ACDC6-34A2-05D5-642C-F4C87A4845B3}"/>
                  </a:ext>
                </a:extLst>
              </p:cNvPr>
              <p:cNvSpPr txBox="1"/>
              <p:nvPr/>
            </p:nvSpPr>
            <p:spPr>
              <a:xfrm>
                <a:off x="5497943" y="3112141"/>
                <a:ext cx="651094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>
                    <a:solidFill>
                      <a:schemeClr val="tx1"/>
                    </a:solidFill>
                  </a:rPr>
                  <a:t>Other desirable properties: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Tolerance: Accept whenever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close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Few rounds of interaction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Computational efficiency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Double-efficiency: Prover doesn’t need to know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but can run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time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Public coins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5ACDC6-34A2-05D5-642C-F4C87A484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943" y="3112141"/>
                <a:ext cx="6510943" cy="2677656"/>
              </a:xfrm>
              <a:prstGeom prst="rect">
                <a:avLst/>
              </a:prstGeom>
              <a:blipFill>
                <a:blip r:embed="rId3"/>
                <a:stretch>
                  <a:fillRect l="-1498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loud 23">
            <a:extLst>
              <a:ext uri="{FF2B5EF4-FFF2-40B4-BE49-F238E27FC236}">
                <a16:creationId xmlns:a16="http://schemas.microsoft.com/office/drawing/2014/main" id="{709E708B-2B51-0F53-D425-BD99A3D76225}"/>
              </a:ext>
            </a:extLst>
          </p:cNvPr>
          <p:cNvSpPr/>
          <p:nvPr/>
        </p:nvSpPr>
        <p:spPr>
          <a:xfrm>
            <a:off x="2067462" y="2021741"/>
            <a:ext cx="1390807" cy="986732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" descr="The Elusive Aardvark - Needles Lodge">
            <a:extLst>
              <a:ext uri="{FF2B5EF4-FFF2-40B4-BE49-F238E27FC236}">
                <a16:creationId xmlns:a16="http://schemas.microsoft.com/office/drawing/2014/main" id="{F431A9B5-44E6-D7AF-DEB2-55BAFAA85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927" y="3948127"/>
            <a:ext cx="1437973" cy="88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2964E49E-FD11-EE34-57C9-CE65C5A7097A}"/>
              </a:ext>
            </a:extLst>
          </p:cNvPr>
          <p:cNvSpPr/>
          <p:nvPr/>
        </p:nvSpPr>
        <p:spPr>
          <a:xfrm rot="840166">
            <a:off x="2444115" y="2619118"/>
            <a:ext cx="1827807" cy="207001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36556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761FC8-10BD-996B-0DCD-AE3F0AB3577D}"/>
                  </a:ext>
                </a:extLst>
              </p:cNvPr>
              <p:cNvSpPr txBox="1"/>
              <p:nvPr/>
            </p:nvSpPr>
            <p:spPr>
              <a:xfrm>
                <a:off x="2167121" y="2239076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761FC8-10BD-996B-0DCD-AE3F0AB35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121" y="2239076"/>
                <a:ext cx="119149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073889A-3FE7-95D4-8018-0AA184DADE24}"/>
                  </a:ext>
                </a:extLst>
              </p:cNvPr>
              <p:cNvSpPr txBox="1"/>
              <p:nvPr/>
            </p:nvSpPr>
            <p:spPr>
              <a:xfrm>
                <a:off x="2643956" y="1533098"/>
                <a:ext cx="25328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Distribution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073889A-3FE7-95D4-8018-0AA184DA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956" y="1533098"/>
                <a:ext cx="2532879" cy="400110"/>
              </a:xfrm>
              <a:prstGeom prst="rect">
                <a:avLst/>
              </a:prstGeom>
              <a:blipFill>
                <a:blip r:embed="rId6"/>
                <a:stretch>
                  <a:fillRect l="-2651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60B7DC7-961F-C40D-2A62-A55E75918BF6}"/>
              </a:ext>
            </a:extLst>
          </p:cNvPr>
          <p:cNvSpPr txBox="1"/>
          <p:nvPr/>
        </p:nvSpPr>
        <p:spPr>
          <a:xfrm>
            <a:off x="3893642" y="243917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AD2FD4-E2B8-7236-E41A-1B8B52F2F8DF}"/>
                  </a:ext>
                </a:extLst>
              </p:cNvPr>
              <p:cNvSpPr txBox="1"/>
              <p:nvPr/>
            </p:nvSpPr>
            <p:spPr>
              <a:xfrm>
                <a:off x="3215875" y="3631769"/>
                <a:ext cx="1082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AD2FD4-E2B8-7236-E41A-1B8B52F2F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875" y="3631769"/>
                <a:ext cx="1082170" cy="369332"/>
              </a:xfrm>
              <a:prstGeom prst="rect">
                <a:avLst/>
              </a:prstGeom>
              <a:blipFill>
                <a:blip r:embed="rId7"/>
                <a:stretch>
                  <a:fillRect l="-5085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Arrow: Down 31">
            <a:extLst>
              <a:ext uri="{FF2B5EF4-FFF2-40B4-BE49-F238E27FC236}">
                <a16:creationId xmlns:a16="http://schemas.microsoft.com/office/drawing/2014/main" id="{91E1F81C-9171-31FD-31E1-E26E086A37FB}"/>
              </a:ext>
            </a:extLst>
          </p:cNvPr>
          <p:cNvSpPr/>
          <p:nvPr/>
        </p:nvSpPr>
        <p:spPr>
          <a:xfrm rot="2826546">
            <a:off x="1319803" y="2658112"/>
            <a:ext cx="581577" cy="1221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E60177-E6A3-EE18-CB49-74F1A584AC7C}"/>
              </a:ext>
            </a:extLst>
          </p:cNvPr>
          <p:cNvSpPr txBox="1"/>
          <p:nvPr/>
        </p:nvSpPr>
        <p:spPr>
          <a:xfrm>
            <a:off x="130754" y="2551347"/>
            <a:ext cx="220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knowledge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36AA9E4-DC2F-F8F0-878F-3D1543F6B9EF}"/>
              </a:ext>
            </a:extLst>
          </p:cNvPr>
          <p:cNvGrpSpPr/>
          <p:nvPr/>
        </p:nvGrpSpPr>
        <p:grpSpPr>
          <a:xfrm>
            <a:off x="1909362" y="4054795"/>
            <a:ext cx="1023368" cy="766539"/>
            <a:chOff x="4101482" y="4183301"/>
            <a:chExt cx="2842203" cy="911832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EB51A0B-6103-1B32-FE0B-0728FD400828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183301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7D2451A-65DE-52C0-04A0-D194E3FAC0AE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501126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A20A8D1-BC3A-B086-3650-F33FCEB634EB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4777308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652A62DB-4EE7-DCE5-8713-298B68DB7CF7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5095133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96FF612-68DA-D600-04C1-E3AD9FD39D04}"/>
                  </a:ext>
                </a:extLst>
              </p:cNvPr>
              <p:cNvSpPr txBox="1"/>
              <p:nvPr/>
            </p:nvSpPr>
            <p:spPr>
              <a:xfrm>
                <a:off x="503297" y="3677489"/>
                <a:ext cx="1022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96FF612-68DA-D600-04C1-E3AD9FD39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97" y="3677489"/>
                <a:ext cx="1022017" cy="369332"/>
              </a:xfrm>
              <a:prstGeom prst="rect">
                <a:avLst/>
              </a:prstGeom>
              <a:blipFill>
                <a:blip r:embed="rId9"/>
                <a:stretch>
                  <a:fillRect l="-538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49359EF9-2F0D-594B-FBA4-EFB006B3B043}"/>
              </a:ext>
            </a:extLst>
          </p:cNvPr>
          <p:cNvSpPr txBox="1"/>
          <p:nvPr/>
        </p:nvSpPr>
        <p:spPr>
          <a:xfrm>
            <a:off x="2105911" y="4921722"/>
            <a:ext cx="203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accept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reject</a:t>
            </a:r>
          </a:p>
        </p:txBody>
      </p:sp>
      <p:pic>
        <p:nvPicPr>
          <p:cNvPr id="3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2CA64DA9-702A-4BBE-52FD-B145F189A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66" y="3968444"/>
            <a:ext cx="1113579" cy="8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00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349C-AAC6-126F-24CB-EEFBAD65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9DD2F1-2954-F493-F3EC-D4E53A59D6DF}"/>
              </a:ext>
            </a:extLst>
          </p:cNvPr>
          <p:cNvSpPr/>
          <p:nvPr/>
        </p:nvSpPr>
        <p:spPr>
          <a:xfrm>
            <a:off x="5943906" y="3420437"/>
            <a:ext cx="6176379" cy="1515518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27BEDE-012F-AC91-57A0-AA463F42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04" y="-117457"/>
            <a:ext cx="10515600" cy="1325563"/>
          </a:xfrm>
        </p:spPr>
        <p:txBody>
          <a:bodyPr/>
          <a:lstStyle/>
          <a:p>
            <a:r>
              <a:rPr lang="en-US" dirty="0"/>
              <a:t>Verifying Distribution Properties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FBA17077-1E9D-89F4-9F43-3D6075B3B466}"/>
              </a:ext>
            </a:extLst>
          </p:cNvPr>
          <p:cNvSpPr/>
          <p:nvPr/>
        </p:nvSpPr>
        <p:spPr>
          <a:xfrm>
            <a:off x="2067462" y="2021741"/>
            <a:ext cx="1390807" cy="986732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The Elusive Aardvark - Needles Lodge">
            <a:extLst>
              <a:ext uri="{FF2B5EF4-FFF2-40B4-BE49-F238E27FC236}">
                <a16:creationId xmlns:a16="http://schemas.microsoft.com/office/drawing/2014/main" id="{013D5777-1D36-9297-E6C0-0BDB32540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927" y="3948127"/>
            <a:ext cx="1437973" cy="88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A4DDFD2C-FD64-0FAF-AD59-7E6316BCF0FE}"/>
              </a:ext>
            </a:extLst>
          </p:cNvPr>
          <p:cNvSpPr/>
          <p:nvPr/>
        </p:nvSpPr>
        <p:spPr>
          <a:xfrm rot="840166">
            <a:off x="2444115" y="2619118"/>
            <a:ext cx="1827807" cy="207001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36556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8C1B79-F49F-9CE9-6891-079F611281FA}"/>
                  </a:ext>
                </a:extLst>
              </p:cNvPr>
              <p:cNvSpPr txBox="1"/>
              <p:nvPr/>
            </p:nvSpPr>
            <p:spPr>
              <a:xfrm>
                <a:off x="2167121" y="2239076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B8C1B79-F49F-9CE9-6891-079F61128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121" y="2239076"/>
                <a:ext cx="119149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5BEDBD-C26F-A6D6-61F8-976AC2C97C80}"/>
                  </a:ext>
                </a:extLst>
              </p:cNvPr>
              <p:cNvSpPr txBox="1"/>
              <p:nvPr/>
            </p:nvSpPr>
            <p:spPr>
              <a:xfrm>
                <a:off x="2643956" y="1533098"/>
                <a:ext cx="25328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Distribution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5BEDBD-C26F-A6D6-61F8-976AC2C97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956" y="1533098"/>
                <a:ext cx="2532879" cy="400110"/>
              </a:xfrm>
              <a:prstGeom prst="rect">
                <a:avLst/>
              </a:prstGeom>
              <a:blipFill>
                <a:blip r:embed="rId4"/>
                <a:stretch>
                  <a:fillRect l="-2651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62AACB2-E710-C342-03D6-FB54F0A411F0}"/>
              </a:ext>
            </a:extLst>
          </p:cNvPr>
          <p:cNvSpPr txBox="1"/>
          <p:nvPr/>
        </p:nvSpPr>
        <p:spPr>
          <a:xfrm>
            <a:off x="3893642" y="243917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53B6A9-3CA1-C5D9-AF59-291E55E3A284}"/>
                  </a:ext>
                </a:extLst>
              </p:cNvPr>
              <p:cNvSpPr txBox="1"/>
              <p:nvPr/>
            </p:nvSpPr>
            <p:spPr>
              <a:xfrm>
                <a:off x="3215875" y="3631769"/>
                <a:ext cx="1082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53B6A9-3CA1-C5D9-AF59-291E55E3A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875" y="3631769"/>
                <a:ext cx="1082170" cy="369332"/>
              </a:xfrm>
              <a:prstGeom prst="rect">
                <a:avLst/>
              </a:prstGeom>
              <a:blipFill>
                <a:blip r:embed="rId5"/>
                <a:stretch>
                  <a:fillRect l="-5085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Down 11">
            <a:extLst>
              <a:ext uri="{FF2B5EF4-FFF2-40B4-BE49-F238E27FC236}">
                <a16:creationId xmlns:a16="http://schemas.microsoft.com/office/drawing/2014/main" id="{02DF7F5A-D824-FF03-EE32-B57163F91F7F}"/>
              </a:ext>
            </a:extLst>
          </p:cNvPr>
          <p:cNvSpPr/>
          <p:nvPr/>
        </p:nvSpPr>
        <p:spPr>
          <a:xfrm rot="2826546">
            <a:off x="1319803" y="2658112"/>
            <a:ext cx="581577" cy="1221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060261-6E08-23A5-3F90-F66F4DC30098}"/>
              </a:ext>
            </a:extLst>
          </p:cNvPr>
          <p:cNvSpPr txBox="1"/>
          <p:nvPr/>
        </p:nvSpPr>
        <p:spPr>
          <a:xfrm>
            <a:off x="130754" y="2551347"/>
            <a:ext cx="220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knowledge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CA9FCC-36E4-A553-7584-3FFBD2ED9C62}"/>
              </a:ext>
            </a:extLst>
          </p:cNvPr>
          <p:cNvCxnSpPr>
            <a:cxnSpLocks/>
          </p:cNvCxnSpPr>
          <p:nvPr/>
        </p:nvCxnSpPr>
        <p:spPr>
          <a:xfrm>
            <a:off x="1943868" y="4450969"/>
            <a:ext cx="10220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6E95D5-F0EA-C582-886E-BF9D94BD7B72}"/>
                  </a:ext>
                </a:extLst>
              </p:cNvPr>
              <p:cNvSpPr txBox="1"/>
              <p:nvPr/>
            </p:nvSpPr>
            <p:spPr>
              <a:xfrm>
                <a:off x="503297" y="3677489"/>
                <a:ext cx="1022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36E95D5-F0EA-C582-886E-BF9D94BD7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97" y="3677489"/>
                <a:ext cx="1022017" cy="369332"/>
              </a:xfrm>
              <a:prstGeom prst="rect">
                <a:avLst/>
              </a:prstGeom>
              <a:blipFill>
                <a:blip r:embed="rId7"/>
                <a:stretch>
                  <a:fillRect l="-5389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78D4E9-31D0-1A74-25F3-00775FCBC938}"/>
                  </a:ext>
                </a:extLst>
              </p:cNvPr>
              <p:cNvSpPr txBox="1"/>
              <p:nvPr/>
            </p:nvSpPr>
            <p:spPr>
              <a:xfrm>
                <a:off x="2570672" y="5140718"/>
                <a:ext cx="3816760" cy="1574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dirty="0">
                    <a:solidFill>
                      <a:srgbClr val="002060"/>
                    </a:solidFill>
                  </a:rPr>
                  <a:t>U</a:t>
                </a:r>
                <a:r>
                  <a:rPr lang="en-US" dirty="0">
                    <a:solidFill>
                      <a:srgbClr val="002060"/>
                    </a:solidFill>
                  </a:rPr>
                  <a:t>sing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samples, determine whether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𝑇𝑉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dirty="0">
                    <a:solidFill>
                      <a:srgbClr val="002060"/>
                    </a:solidFill>
                  </a:rPr>
                  <a:t>	                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𝑇𝑉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78D4E9-31D0-1A74-25F3-00775FCBC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672" y="5140718"/>
                <a:ext cx="3816760" cy="1574726"/>
              </a:xfrm>
              <a:prstGeom prst="rect">
                <a:avLst/>
              </a:prstGeom>
              <a:blipFill>
                <a:blip r:embed="rId8"/>
                <a:stretch>
                  <a:fillRect l="-1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ED64C43-0667-5002-A67D-0833E8ED49FD}"/>
                  </a:ext>
                </a:extLst>
              </p:cNvPr>
              <p:cNvSpPr txBox="1"/>
              <p:nvPr/>
            </p:nvSpPr>
            <p:spPr>
              <a:xfrm>
                <a:off x="5951602" y="3496984"/>
                <a:ext cx="6240398" cy="2435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Baseline:</a:t>
                </a:r>
                <a:r>
                  <a:rPr lang="en-US" sz="2400" dirty="0"/>
                  <a:t> Every property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 can be verified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samples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communication</a:t>
                </a:r>
              </a:p>
              <a:p>
                <a:endParaRPr lang="en-US" dirty="0"/>
              </a:p>
              <a:p>
                <a:r>
                  <a:rPr lang="en-US" dirty="0"/>
                  <a:t>[Chiesa-Gur18]</a:t>
                </a:r>
              </a:p>
              <a:p>
                <a:endParaRPr lang="en-US" dirty="0"/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rgbClr val="002060"/>
                    </a:solidFill>
                  </a:rPr>
                  <a:t>(Tolerant) Identity Testing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 Verification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ED64C43-0667-5002-A67D-0833E8ED4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602" y="3496984"/>
                <a:ext cx="6240398" cy="2435410"/>
              </a:xfrm>
              <a:prstGeom prst="rect">
                <a:avLst/>
              </a:prstGeom>
              <a:blipFill>
                <a:blip r:embed="rId9"/>
                <a:stretch>
                  <a:fillRect l="-1465" t="-2005" r="-205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E6B66C-E544-2821-BD6B-92F48ECA1890}"/>
                  </a:ext>
                </a:extLst>
              </p:cNvPr>
              <p:cNvSpPr txBox="1"/>
              <p:nvPr/>
            </p:nvSpPr>
            <p:spPr>
              <a:xfrm>
                <a:off x="1966573" y="4022424"/>
                <a:ext cx="941189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E6B66C-E544-2821-BD6B-92F48ECA1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6573" y="4022424"/>
                <a:ext cx="941189" cy="408445"/>
              </a:xfrm>
              <a:prstGeom prst="rect">
                <a:avLst/>
              </a:prstGeom>
              <a:blipFill>
                <a:blip r:embed="rId10"/>
                <a:stretch>
                  <a:fillRect t="-10448" r="-14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A9AE66-E575-5A7A-314F-72BD0BF9559B}"/>
                  </a:ext>
                </a:extLst>
              </p:cNvPr>
              <p:cNvSpPr txBox="1"/>
              <p:nvPr/>
            </p:nvSpPr>
            <p:spPr>
              <a:xfrm>
                <a:off x="101612" y="5481124"/>
                <a:ext cx="2542344" cy="937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dirty="0"/>
                  <a:t> = discretization of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described in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bits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8A9AE66-E575-5A7A-314F-72BD0BF95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2" y="5481124"/>
                <a:ext cx="2542344" cy="937564"/>
              </a:xfrm>
              <a:prstGeom prst="rect">
                <a:avLst/>
              </a:prstGeom>
              <a:blipFill>
                <a:blip r:embed="rId11"/>
                <a:stretch>
                  <a:fillRect l="-2158" t="-1948" b="-9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B6EE32F-95BE-C297-DA17-D05AF803F37B}"/>
              </a:ext>
            </a:extLst>
          </p:cNvPr>
          <p:cNvSpPr/>
          <p:nvPr/>
        </p:nvSpPr>
        <p:spPr>
          <a:xfrm>
            <a:off x="8046646" y="103674"/>
            <a:ext cx="4073640" cy="2320915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1B6FB1-C5EB-4F16-92CE-B99541601608}"/>
                  </a:ext>
                </a:extLst>
              </p:cNvPr>
              <p:cNvSpPr txBox="1"/>
              <p:nvPr/>
            </p:nvSpPr>
            <p:spPr>
              <a:xfrm>
                <a:off x="8146303" y="-223181"/>
                <a:ext cx="4045698" cy="3279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000" dirty="0"/>
              </a:p>
              <a:p>
                <a:r>
                  <a:rPr lang="en-US" sz="2000" u="sng" dirty="0"/>
                  <a:t>Completeness: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r>
                  <a:rPr lang="en-US" sz="20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000" dirty="0"/>
                  <a:t> accepts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]≥2/3</m:t>
                    </m:r>
                  </m:oMath>
                </a14:m>
                <a:endParaRPr lang="en-US" sz="2000" dirty="0"/>
              </a:p>
              <a:p>
                <a:endParaRPr lang="en-US" sz="1200" dirty="0"/>
              </a:p>
              <a:p>
                <a:r>
                  <a:rPr lang="en-US" sz="2000" u="sng" dirty="0"/>
                  <a:t>Soundness: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/>
                  <a:t>-far from every distribution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for every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/>
              </a:p>
              <a:p>
                <a:r>
                  <a:rPr lang="en-US" sz="20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000" dirty="0"/>
                  <a:t> accepts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2000" dirty="0"/>
              </a:p>
              <a:p>
                <a:endParaRPr lang="en-US" sz="1200" dirty="0"/>
              </a:p>
              <a:p>
                <a:r>
                  <a:rPr lang="en-US" sz="2000" u="sng" dirty="0"/>
                  <a:t>Cost:</a:t>
                </a:r>
                <a:r>
                  <a:rPr lang="en-US" sz="2000" dirty="0"/>
                  <a:t> Samples, Communication</a:t>
                </a:r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1B6FB1-C5EB-4F16-92CE-B99541601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303" y="-223181"/>
                <a:ext cx="4045698" cy="3279296"/>
              </a:xfrm>
              <a:prstGeom prst="rect">
                <a:avLst/>
              </a:prstGeom>
              <a:blipFill>
                <a:blip r:embed="rId12"/>
                <a:stretch>
                  <a:fillRect l="-1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DFE96214-F76F-196F-6E9B-B06C22280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66" y="3968444"/>
            <a:ext cx="1113579" cy="8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480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A3B0-EAE9-674E-D26C-11A5AB78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D72A90-EA0E-C0BE-BE68-42742BFDF885}"/>
              </a:ext>
            </a:extLst>
          </p:cNvPr>
          <p:cNvSpPr/>
          <p:nvPr/>
        </p:nvSpPr>
        <p:spPr>
          <a:xfrm>
            <a:off x="5835466" y="861780"/>
            <a:ext cx="6225780" cy="564452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D9AA8-2C32-D88E-81CC-CACCBA3F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04" y="-117457"/>
            <a:ext cx="10515600" cy="1325563"/>
          </a:xfrm>
        </p:spPr>
        <p:txBody>
          <a:bodyPr/>
          <a:lstStyle/>
          <a:p>
            <a:r>
              <a:rPr lang="en-US" dirty="0"/>
              <a:t>Verifying Distribution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9EFC25-72CE-690C-8434-D9D6DBB34372}"/>
                  </a:ext>
                </a:extLst>
              </p:cNvPr>
              <p:cNvSpPr txBox="1"/>
              <p:nvPr/>
            </p:nvSpPr>
            <p:spPr>
              <a:xfrm>
                <a:off x="5897946" y="861780"/>
                <a:ext cx="6163300" cy="6401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/>
              </a:p>
              <a:p>
                <a:r>
                  <a:rPr lang="en-US" sz="2800" u="sng" dirty="0"/>
                  <a:t>Completeness: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800" dirty="0"/>
                  <a:t>,</a:t>
                </a:r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]≥2/3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Soundness: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800" dirty="0"/>
                  <a:t>-far from every distribution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7030A0"/>
                    </a:solidFill>
                  </a:rPr>
                  <a:t>for every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800" dirty="0"/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Cost:</a:t>
                </a:r>
                <a:r>
                  <a:rPr lang="en-US" sz="2800" dirty="0"/>
                  <a:t> </a:t>
                </a:r>
              </a:p>
              <a:p>
                <a:pPr marL="457200" indent="-457200">
                  <a:buFontTx/>
                  <a:buChar char="-"/>
                </a:pPr>
                <a:r>
                  <a:rPr lang="en-US" sz="2800" dirty="0"/>
                  <a:t>Number of samples </a:t>
                </a:r>
                <a14:m>
                  <m:oMath xmlns:m="http://schemas.openxmlformats.org/officeDocument/2006/math">
                    <m:r>
                      <a:rPr lang="pt-PT" sz="28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draws from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800" dirty="0"/>
              </a:p>
              <a:p>
                <a:pPr marL="457200" indent="-457200">
                  <a:buFontTx/>
                  <a:buChar char="-"/>
                </a:pPr>
                <a:r>
                  <a:rPr lang="en-US" sz="2800" dirty="0">
                    <a:solidFill>
                      <a:srgbClr val="7030A0"/>
                    </a:solidFill>
                  </a:rPr>
                  <a:t>Communication: Bits exchanged between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pt-PT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800" dirty="0">
                  <a:solidFill>
                    <a:srgbClr val="7030A0"/>
                  </a:solidFill>
                </a:endParaRPr>
              </a:p>
              <a:p>
                <a:endParaRPr lang="en-US" sz="2800" dirty="0"/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9EFC25-72CE-690C-8434-D9D6DBB34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946" y="861780"/>
                <a:ext cx="6163300" cy="6401753"/>
              </a:xfrm>
              <a:prstGeom prst="rect">
                <a:avLst/>
              </a:prstGeom>
              <a:blipFill>
                <a:blip r:embed="rId2"/>
                <a:stretch>
                  <a:fillRect l="-2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84E549-37A4-15B6-9C37-3166DDC17EA4}"/>
                  </a:ext>
                </a:extLst>
              </p:cNvPr>
              <p:cNvSpPr txBox="1"/>
              <p:nvPr/>
            </p:nvSpPr>
            <p:spPr>
              <a:xfrm>
                <a:off x="0" y="1067477"/>
                <a:ext cx="6536246" cy="5889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uniform?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samples, no communication</a:t>
                </a:r>
              </a:p>
              <a:p>
                <a:pPr lvl="1"/>
                <a:r>
                  <a:rPr lang="en-US" dirty="0"/>
                  <a:t>[Goldreich-Ron00]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samples regardless of communication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[Herman-Rothblum22]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Does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have support size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Does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have Shannon entropy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r>
                  <a:rPr lang="en-US" sz="2800" dirty="0"/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samples and communication</a:t>
                </a:r>
                <a:endParaRPr lang="en-US" sz="2400" dirty="0"/>
              </a:p>
              <a:p>
                <a:r>
                  <a:rPr lang="en-US" sz="1600" dirty="0"/>
                  <a:t>	[Herman-Rothblum22, Herman-Rothblum23]</a:t>
                </a:r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Is the PMF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monotone?</a:t>
                </a:r>
              </a:p>
              <a:p>
                <a:r>
                  <a:rPr lang="en-US" sz="2800" dirty="0"/>
                  <a:t>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samples and communication</a:t>
                </a:r>
              </a:p>
              <a:p>
                <a:r>
                  <a:rPr lang="en-US" sz="1600" dirty="0"/>
                  <a:t>	[Herman-Rothblum24]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F84E549-37A4-15B6-9C37-3166DDC17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67477"/>
                <a:ext cx="6536246" cy="5889241"/>
              </a:xfrm>
              <a:prstGeom prst="rect">
                <a:avLst/>
              </a:prstGeom>
              <a:blipFill>
                <a:blip r:embed="rId3"/>
                <a:stretch>
                  <a:fillRect l="-1679" t="-1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71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6F23-F21F-5665-54ED-461FB2C39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61F86-1ECD-7A9F-96DC-CFDD310AA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04" y="-117457"/>
            <a:ext cx="10515600" cy="1325563"/>
          </a:xfrm>
        </p:spPr>
        <p:txBody>
          <a:bodyPr/>
          <a:lstStyle/>
          <a:p>
            <a:r>
              <a:rPr lang="en-US" dirty="0"/>
              <a:t>Verifying Distribution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D68854-6B4D-F7DE-C5B2-9F291171E0C6}"/>
                  </a:ext>
                </a:extLst>
              </p:cNvPr>
              <p:cNvSpPr txBox="1"/>
              <p:nvPr/>
            </p:nvSpPr>
            <p:spPr>
              <a:xfrm>
                <a:off x="0" y="1067477"/>
                <a:ext cx="6536246" cy="5889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uniform?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samples, no communication</a:t>
                </a:r>
              </a:p>
              <a:p>
                <a:pPr lvl="1"/>
                <a:r>
                  <a:rPr lang="en-US" dirty="0"/>
                  <a:t>[Goldreich-Ron00]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samples regardless of communication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[Herman-Rothblum22]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Does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have support size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Does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have Shannon entropy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?</a:t>
                </a:r>
              </a:p>
              <a:p>
                <a:r>
                  <a:rPr lang="en-US" sz="2800" dirty="0"/>
                  <a:t>    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samples and communication</a:t>
                </a:r>
                <a:endParaRPr lang="en-US" sz="2400" dirty="0"/>
              </a:p>
              <a:p>
                <a:r>
                  <a:rPr lang="en-US" sz="1600" dirty="0"/>
                  <a:t>	[Herman-Rothblum22, Herman-Rothblum23]</a:t>
                </a:r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Is the PMF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monotone?</a:t>
                </a:r>
              </a:p>
              <a:p>
                <a:r>
                  <a:rPr lang="en-US" sz="2800" dirty="0"/>
                  <a:t>     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samples and communication</a:t>
                </a:r>
              </a:p>
              <a:p>
                <a:r>
                  <a:rPr lang="en-US" sz="1600" dirty="0"/>
                  <a:t>	[Herman-Rothblum24]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D68854-6B4D-F7DE-C5B2-9F291171E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67477"/>
                <a:ext cx="6536246" cy="5889241"/>
              </a:xfrm>
              <a:prstGeom prst="rect">
                <a:avLst/>
              </a:prstGeom>
              <a:blipFill>
                <a:blip r:embed="rId2"/>
                <a:stretch>
                  <a:fillRect l="-1679" t="-1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>
            <a:extLst>
              <a:ext uri="{FF2B5EF4-FFF2-40B4-BE49-F238E27FC236}">
                <a16:creationId xmlns:a16="http://schemas.microsoft.com/office/drawing/2014/main" id="{EC5F7A66-6626-0A87-B5BB-596656F5C200}"/>
              </a:ext>
            </a:extLst>
          </p:cNvPr>
          <p:cNvSpPr/>
          <p:nvPr/>
        </p:nvSpPr>
        <p:spPr>
          <a:xfrm>
            <a:off x="5998464" y="1208106"/>
            <a:ext cx="537782" cy="35833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4A205-8C1E-E4EA-9DC1-D5383546B4DD}"/>
              </a:ext>
            </a:extLst>
          </p:cNvPr>
          <p:cNvSpPr txBox="1"/>
          <p:nvPr/>
        </p:nvSpPr>
        <p:spPr>
          <a:xfrm>
            <a:off x="6536246" y="2646085"/>
            <a:ext cx="2523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Label-invariant a.k.a. symmetric properties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7A75D89-C5E0-5587-13AE-06F7A6CE6502}"/>
              </a:ext>
            </a:extLst>
          </p:cNvPr>
          <p:cNvSpPr/>
          <p:nvPr/>
        </p:nvSpPr>
        <p:spPr>
          <a:xfrm rot="10800000">
            <a:off x="5803392" y="4310293"/>
            <a:ext cx="1813560" cy="621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459B3-B787-42FE-B487-0F5892689C1B}"/>
              </a:ext>
            </a:extLst>
          </p:cNvPr>
          <p:cNvSpPr txBox="1"/>
          <p:nvPr/>
        </p:nvSpPr>
        <p:spPr>
          <a:xfrm>
            <a:off x="7616952" y="4436523"/>
            <a:ext cx="393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Holds for all label-invariant properties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354606E-410E-1BE6-8304-E50F650A62F1}"/>
              </a:ext>
            </a:extLst>
          </p:cNvPr>
          <p:cNvSpPr/>
          <p:nvPr/>
        </p:nvSpPr>
        <p:spPr>
          <a:xfrm rot="10800000">
            <a:off x="5803391" y="5809333"/>
            <a:ext cx="1813560" cy="621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9B9D9-9F77-9FC9-B2B6-B295C9BA5140}"/>
              </a:ext>
            </a:extLst>
          </p:cNvPr>
          <p:cNvSpPr txBox="1"/>
          <p:nvPr/>
        </p:nvSpPr>
        <p:spPr>
          <a:xfrm>
            <a:off x="7616951" y="5935563"/>
            <a:ext cx="2450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Holds for all properties</a:t>
            </a:r>
          </a:p>
        </p:txBody>
      </p:sp>
    </p:spTree>
    <p:extLst>
      <p:ext uri="{BB962C8B-B14F-4D97-AF65-F5344CB8AC3E}">
        <p14:creationId xmlns:p14="http://schemas.microsoft.com/office/powerpoint/2010/main" val="330063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1707-BD59-5818-7F01-CEBA9EA4D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AEEF50D-C0CF-5CA9-9F9D-0C0600F160B4}"/>
              </a:ext>
            </a:extLst>
          </p:cNvPr>
          <p:cNvSpPr/>
          <p:nvPr/>
        </p:nvSpPr>
        <p:spPr>
          <a:xfrm>
            <a:off x="305804" y="861781"/>
            <a:ext cx="11755442" cy="87078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FD6D3-5244-534E-14F3-54040630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04" y="-117457"/>
            <a:ext cx="10515600" cy="1325563"/>
          </a:xfrm>
        </p:spPr>
        <p:txBody>
          <a:bodyPr/>
          <a:lstStyle/>
          <a:p>
            <a:r>
              <a:rPr lang="en-US" dirty="0"/>
              <a:t>Lower Bound for Verifying Uniformity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CD7E9D-9F52-98B9-074B-8BC4177E956B}"/>
                  </a:ext>
                </a:extLst>
              </p:cNvPr>
              <p:cNvSpPr txBox="1"/>
              <p:nvPr/>
            </p:nvSpPr>
            <p:spPr>
              <a:xfrm>
                <a:off x="-151052" y="827781"/>
                <a:ext cx="11972512" cy="1207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600" b="0" u="sng" dirty="0">
                    <a:solidFill>
                      <a:schemeClr val="tx1"/>
                    </a:solidFill>
                  </a:rPr>
                  <a:t>Claim:</a:t>
                </a:r>
                <a:r>
                  <a:rPr lang="en-US" sz="2600" b="0" dirty="0">
                    <a:solidFill>
                      <a:schemeClr val="tx1"/>
                    </a:solidFill>
                  </a:rPr>
                  <a:t> Verifying the property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Uni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600" b="0" dirty="0">
                    <a:solidFill>
                      <a:schemeClr val="tx1"/>
                    </a:solidFill>
                  </a:rPr>
                  <a:t>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chemeClr val="tx1"/>
                    </a:solidFill>
                  </a:rPr>
                  <a:t> samples regardless of communication    </a:t>
                </a:r>
                <a:r>
                  <a:rPr lang="en-US" dirty="0">
                    <a:solidFill>
                      <a:schemeClr val="tx1"/>
                    </a:solidFill>
                  </a:rPr>
                  <a:t>[Herman-Rothblum22]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CCD7E9D-9F52-98B9-074B-8BC4177E9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052" y="827781"/>
                <a:ext cx="11972512" cy="1207254"/>
              </a:xfrm>
              <a:prstGeom prst="rect">
                <a:avLst/>
              </a:prstGeom>
              <a:blipFill>
                <a:blip r:embed="rId3"/>
                <a:stretch>
                  <a:fillRect t="-1010" r="-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loud 25">
            <a:extLst>
              <a:ext uri="{FF2B5EF4-FFF2-40B4-BE49-F238E27FC236}">
                <a16:creationId xmlns:a16="http://schemas.microsoft.com/office/drawing/2014/main" id="{E39AFFF7-2C26-B8D8-78AC-94430B4548A8}"/>
              </a:ext>
            </a:extLst>
          </p:cNvPr>
          <p:cNvSpPr/>
          <p:nvPr/>
        </p:nvSpPr>
        <p:spPr>
          <a:xfrm>
            <a:off x="2745820" y="3365656"/>
            <a:ext cx="1390807" cy="986732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" descr="The Elusive Aardvark - Needles Lodge">
            <a:extLst>
              <a:ext uri="{FF2B5EF4-FFF2-40B4-BE49-F238E27FC236}">
                <a16:creationId xmlns:a16="http://schemas.microsoft.com/office/drawing/2014/main" id="{D6D13093-7B89-714D-465B-EE65691E8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285" y="5292042"/>
            <a:ext cx="1437973" cy="88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rrow: Circular 27">
            <a:extLst>
              <a:ext uri="{FF2B5EF4-FFF2-40B4-BE49-F238E27FC236}">
                <a16:creationId xmlns:a16="http://schemas.microsoft.com/office/drawing/2014/main" id="{2A31AFBF-1CEF-93C4-9C13-8BFCF1A8F9F7}"/>
              </a:ext>
            </a:extLst>
          </p:cNvPr>
          <p:cNvSpPr/>
          <p:nvPr/>
        </p:nvSpPr>
        <p:spPr>
          <a:xfrm rot="840166">
            <a:off x="3122473" y="3963033"/>
            <a:ext cx="1827807" cy="207001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36556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B1EAED-7CA2-D991-7EFA-400AB27F0651}"/>
                  </a:ext>
                </a:extLst>
              </p:cNvPr>
              <p:cNvSpPr txBox="1"/>
              <p:nvPr/>
            </p:nvSpPr>
            <p:spPr>
              <a:xfrm>
                <a:off x="2845479" y="3582991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B1EAED-7CA2-D991-7EFA-400AB27F0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479" y="3582991"/>
                <a:ext cx="119149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1897E2B-BF54-0091-ED59-2209EF925B17}"/>
                  </a:ext>
                </a:extLst>
              </p:cNvPr>
              <p:cNvSpPr txBox="1"/>
              <p:nvPr/>
            </p:nvSpPr>
            <p:spPr>
              <a:xfrm>
                <a:off x="3322314" y="2877013"/>
                <a:ext cx="25328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Distribution over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1897E2B-BF54-0091-ED59-2209EF925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314" y="2877013"/>
                <a:ext cx="2532879" cy="400110"/>
              </a:xfrm>
              <a:prstGeom prst="rect">
                <a:avLst/>
              </a:prstGeom>
              <a:blipFill>
                <a:blip r:embed="rId6"/>
                <a:stretch>
                  <a:fillRect l="-2651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F2B9FDAA-1515-EAD7-12C8-52513491AC76}"/>
              </a:ext>
            </a:extLst>
          </p:cNvPr>
          <p:cNvSpPr txBox="1"/>
          <p:nvPr/>
        </p:nvSpPr>
        <p:spPr>
          <a:xfrm>
            <a:off x="4572000" y="3783093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413123F-E55E-EECD-692D-54412D388F63}"/>
                  </a:ext>
                </a:extLst>
              </p:cNvPr>
              <p:cNvSpPr txBox="1"/>
              <p:nvPr/>
            </p:nvSpPr>
            <p:spPr>
              <a:xfrm>
                <a:off x="3894233" y="4975684"/>
                <a:ext cx="1082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413123F-E55E-EECD-692D-54412D388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233" y="4975684"/>
                <a:ext cx="1082170" cy="369332"/>
              </a:xfrm>
              <a:prstGeom prst="rect">
                <a:avLst/>
              </a:prstGeom>
              <a:blipFill>
                <a:blip r:embed="rId7"/>
                <a:stretch>
                  <a:fillRect l="-5085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Down 33">
            <a:extLst>
              <a:ext uri="{FF2B5EF4-FFF2-40B4-BE49-F238E27FC236}">
                <a16:creationId xmlns:a16="http://schemas.microsoft.com/office/drawing/2014/main" id="{CCF4C7D1-61FB-DAC3-5445-79F31E986D4D}"/>
              </a:ext>
            </a:extLst>
          </p:cNvPr>
          <p:cNvSpPr/>
          <p:nvPr/>
        </p:nvSpPr>
        <p:spPr>
          <a:xfrm rot="2826546">
            <a:off x="1998161" y="4002027"/>
            <a:ext cx="581577" cy="1221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AEB2CE-4008-F6D7-DC40-0E9156711D35}"/>
              </a:ext>
            </a:extLst>
          </p:cNvPr>
          <p:cNvSpPr txBox="1"/>
          <p:nvPr/>
        </p:nvSpPr>
        <p:spPr>
          <a:xfrm>
            <a:off x="809112" y="3895262"/>
            <a:ext cx="220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 knowledge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23CEAB-AB05-A0E5-47A0-2339AD0E118A}"/>
              </a:ext>
            </a:extLst>
          </p:cNvPr>
          <p:cNvGrpSpPr/>
          <p:nvPr/>
        </p:nvGrpSpPr>
        <p:grpSpPr>
          <a:xfrm>
            <a:off x="2587720" y="5398710"/>
            <a:ext cx="1023368" cy="766539"/>
            <a:chOff x="4101482" y="4183301"/>
            <a:chExt cx="2842203" cy="911832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E7F791B-4577-BB4F-98E2-F4BFE5108113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183301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36632F0-E1B6-DDC7-C365-3052A3A2E1D4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501126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1ACC8AE-472B-1E36-C8B7-75C1FA203C70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4777308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4D49411-723C-1746-25C6-286CE1FA31B3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5095133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35396F-36F5-AF18-C269-B988C9AED0D5}"/>
                  </a:ext>
                </a:extLst>
              </p:cNvPr>
              <p:cNvSpPr txBox="1"/>
              <p:nvPr/>
            </p:nvSpPr>
            <p:spPr>
              <a:xfrm>
                <a:off x="1181655" y="5021404"/>
                <a:ext cx="1022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35396F-36F5-AF18-C269-B988C9AED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655" y="5021404"/>
                <a:ext cx="1022017" cy="369332"/>
              </a:xfrm>
              <a:prstGeom prst="rect">
                <a:avLst/>
              </a:prstGeom>
              <a:blipFill>
                <a:blip r:embed="rId9"/>
                <a:stretch>
                  <a:fillRect l="-5389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2B113970-8660-133A-6535-83E241489684}"/>
              </a:ext>
            </a:extLst>
          </p:cNvPr>
          <p:cNvSpPr txBox="1"/>
          <p:nvPr/>
        </p:nvSpPr>
        <p:spPr>
          <a:xfrm>
            <a:off x="2784269" y="6265637"/>
            <a:ext cx="203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accept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reject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53BD232-6432-E03B-35E6-C459A95F248C}"/>
                  </a:ext>
                </a:extLst>
              </p:cNvPr>
              <p:cNvSpPr txBox="1"/>
              <p:nvPr/>
            </p:nvSpPr>
            <p:spPr>
              <a:xfrm>
                <a:off x="-245287" y="1696438"/>
                <a:ext cx="12160982" cy="930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600" b="0" u="sng" dirty="0">
                    <a:solidFill>
                      <a:schemeClr val="tx1"/>
                    </a:solidFill>
                  </a:rPr>
                  <a:t>Proof idea:</a:t>
                </a:r>
                <a:r>
                  <a:rPr lang="en-US" sz="2600" b="0" dirty="0">
                    <a:solidFill>
                      <a:schemeClr val="tx1"/>
                    </a:solidFill>
                  </a:rPr>
                  <a:t> Use proof system to construct a (prover-free) tester, which needs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samples</a:t>
                </a:r>
                <a:r>
                  <a:rPr lang="en-US" sz="2600" b="0" dirty="0">
                    <a:solidFill>
                      <a:schemeClr val="tx1"/>
                    </a:solidFill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53BD232-6432-E03B-35E6-C459A95F2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5287" y="1696438"/>
                <a:ext cx="12160982" cy="930255"/>
              </a:xfrm>
              <a:prstGeom prst="rect">
                <a:avLst/>
              </a:prstGeom>
              <a:blipFill>
                <a:blip r:embed="rId10"/>
                <a:stretch>
                  <a:fillRect t="-5882" b="-16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8645963D-BAB6-DB25-4503-0887EFD0E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137" y="5398710"/>
            <a:ext cx="1113579" cy="8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208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68310-92B4-90C4-74A5-A44756E7A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C17B8C-FB4E-AC4D-8904-E3AF09621F75}"/>
              </a:ext>
            </a:extLst>
          </p:cNvPr>
          <p:cNvSpPr/>
          <p:nvPr/>
        </p:nvSpPr>
        <p:spPr>
          <a:xfrm>
            <a:off x="7126754" y="3353171"/>
            <a:ext cx="4703004" cy="296849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D1AD12-A041-0C42-6882-4B1D113E8898}"/>
              </a:ext>
            </a:extLst>
          </p:cNvPr>
          <p:cNvSpPr/>
          <p:nvPr/>
        </p:nvSpPr>
        <p:spPr>
          <a:xfrm>
            <a:off x="305804" y="861781"/>
            <a:ext cx="11755442" cy="87078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5014FC-D067-CF87-ACB5-46C91D3D92CA}"/>
              </a:ext>
            </a:extLst>
          </p:cNvPr>
          <p:cNvSpPr/>
          <p:nvPr/>
        </p:nvSpPr>
        <p:spPr>
          <a:xfrm>
            <a:off x="464238" y="3115025"/>
            <a:ext cx="5373771" cy="3672577"/>
          </a:xfrm>
          <a:prstGeom prst="roundRect">
            <a:avLst/>
          </a:prstGeom>
          <a:solidFill>
            <a:schemeClr val="accent2">
              <a:lumMod val="40000"/>
              <a:lumOff val="60000"/>
              <a:alpha val="13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E8973-658F-9D53-8C86-D2768446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04" y="-117457"/>
            <a:ext cx="10515600" cy="1325563"/>
          </a:xfrm>
        </p:spPr>
        <p:txBody>
          <a:bodyPr/>
          <a:lstStyle/>
          <a:p>
            <a:r>
              <a:rPr lang="en-US" dirty="0"/>
              <a:t>Lower Bound for Verifying Uniformity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EAB679-0774-DD7D-A014-4163DB52E350}"/>
                  </a:ext>
                </a:extLst>
              </p:cNvPr>
              <p:cNvSpPr txBox="1"/>
              <p:nvPr/>
            </p:nvSpPr>
            <p:spPr>
              <a:xfrm>
                <a:off x="-151052" y="827781"/>
                <a:ext cx="11972512" cy="1207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600" b="0" u="sng" dirty="0">
                    <a:solidFill>
                      <a:schemeClr val="tx1"/>
                    </a:solidFill>
                  </a:rPr>
                  <a:t>Claim:</a:t>
                </a:r>
                <a:r>
                  <a:rPr lang="en-US" sz="2600" b="0" dirty="0">
                    <a:solidFill>
                      <a:schemeClr val="tx1"/>
                    </a:solidFill>
                  </a:rPr>
                  <a:t> Verifying the property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Uni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600" b="0" dirty="0">
                    <a:solidFill>
                      <a:schemeClr val="tx1"/>
                    </a:solidFill>
                  </a:rPr>
                  <a:t>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solidFill>
                      <a:schemeClr val="tx1"/>
                    </a:solidFill>
                  </a:rPr>
                  <a:t> samples regardless of communication    </a:t>
                </a:r>
                <a:r>
                  <a:rPr lang="en-US" dirty="0">
                    <a:solidFill>
                      <a:schemeClr val="tx1"/>
                    </a:solidFill>
                  </a:rPr>
                  <a:t>[Herman-Rothblum22]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EAB679-0774-DD7D-A014-4163DB52E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1052" y="827781"/>
                <a:ext cx="11972512" cy="1207254"/>
              </a:xfrm>
              <a:prstGeom prst="rect">
                <a:avLst/>
              </a:prstGeom>
              <a:blipFill>
                <a:blip r:embed="rId3"/>
                <a:stretch>
                  <a:fillRect t="-1010" r="-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4F2D7A-6F38-B38A-7C4B-2FCD8EC54A4A}"/>
                  </a:ext>
                </a:extLst>
              </p:cNvPr>
              <p:cNvSpPr txBox="1"/>
              <p:nvPr/>
            </p:nvSpPr>
            <p:spPr>
              <a:xfrm>
                <a:off x="-245287" y="1696438"/>
                <a:ext cx="12160982" cy="930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600" b="0" u="sng" dirty="0">
                    <a:solidFill>
                      <a:schemeClr val="tx1"/>
                    </a:solidFill>
                  </a:rPr>
                  <a:t>Proof idea:</a:t>
                </a:r>
                <a:r>
                  <a:rPr lang="en-US" sz="2600" b="0" dirty="0">
                    <a:solidFill>
                      <a:schemeClr val="tx1"/>
                    </a:solidFill>
                  </a:rPr>
                  <a:t> Use proof system to construct a (prover-free) tester, which needs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samples</a:t>
                </a:r>
                <a:r>
                  <a:rPr lang="en-US" sz="2600" b="0" dirty="0">
                    <a:solidFill>
                      <a:schemeClr val="tx1"/>
                    </a:solidFill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4F2D7A-6F38-B38A-7C4B-2FCD8EC54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5287" y="1696438"/>
                <a:ext cx="12160982" cy="930255"/>
              </a:xfrm>
              <a:prstGeom prst="rect">
                <a:avLst/>
              </a:prstGeom>
              <a:blipFill>
                <a:blip r:embed="rId4"/>
                <a:stretch>
                  <a:fillRect t="-5882" b="-16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loud 25">
            <a:extLst>
              <a:ext uri="{FF2B5EF4-FFF2-40B4-BE49-F238E27FC236}">
                <a16:creationId xmlns:a16="http://schemas.microsoft.com/office/drawing/2014/main" id="{2276EAA4-E579-21B7-A98B-C8DC75190421}"/>
              </a:ext>
            </a:extLst>
          </p:cNvPr>
          <p:cNvSpPr/>
          <p:nvPr/>
        </p:nvSpPr>
        <p:spPr>
          <a:xfrm>
            <a:off x="908910" y="3353171"/>
            <a:ext cx="1390807" cy="986732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" descr="The Elusive Aardvark - Needles Lodge">
            <a:extLst>
              <a:ext uri="{FF2B5EF4-FFF2-40B4-BE49-F238E27FC236}">
                <a16:creationId xmlns:a16="http://schemas.microsoft.com/office/drawing/2014/main" id="{DA7ABAF6-3665-F94B-244B-AA7352142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552" y="5245315"/>
            <a:ext cx="1437973" cy="88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rrow: Circular 27">
            <a:extLst>
              <a:ext uri="{FF2B5EF4-FFF2-40B4-BE49-F238E27FC236}">
                <a16:creationId xmlns:a16="http://schemas.microsoft.com/office/drawing/2014/main" id="{1368E9B2-4A5A-88F8-8644-3B84E5F05F13}"/>
              </a:ext>
            </a:extLst>
          </p:cNvPr>
          <p:cNvSpPr/>
          <p:nvPr/>
        </p:nvSpPr>
        <p:spPr>
          <a:xfrm rot="20939252" flipH="1">
            <a:off x="4246844" y="2254029"/>
            <a:ext cx="3838408" cy="5441295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667917"/>
              <a:gd name="adj5" fmla="val 12500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43F7C1A-3F42-48EE-20CF-F8F180420ACC}"/>
                  </a:ext>
                </a:extLst>
              </p:cNvPr>
              <p:cNvSpPr txBox="1"/>
              <p:nvPr/>
            </p:nvSpPr>
            <p:spPr>
              <a:xfrm>
                <a:off x="6377449" y="2469361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43F7C1A-3F42-48EE-20CF-F8F180420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449" y="2469361"/>
                <a:ext cx="11914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C049A73-7621-8A56-F9FE-EB279F4D0CAC}"/>
              </a:ext>
            </a:extLst>
          </p:cNvPr>
          <p:cNvSpPr txBox="1"/>
          <p:nvPr/>
        </p:nvSpPr>
        <p:spPr>
          <a:xfrm>
            <a:off x="3453155" y="260180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81617C-14F8-ADB3-BD69-738CD16FF2E9}"/>
                  </a:ext>
                </a:extLst>
              </p:cNvPr>
              <p:cNvSpPr txBox="1"/>
              <p:nvPr/>
            </p:nvSpPr>
            <p:spPr>
              <a:xfrm>
                <a:off x="4056500" y="4928957"/>
                <a:ext cx="1082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81617C-14F8-ADB3-BD69-738CD16FF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6500" y="4928957"/>
                <a:ext cx="1082170" cy="369332"/>
              </a:xfrm>
              <a:prstGeom prst="rect">
                <a:avLst/>
              </a:prstGeom>
              <a:blipFill>
                <a:blip r:embed="rId7"/>
                <a:stretch>
                  <a:fillRect l="-4494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Down 33">
            <a:extLst>
              <a:ext uri="{FF2B5EF4-FFF2-40B4-BE49-F238E27FC236}">
                <a16:creationId xmlns:a16="http://schemas.microsoft.com/office/drawing/2014/main" id="{D9222720-528D-40B6-741D-196FE86B4B07}"/>
              </a:ext>
            </a:extLst>
          </p:cNvPr>
          <p:cNvSpPr/>
          <p:nvPr/>
        </p:nvSpPr>
        <p:spPr>
          <a:xfrm>
            <a:off x="1343922" y="4406467"/>
            <a:ext cx="581577" cy="5682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8FCD2E-C96B-55CD-BF62-D580E3C757DC}"/>
              </a:ext>
            </a:extLst>
          </p:cNvPr>
          <p:cNvGrpSpPr/>
          <p:nvPr/>
        </p:nvGrpSpPr>
        <p:grpSpPr>
          <a:xfrm>
            <a:off x="2749987" y="5351983"/>
            <a:ext cx="1023368" cy="766539"/>
            <a:chOff x="4101482" y="4183301"/>
            <a:chExt cx="2842203" cy="911832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D4DE055-861B-4537-DFFB-4B8F142C02CA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183301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A6D0D6E-8017-94AA-503C-50E2CBADF1E1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501126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413F8E3-C2DB-78D1-AB1E-6FC0E08CE3F4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4777308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30B9FF7-3900-3BEE-CF29-8F0A007FB204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5095133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17A06E-2582-EA5C-0072-26FEE0A46AD2}"/>
                  </a:ext>
                </a:extLst>
              </p:cNvPr>
              <p:cNvSpPr txBox="1"/>
              <p:nvPr/>
            </p:nvSpPr>
            <p:spPr>
              <a:xfrm>
                <a:off x="1343922" y="4974677"/>
                <a:ext cx="1022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417A06E-2582-EA5C-0072-26FEE0A46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22" y="4974677"/>
                <a:ext cx="1022017" cy="369332"/>
              </a:xfrm>
              <a:prstGeom prst="rect">
                <a:avLst/>
              </a:prstGeom>
              <a:blipFill>
                <a:blip r:embed="rId9"/>
                <a:stretch>
                  <a:fillRect l="-4762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9CF5D584-D4EF-9989-CEBD-2891C803909E}"/>
              </a:ext>
            </a:extLst>
          </p:cNvPr>
          <p:cNvSpPr txBox="1"/>
          <p:nvPr/>
        </p:nvSpPr>
        <p:spPr>
          <a:xfrm>
            <a:off x="2946536" y="6218910"/>
            <a:ext cx="203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accept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reject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7C0E4-A9E9-66BB-5D1E-A470AAD2DDB4}"/>
                  </a:ext>
                </a:extLst>
              </p:cNvPr>
              <p:cNvSpPr txBox="1"/>
              <p:nvPr/>
            </p:nvSpPr>
            <p:spPr>
              <a:xfrm>
                <a:off x="1162243" y="3661871"/>
                <a:ext cx="8841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Uni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C7C0E4-A9E9-66BB-5D1E-A470AAD2D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243" y="3661871"/>
                <a:ext cx="88413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loud 5">
            <a:extLst>
              <a:ext uri="{FF2B5EF4-FFF2-40B4-BE49-F238E27FC236}">
                <a16:creationId xmlns:a16="http://schemas.microsoft.com/office/drawing/2014/main" id="{F276842D-6DA2-DE63-EC02-3C46F2193458}"/>
              </a:ext>
            </a:extLst>
          </p:cNvPr>
          <p:cNvSpPr/>
          <p:nvPr/>
        </p:nvSpPr>
        <p:spPr>
          <a:xfrm>
            <a:off x="6277792" y="2267459"/>
            <a:ext cx="1390807" cy="986732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27F71-B887-2F2C-6143-109F0E700DD5}"/>
              </a:ext>
            </a:extLst>
          </p:cNvPr>
          <p:cNvSpPr txBox="1"/>
          <p:nvPr/>
        </p:nvSpPr>
        <p:spPr>
          <a:xfrm>
            <a:off x="5903860" y="5890334"/>
            <a:ext cx="1082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A89586-2D9B-7E09-104F-18B0EF77E0AA}"/>
                  </a:ext>
                </a:extLst>
              </p:cNvPr>
              <p:cNvSpPr txBox="1"/>
              <p:nvPr/>
            </p:nvSpPr>
            <p:spPr>
              <a:xfrm>
                <a:off x="7148532" y="3440866"/>
                <a:ext cx="4767163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Completeness: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Uni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400" dirty="0"/>
                  <a:t>, simulated prover convinces verifier, so tester accepts</a:t>
                </a:r>
              </a:p>
              <a:p>
                <a:endParaRPr lang="en-US" sz="2400" dirty="0"/>
              </a:p>
              <a:p>
                <a:r>
                  <a:rPr lang="en-US" sz="2400" u="sng" dirty="0"/>
                  <a:t>Soundness: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pt-PT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far from uniform, simulated prover acts like a cheater, so tester rejects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A89586-2D9B-7E09-104F-18B0EF77E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532" y="3440866"/>
                <a:ext cx="4767163" cy="2677656"/>
              </a:xfrm>
              <a:prstGeom prst="rect">
                <a:avLst/>
              </a:prstGeom>
              <a:blipFill>
                <a:blip r:embed="rId11"/>
                <a:stretch>
                  <a:fillRect l="-2046" t="-1818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C438C0-758B-F1F5-4070-405898439442}"/>
              </a:ext>
            </a:extLst>
          </p:cNvPr>
          <p:cNvCxnSpPr/>
          <p:nvPr/>
        </p:nvCxnSpPr>
        <p:spPr>
          <a:xfrm>
            <a:off x="4714875" y="6419850"/>
            <a:ext cx="19335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658B480D-B461-747F-8AAD-B39250800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924" y="5321462"/>
            <a:ext cx="1113579" cy="8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57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6" grpId="0" animBg="1"/>
      <p:bldP spid="32" grpId="0"/>
      <p:bldP spid="34" grpId="0" animBg="1"/>
      <p:bldP spid="41" grpId="0"/>
      <p:bldP spid="42" grpId="0"/>
      <p:bldP spid="5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2A96ED8-79AA-D64D-50CA-9B6A383E3910}"/>
              </a:ext>
            </a:extLst>
          </p:cNvPr>
          <p:cNvSpPr/>
          <p:nvPr/>
        </p:nvSpPr>
        <p:spPr>
          <a:xfrm>
            <a:off x="169858" y="1914502"/>
            <a:ext cx="11755442" cy="87078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5F596-9722-42D1-0A3D-5A769DD8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5"/>
            <a:ext cx="10515600" cy="1325563"/>
          </a:xfrm>
        </p:spPr>
        <p:txBody>
          <a:bodyPr/>
          <a:lstStyle/>
          <a:p>
            <a:r>
              <a:rPr lang="en-US" dirty="0"/>
              <a:t>Toward Practical Verification?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BE7520-36B0-6482-9E76-9CEED44225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0" y="1158081"/>
                <a:ext cx="11849100" cy="73739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u="sng" dirty="0">
                    <a:solidFill>
                      <a:srgbClr val="00B050"/>
                    </a:solidFill>
                  </a:rPr>
                  <a:t>Question:</a:t>
                </a:r>
                <a:r>
                  <a:rPr lang="en-US" dirty="0">
                    <a:solidFill>
                      <a:srgbClr val="00B050"/>
                    </a:solidFill>
                  </a:rPr>
                  <a:t>  </a:t>
                </a:r>
                <a:r>
                  <a:rPr lang="en-US" dirty="0"/>
                  <a:t>How might we (slightly) augment the verifier’s power so that it can get away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dirty="0"/>
                  <a:t> samples?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BE7520-36B0-6482-9E76-9CEED44225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0" y="1158081"/>
                <a:ext cx="11849100" cy="737394"/>
              </a:xfrm>
              <a:blipFill>
                <a:blip r:embed="rId2"/>
                <a:stretch>
                  <a:fillRect l="-926" t="-20661" b="-14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470079-5E06-4137-A0D4-BEEEDA7EEDEB}"/>
              </a:ext>
            </a:extLst>
          </p:cNvPr>
          <p:cNvSpPr txBox="1">
            <a:spLocks/>
          </p:cNvSpPr>
          <p:nvPr/>
        </p:nvSpPr>
        <p:spPr>
          <a:xfrm>
            <a:off x="266700" y="2114947"/>
            <a:ext cx="11849100" cy="737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u="sng" dirty="0">
                <a:solidFill>
                  <a:srgbClr val="00B050"/>
                </a:solidFill>
              </a:rPr>
              <a:t>This work:</a:t>
            </a:r>
            <a:r>
              <a:rPr lang="en-US" dirty="0">
                <a:solidFill>
                  <a:srgbClr val="00B050"/>
                </a:solidFill>
              </a:rPr>
              <a:t>  </a:t>
            </a:r>
            <a:r>
              <a:rPr lang="en-US" dirty="0"/>
              <a:t>Give the verifier </a:t>
            </a:r>
            <a:r>
              <a:rPr lang="en-US" i="1" dirty="0"/>
              <a:t>pairwise conditional</a:t>
            </a:r>
            <a:r>
              <a:rPr lang="en-US" dirty="0"/>
              <a:t> queries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984922B-2D04-462D-B7B3-5B4308786AC0}"/>
                  </a:ext>
                </a:extLst>
              </p:cNvPr>
              <p:cNvSpPr/>
              <p:nvPr/>
            </p:nvSpPr>
            <p:spPr>
              <a:xfrm>
                <a:off x="3467101" y="3858417"/>
                <a:ext cx="2533650" cy="176212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PCon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984922B-2D04-462D-B7B3-5B4308786A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101" y="3858417"/>
                <a:ext cx="2533650" cy="176212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1530B8-3353-BA4C-6455-A686287F15F1}"/>
              </a:ext>
            </a:extLst>
          </p:cNvPr>
          <p:cNvCxnSpPr/>
          <p:nvPr/>
        </p:nvCxnSpPr>
        <p:spPr>
          <a:xfrm>
            <a:off x="1123950" y="4162425"/>
            <a:ext cx="217170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4C44AE-4D38-7894-354D-543FEEFF9AE5}"/>
              </a:ext>
            </a:extLst>
          </p:cNvPr>
          <p:cNvCxnSpPr/>
          <p:nvPr/>
        </p:nvCxnSpPr>
        <p:spPr>
          <a:xfrm>
            <a:off x="1123950" y="5238750"/>
            <a:ext cx="217170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0EA1D0-6877-9470-2297-E14D3983344A}"/>
                  </a:ext>
                </a:extLst>
              </p:cNvPr>
              <p:cNvSpPr txBox="1"/>
              <p:nvPr/>
            </p:nvSpPr>
            <p:spPr>
              <a:xfrm>
                <a:off x="1504949" y="3546138"/>
                <a:ext cx="15811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0EA1D0-6877-9470-2297-E14D39833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949" y="3546138"/>
                <a:ext cx="158115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D4305A-9ABE-24EC-EC24-1BD9C988FEF4}"/>
                  </a:ext>
                </a:extLst>
              </p:cNvPr>
              <p:cNvSpPr txBox="1"/>
              <p:nvPr/>
            </p:nvSpPr>
            <p:spPr>
              <a:xfrm>
                <a:off x="1504948" y="4715530"/>
                <a:ext cx="15811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9D4305A-9ABE-24EC-EC24-1BD9C988F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948" y="4715530"/>
                <a:ext cx="158115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991F47-3797-7B65-D887-B7674949D674}"/>
              </a:ext>
            </a:extLst>
          </p:cNvPr>
          <p:cNvCxnSpPr>
            <a:cxnSpLocks/>
          </p:cNvCxnSpPr>
          <p:nvPr/>
        </p:nvCxnSpPr>
        <p:spPr>
          <a:xfrm>
            <a:off x="6086475" y="4739479"/>
            <a:ext cx="102870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8E6DDD-5D66-80C4-4E77-1CF03198CBD1}"/>
                  </a:ext>
                </a:extLst>
              </p:cNvPr>
              <p:cNvSpPr txBox="1"/>
              <p:nvPr/>
            </p:nvSpPr>
            <p:spPr>
              <a:xfrm>
                <a:off x="5810249" y="4078883"/>
                <a:ext cx="15811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8E6DDD-5D66-80C4-4E77-1CF03198C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249" y="4078883"/>
                <a:ext cx="158115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>
            <a:extLst>
              <a:ext uri="{FF2B5EF4-FFF2-40B4-BE49-F238E27FC236}">
                <a16:creationId xmlns:a16="http://schemas.microsoft.com/office/drawing/2014/main" id="{30973E66-8128-82C8-6FAF-06F27587201C}"/>
              </a:ext>
            </a:extLst>
          </p:cNvPr>
          <p:cNvSpPr/>
          <p:nvPr/>
        </p:nvSpPr>
        <p:spPr>
          <a:xfrm>
            <a:off x="7210424" y="3307030"/>
            <a:ext cx="838200" cy="281753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E87EE7-5C8A-EECE-09DE-DC5E29EFCC79}"/>
                  </a:ext>
                </a:extLst>
              </p:cNvPr>
              <p:cNvSpPr txBox="1"/>
              <p:nvPr/>
            </p:nvSpPr>
            <p:spPr>
              <a:xfrm>
                <a:off x="7962900" y="3546138"/>
                <a:ext cx="4152900" cy="779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    </a:t>
                </a:r>
                <a:r>
                  <a:rPr lang="en-US" sz="2800" dirty="0" err="1"/>
                  <a:t>w.p.</a:t>
                </a:r>
                <a:r>
                  <a:rPr lang="en-US" sz="2800" dirty="0"/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E87EE7-5C8A-EECE-09DE-DC5E29EFC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900" y="3546138"/>
                <a:ext cx="4152900" cy="779957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D9F953-BF13-67E8-ED81-3BE7DE2D7A96}"/>
                  </a:ext>
                </a:extLst>
              </p:cNvPr>
              <p:cNvSpPr txBox="1"/>
              <p:nvPr/>
            </p:nvSpPr>
            <p:spPr>
              <a:xfrm>
                <a:off x="7962900" y="5019892"/>
                <a:ext cx="4152900" cy="779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     </a:t>
                </a:r>
                <a:r>
                  <a:rPr lang="en-US" sz="2800" dirty="0" err="1"/>
                  <a:t>w.p.</a:t>
                </a:r>
                <a:r>
                  <a:rPr lang="en-US" sz="2800" dirty="0"/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CD9F953-BF13-67E8-ED81-3BE7DE2D7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900" y="5019892"/>
                <a:ext cx="4152900" cy="779957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29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" grpId="0"/>
      <p:bldP spid="5" grpId="0" animBg="1"/>
      <p:bldP spid="10" grpId="0"/>
      <p:bldP spid="11" grpId="0"/>
      <p:bldP spid="14" grpId="0"/>
      <p:bldP spid="15" grpId="0" animBg="1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9E90-02FC-64E2-DACA-DD0B2AE7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69FF2-4355-4579-52E3-DEC715502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5"/>
            <a:ext cx="10515600" cy="1325563"/>
          </a:xfrm>
        </p:spPr>
        <p:txBody>
          <a:bodyPr/>
          <a:lstStyle/>
          <a:p>
            <a:r>
              <a:rPr lang="en-US" dirty="0"/>
              <a:t>Pairwise Conditional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0A5E3-9C01-B996-C33A-6D141AFB9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975236"/>
            <a:ext cx="8353425" cy="32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[Chakraborty-Fischer-Goldhirsh-Matsliah13, Canonne-Ron-Servedio14]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03DFB4-E4C2-F5E1-6106-40F97AF783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0975" y="1481194"/>
                <a:ext cx="11849100" cy="7373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Special (more realistic?) case of </a:t>
                </a:r>
                <a:r>
                  <a:rPr lang="en-US" i="1" dirty="0"/>
                  <a:t>conditional</a:t>
                </a:r>
                <a:r>
                  <a:rPr lang="en-US" dirty="0"/>
                  <a:t> queries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03DFB4-E4C2-F5E1-6106-40F97AF78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1481194"/>
                <a:ext cx="11849100" cy="737394"/>
              </a:xfrm>
              <a:prstGeom prst="rect">
                <a:avLst/>
              </a:prstGeom>
              <a:blipFill>
                <a:blip r:embed="rId2"/>
                <a:stretch>
                  <a:fillRect l="-1081" t="-14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CE2D1CE-4582-4C95-15E5-07CAABC7BA84}"/>
                  </a:ext>
                </a:extLst>
              </p:cNvPr>
              <p:cNvSpPr/>
              <p:nvPr/>
            </p:nvSpPr>
            <p:spPr>
              <a:xfrm>
                <a:off x="3467101" y="3858417"/>
                <a:ext cx="2533650" cy="176212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Con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CCE2D1CE-4582-4C95-15E5-07CAABC7BA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101" y="3858417"/>
                <a:ext cx="2533650" cy="176212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A01006-81E9-9CAE-5855-515D4F58C6B1}"/>
              </a:ext>
            </a:extLst>
          </p:cNvPr>
          <p:cNvCxnSpPr/>
          <p:nvPr/>
        </p:nvCxnSpPr>
        <p:spPr>
          <a:xfrm>
            <a:off x="1171578" y="4739479"/>
            <a:ext cx="217170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0F05AE-29D3-05B1-BA62-BCC48D17201A}"/>
                  </a:ext>
                </a:extLst>
              </p:cNvPr>
              <p:cNvSpPr txBox="1"/>
              <p:nvPr/>
            </p:nvSpPr>
            <p:spPr>
              <a:xfrm>
                <a:off x="1552577" y="4123192"/>
                <a:ext cx="15811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⊆[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0F05AE-29D3-05B1-BA62-BCC48D172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577" y="4123192"/>
                <a:ext cx="158115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CB028D-0218-E5AF-42B8-4D6F61C8A5E1}"/>
              </a:ext>
            </a:extLst>
          </p:cNvPr>
          <p:cNvCxnSpPr>
            <a:cxnSpLocks/>
          </p:cNvCxnSpPr>
          <p:nvPr/>
        </p:nvCxnSpPr>
        <p:spPr>
          <a:xfrm>
            <a:off x="6086475" y="4739479"/>
            <a:ext cx="1028700" cy="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530DC45-09E3-D80C-ABE2-96DFB692BEC2}"/>
                  </a:ext>
                </a:extLst>
              </p:cNvPr>
              <p:cNvSpPr txBox="1"/>
              <p:nvPr/>
            </p:nvSpPr>
            <p:spPr>
              <a:xfrm>
                <a:off x="5810249" y="4078883"/>
                <a:ext cx="158115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530DC45-09E3-D80C-ABE2-96DFB692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249" y="4078883"/>
                <a:ext cx="158115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3A2D9F-4E44-B10E-8FC5-B8E62B910599}"/>
                  </a:ext>
                </a:extLst>
              </p:cNvPr>
              <p:cNvSpPr txBox="1"/>
              <p:nvPr/>
            </p:nvSpPr>
            <p:spPr>
              <a:xfrm>
                <a:off x="7277100" y="3994823"/>
                <a:ext cx="4152900" cy="779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   </a:t>
                </a:r>
                <a:r>
                  <a:rPr lang="en-US" sz="2800" dirty="0" err="1"/>
                  <a:t>w.p.</a:t>
                </a:r>
                <a:r>
                  <a:rPr lang="en-US" sz="2800" dirty="0"/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3A2D9F-4E44-B10E-8FC5-B8E62B910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100" y="3994823"/>
                <a:ext cx="4152900" cy="779957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6016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A09DC-EFDB-E290-4C91-84F7B2FB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DC18-6EA5-563F-B0C2-95D446859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5"/>
            <a:ext cx="10515600" cy="1325563"/>
          </a:xfrm>
        </p:spPr>
        <p:txBody>
          <a:bodyPr/>
          <a:lstStyle/>
          <a:p>
            <a:r>
              <a:rPr lang="en-US" dirty="0"/>
              <a:t>Pairwise Conditional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30D1C-BF75-B9D4-260A-E1FF42A22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975236"/>
            <a:ext cx="8353425" cy="32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[Chakraborty-Fischer-Goldhirsh-Matsliah13, Canonne-Ron-Servedio14]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02345EE-10CB-3557-4ADB-33DD87BEE4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0975" y="1481194"/>
                <a:ext cx="11849100" cy="73739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Special (more realistic?) case of </a:t>
                </a:r>
                <a:r>
                  <a:rPr lang="en-US" i="1" dirty="0"/>
                  <a:t>conditional</a:t>
                </a:r>
                <a:r>
                  <a:rPr lang="en-US" dirty="0"/>
                  <a:t> queries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02345EE-10CB-3557-4ADB-33DD87BEE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1481194"/>
                <a:ext cx="11849100" cy="737394"/>
              </a:xfrm>
              <a:prstGeom prst="rect">
                <a:avLst/>
              </a:prstGeom>
              <a:blipFill>
                <a:blip r:embed="rId2"/>
                <a:stretch>
                  <a:fillRect l="-1081" t="-14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Professions, Different jobs, Career Selection, Occupation word cloud  concept on white background Stock Photo - Alamy">
            <a:extLst>
              <a:ext uri="{FF2B5EF4-FFF2-40B4-BE49-F238E27FC236}">
                <a16:creationId xmlns:a16="http://schemas.microsoft.com/office/drawing/2014/main" id="{336267F2-72DF-21E3-3F2B-9B57D087D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35" y="1946441"/>
            <a:ext cx="6522030" cy="51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41100B-C915-C352-7FF0-6B21C38B788F}"/>
              </a:ext>
            </a:extLst>
          </p:cNvPr>
          <p:cNvSpPr/>
          <p:nvPr/>
        </p:nvSpPr>
        <p:spPr>
          <a:xfrm>
            <a:off x="0" y="6334125"/>
            <a:ext cx="7124700" cy="8539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41132-B2A9-633F-5524-3EE25FF4094C}"/>
              </a:ext>
            </a:extLst>
          </p:cNvPr>
          <p:cNvSpPr/>
          <p:nvPr/>
        </p:nvSpPr>
        <p:spPr>
          <a:xfrm>
            <a:off x="1019175" y="2502204"/>
            <a:ext cx="3467100" cy="8539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39820C-3909-C0E1-AB94-0DD8D916094C}"/>
              </a:ext>
            </a:extLst>
          </p:cNvPr>
          <p:cNvSpPr/>
          <p:nvPr/>
        </p:nvSpPr>
        <p:spPr>
          <a:xfrm>
            <a:off x="2495550" y="2126967"/>
            <a:ext cx="514350" cy="13749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F49412-6927-848C-9083-5566595B2A50}"/>
              </a:ext>
            </a:extLst>
          </p:cNvPr>
          <p:cNvSpPr txBox="1"/>
          <p:nvPr/>
        </p:nvSpPr>
        <p:spPr>
          <a:xfrm>
            <a:off x="7541205" y="2201956"/>
            <a:ext cx="404812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u="sng" dirty="0"/>
              <a:t>To draw random samples:</a:t>
            </a:r>
          </a:p>
          <a:p>
            <a:r>
              <a:rPr lang="en-US" sz="2600" dirty="0"/>
              <a:t>Survey everyone and ask for their occupation</a:t>
            </a:r>
          </a:p>
          <a:p>
            <a:endParaRPr lang="en-US" sz="2600" dirty="0"/>
          </a:p>
          <a:p>
            <a:r>
              <a:rPr lang="en-US" sz="2600" u="sng" dirty="0"/>
              <a:t>To draw pairwise conditional samples:</a:t>
            </a:r>
          </a:p>
          <a:p>
            <a:r>
              <a:rPr lang="en-US" sz="2600" dirty="0"/>
              <a:t>Target survey to, e.g., “nurses or firefighters”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369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FEB8-D94E-E1C9-753D-675929A7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BFB3ACC-F31A-5955-DB12-44E08118478F}"/>
              </a:ext>
            </a:extLst>
          </p:cNvPr>
          <p:cNvSpPr/>
          <p:nvPr/>
        </p:nvSpPr>
        <p:spPr>
          <a:xfrm>
            <a:off x="180975" y="959481"/>
            <a:ext cx="11755442" cy="745457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DF0AA9-BE67-3D98-1B08-5C28A31375B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dirty="0"/>
                  <a:t> Can Be Powerful!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DF0AA9-BE67-3D98-1B08-5C28A3137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0BC97E1-1168-7714-BCBA-00C52684C45B}"/>
              </a:ext>
            </a:extLst>
          </p:cNvPr>
          <p:cNvSpPr txBox="1"/>
          <p:nvPr/>
        </p:nvSpPr>
        <p:spPr>
          <a:xfrm>
            <a:off x="180975" y="1097596"/>
            <a:ext cx="98679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u="sng" dirty="0"/>
              <a:t>Warmup:</a:t>
            </a:r>
            <a:r>
              <a:rPr lang="en-US" sz="2600" dirty="0"/>
              <a:t> Can </a:t>
            </a:r>
            <a:r>
              <a:rPr lang="en-US" sz="2600" i="1" dirty="0"/>
              <a:t>compare</a:t>
            </a:r>
            <a:r>
              <a:rPr lang="en-US" sz="2600" dirty="0"/>
              <a:t> the probability mass on two arbitrary points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15241A-DCDD-D47A-ECE9-5CFEF17BBBCC}"/>
              </a:ext>
            </a:extLst>
          </p:cNvPr>
          <p:cNvSpPr/>
          <p:nvPr/>
        </p:nvSpPr>
        <p:spPr>
          <a:xfrm>
            <a:off x="1390649" y="1857375"/>
            <a:ext cx="1409700" cy="4218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E090245-EFBB-6949-3982-5B9F5487E6D5}"/>
              </a:ext>
            </a:extLst>
          </p:cNvPr>
          <p:cNvSpPr/>
          <p:nvPr/>
        </p:nvSpPr>
        <p:spPr>
          <a:xfrm>
            <a:off x="2962274" y="4238625"/>
            <a:ext cx="1409700" cy="18372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425168-7F0D-2307-C9E3-0E7C62D1E6C7}"/>
                  </a:ext>
                </a:extLst>
              </p:cNvPr>
              <p:cNvSpPr txBox="1"/>
              <p:nvPr/>
            </p:nvSpPr>
            <p:spPr>
              <a:xfrm>
                <a:off x="1747836" y="6075876"/>
                <a:ext cx="695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5425168-7F0D-2307-C9E3-0E7C62D1E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836" y="6075876"/>
                <a:ext cx="69532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4AE97C-8B9C-B0BD-972F-71B207F16370}"/>
                  </a:ext>
                </a:extLst>
              </p:cNvPr>
              <p:cNvSpPr txBox="1"/>
              <p:nvPr/>
            </p:nvSpPr>
            <p:spPr>
              <a:xfrm>
                <a:off x="3319461" y="6075876"/>
                <a:ext cx="695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4AE97C-8B9C-B0BD-972F-71B207F16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461" y="6075876"/>
                <a:ext cx="695325" cy="461665"/>
              </a:xfrm>
              <a:prstGeom prst="rect">
                <a:avLst/>
              </a:prstGeom>
              <a:blipFill>
                <a:blip r:embed="rId4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F9892E-08FB-477E-4DFB-AE91A77167C9}"/>
                  </a:ext>
                </a:extLst>
              </p:cNvPr>
              <p:cNvSpPr txBox="1"/>
              <p:nvPr/>
            </p:nvSpPr>
            <p:spPr>
              <a:xfrm>
                <a:off x="4891086" y="1933575"/>
                <a:ext cx="7091364" cy="4247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Using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𝑃𝐶𝑂𝑁</m:t>
                    </m:r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queries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800" dirty="0"/>
                  <a:t>, can output either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 1. An </a:t>
                </a:r>
                <a:r>
                  <a:rPr lang="en-US" sz="2800" b="0" dirty="0"/>
                  <a:t>estimate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US" sz="2800" b="0" dirty="0"/>
                  <a:t>  to within multiplicative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0" dirty="0"/>
                  <a:t>, or</a:t>
                </a:r>
              </a:p>
              <a:p>
                <a:endParaRPr lang="en-US" sz="2800" b="0" dirty="0"/>
              </a:p>
              <a:p>
                <a:r>
                  <a:rPr lang="en-US" sz="2800" dirty="0"/>
                  <a:t>2. Signal that either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800" b="0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US" sz="2800" b="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400" b="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F9892E-08FB-477E-4DFB-AE91A7716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086" y="1933575"/>
                <a:ext cx="7091364" cy="4247060"/>
              </a:xfrm>
              <a:prstGeom prst="rect">
                <a:avLst/>
              </a:prstGeom>
              <a:blipFill>
                <a:blip r:embed="rId5"/>
                <a:stretch>
                  <a:fillRect l="-1718" r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8A3322FB-38A7-8054-110E-9EC959591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4950" y="129797"/>
            <a:ext cx="3143250" cy="32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[Canonne-Ron-Servedio14]</a:t>
            </a:r>
          </a:p>
        </p:txBody>
      </p:sp>
    </p:spTree>
    <p:extLst>
      <p:ext uri="{BB962C8B-B14F-4D97-AF65-F5344CB8AC3E}">
        <p14:creationId xmlns:p14="http://schemas.microsoft.com/office/powerpoint/2010/main" val="75056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6E35-480D-9C56-AF80-A9456645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16F2809-CC92-2E12-8715-DD1E04BD4742}"/>
              </a:ext>
            </a:extLst>
          </p:cNvPr>
          <p:cNvSpPr/>
          <p:nvPr/>
        </p:nvSpPr>
        <p:spPr>
          <a:xfrm>
            <a:off x="180975" y="959481"/>
            <a:ext cx="11755442" cy="745457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5C8A1C-6092-2B6D-F6CB-904F131756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dirty="0"/>
                  <a:t> Can Be Powerful!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F5C8A1C-6092-2B6D-F6CB-904F131756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565463-EFD6-0968-E6EF-DCE2F9EE4406}"/>
                  </a:ext>
                </a:extLst>
              </p:cNvPr>
              <p:cNvSpPr txBox="1"/>
              <p:nvPr/>
            </p:nvSpPr>
            <p:spPr>
              <a:xfrm>
                <a:off x="180975" y="1097596"/>
                <a:ext cx="1136116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u="sng" dirty="0"/>
                  <a:t>Theorem:</a:t>
                </a:r>
                <a:r>
                  <a:rPr lang="en-US" sz="2600" dirty="0"/>
                  <a:t> Can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600" dirty="0"/>
                  <a:t>-test uniformity using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(1/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600" dirty="0"/>
                  <a:t> queries + samples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565463-EFD6-0968-E6EF-DCE2F9EE4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1097596"/>
                <a:ext cx="11361168" cy="492443"/>
              </a:xfrm>
              <a:prstGeom prst="rect">
                <a:avLst/>
              </a:prstGeom>
              <a:blipFill>
                <a:blip r:embed="rId3"/>
                <a:stretch>
                  <a:fillRect l="-966" t="-9877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CAD031-5ED6-9255-47F3-A54346CF7B26}"/>
                  </a:ext>
                </a:extLst>
              </p:cNvPr>
              <p:cNvSpPr txBox="1"/>
              <p:nvPr/>
            </p:nvSpPr>
            <p:spPr>
              <a:xfrm>
                <a:off x="5438775" y="1693764"/>
                <a:ext cx="7239000" cy="75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cf. testing, and even verifying, uniformity with just samples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samples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CAD031-5ED6-9255-47F3-A54346CF7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775" y="1693764"/>
                <a:ext cx="7239000" cy="751168"/>
              </a:xfrm>
              <a:prstGeom prst="rect">
                <a:avLst/>
              </a:prstGeom>
              <a:blipFill>
                <a:blip r:embed="rId4"/>
                <a:stretch>
                  <a:fillRect l="-842" t="-4878"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95E48A-F8C7-B801-DECF-47CF4EE49973}"/>
                  </a:ext>
                </a:extLst>
              </p:cNvPr>
              <p:cNvSpPr txBox="1"/>
              <p:nvPr/>
            </p:nvSpPr>
            <p:spPr>
              <a:xfrm>
                <a:off x="180975" y="2598003"/>
                <a:ext cx="7848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Idea: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far from uniform, it must have lots of mass on “heavy” elements and lots of “light” elements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95E48A-F8C7-B801-DECF-47CF4EE49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2598003"/>
                <a:ext cx="7848600" cy="830997"/>
              </a:xfrm>
              <a:prstGeom prst="rect">
                <a:avLst/>
              </a:prstGeom>
              <a:blipFill>
                <a:blip r:embed="rId5"/>
                <a:stretch>
                  <a:fillRect l="-1243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E7FE7F-E059-B0B2-10EA-D4C3709F34F5}"/>
              </a:ext>
            </a:extLst>
          </p:cNvPr>
          <p:cNvCxnSpPr>
            <a:cxnSpLocks/>
          </p:cNvCxnSpPr>
          <p:nvPr/>
        </p:nvCxnSpPr>
        <p:spPr>
          <a:xfrm flipV="1">
            <a:off x="504825" y="5915022"/>
            <a:ext cx="6781800" cy="19053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BEFA14-8B45-DA09-02C6-8389ACE5EB48}"/>
                  </a:ext>
                </a:extLst>
              </p:cNvPr>
              <p:cNvSpPr txBox="1"/>
              <p:nvPr/>
            </p:nvSpPr>
            <p:spPr>
              <a:xfrm>
                <a:off x="3276600" y="6070655"/>
                <a:ext cx="737831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BEFA14-8B45-DA09-02C6-8389ACE5E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6070655"/>
                <a:ext cx="73783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565035C0-3704-4F24-CB06-A9015CA2546B}"/>
              </a:ext>
            </a:extLst>
          </p:cNvPr>
          <p:cNvSpPr/>
          <p:nvPr/>
        </p:nvSpPr>
        <p:spPr>
          <a:xfrm>
            <a:off x="504825" y="4387619"/>
            <a:ext cx="695325" cy="1546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E2259C-33B6-EA06-8914-90ADAA526F18}"/>
              </a:ext>
            </a:extLst>
          </p:cNvPr>
          <p:cNvSpPr/>
          <p:nvPr/>
        </p:nvSpPr>
        <p:spPr>
          <a:xfrm>
            <a:off x="2705100" y="4999082"/>
            <a:ext cx="695325" cy="9349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96A0D1-4137-BBF8-A26F-CC1822FBA2B0}"/>
              </a:ext>
            </a:extLst>
          </p:cNvPr>
          <p:cNvSpPr/>
          <p:nvPr/>
        </p:nvSpPr>
        <p:spPr>
          <a:xfrm>
            <a:off x="5619752" y="4999082"/>
            <a:ext cx="695325" cy="9159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55F8CD-8E3F-5A92-D9AF-10A82F71836F}"/>
              </a:ext>
            </a:extLst>
          </p:cNvPr>
          <p:cNvSpPr/>
          <p:nvPr/>
        </p:nvSpPr>
        <p:spPr>
          <a:xfrm>
            <a:off x="3448049" y="4095114"/>
            <a:ext cx="695325" cy="1838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E0FCC1-351E-7945-F443-28507D614155}"/>
              </a:ext>
            </a:extLst>
          </p:cNvPr>
          <p:cNvSpPr/>
          <p:nvPr/>
        </p:nvSpPr>
        <p:spPr>
          <a:xfrm>
            <a:off x="1971675" y="5219717"/>
            <a:ext cx="695325" cy="704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156645-CC71-1BB0-EAD4-3D36F40EDC53}"/>
              </a:ext>
            </a:extLst>
          </p:cNvPr>
          <p:cNvSpPr/>
          <p:nvPr/>
        </p:nvSpPr>
        <p:spPr>
          <a:xfrm>
            <a:off x="4171950" y="5495930"/>
            <a:ext cx="695325" cy="419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6AE6E2-6CA8-D5B8-5226-9AA771260A5D}"/>
              </a:ext>
            </a:extLst>
          </p:cNvPr>
          <p:cNvSpPr/>
          <p:nvPr/>
        </p:nvSpPr>
        <p:spPr>
          <a:xfrm>
            <a:off x="4895851" y="5715003"/>
            <a:ext cx="695325" cy="209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9DDA69-C172-1599-0DD8-543481EF8988}"/>
              </a:ext>
            </a:extLst>
          </p:cNvPr>
          <p:cNvSpPr/>
          <p:nvPr/>
        </p:nvSpPr>
        <p:spPr>
          <a:xfrm>
            <a:off x="6343653" y="5230769"/>
            <a:ext cx="695325" cy="6937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16DF4-33FD-C83F-62A8-C5408FC7B0A6}"/>
              </a:ext>
            </a:extLst>
          </p:cNvPr>
          <p:cNvSpPr/>
          <p:nvPr/>
        </p:nvSpPr>
        <p:spPr>
          <a:xfrm>
            <a:off x="1238250" y="5686426"/>
            <a:ext cx="695325" cy="238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BCBC947-5654-8F3A-8A5C-E420057DA354}"/>
              </a:ext>
            </a:extLst>
          </p:cNvPr>
          <p:cNvCxnSpPr>
            <a:cxnSpLocks/>
          </p:cNvCxnSpPr>
          <p:nvPr/>
        </p:nvCxnSpPr>
        <p:spPr>
          <a:xfrm flipV="1">
            <a:off x="504825" y="5105399"/>
            <a:ext cx="6781800" cy="19053"/>
          </a:xfrm>
          <a:prstGeom prst="line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9E51EF-4907-C963-3381-59A3AB09D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4950" y="129797"/>
            <a:ext cx="3143250" cy="32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[Canonne-Ron-Servedio14]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50419F-74A1-509B-DF87-9A1B38DBF9A5}"/>
                  </a:ext>
                </a:extLst>
              </p:cNvPr>
              <p:cNvSpPr txBox="1"/>
              <p:nvPr/>
            </p:nvSpPr>
            <p:spPr>
              <a:xfrm>
                <a:off x="-228604" y="4960976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C50419F-74A1-509B-DF87-9A1B38DBF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604" y="4960976"/>
                <a:ext cx="99060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886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D2D8-AB52-BEA2-D07F-0C5E463FC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79AD7A6-FE6B-B66C-CA9B-F5B0DE79697F}"/>
              </a:ext>
            </a:extLst>
          </p:cNvPr>
          <p:cNvSpPr/>
          <p:nvPr/>
        </p:nvSpPr>
        <p:spPr>
          <a:xfrm>
            <a:off x="180975" y="959481"/>
            <a:ext cx="11755442" cy="745457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B66A74-2E0D-07D5-287E-FD4708344C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dirty="0"/>
                  <a:t> Can Be Powerful!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B66A74-2E0D-07D5-287E-FD4708344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D876B1-8965-ABAC-F42D-0516899FF865}"/>
                  </a:ext>
                </a:extLst>
              </p:cNvPr>
              <p:cNvSpPr txBox="1"/>
              <p:nvPr/>
            </p:nvSpPr>
            <p:spPr>
              <a:xfrm>
                <a:off x="180975" y="1097596"/>
                <a:ext cx="1136116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u="sng" dirty="0"/>
                  <a:t>Theorem:</a:t>
                </a:r>
                <a:r>
                  <a:rPr lang="en-US" sz="2600" dirty="0"/>
                  <a:t> Can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600" dirty="0"/>
                  <a:t>-test uniformity using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(1/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600" dirty="0"/>
                  <a:t> queries + samples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D876B1-8965-ABAC-F42D-0516899FF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1097596"/>
                <a:ext cx="11361168" cy="492443"/>
              </a:xfrm>
              <a:prstGeom prst="rect">
                <a:avLst/>
              </a:prstGeom>
              <a:blipFill>
                <a:blip r:embed="rId3"/>
                <a:stretch>
                  <a:fillRect l="-966" t="-9877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91A920-779E-592B-863B-9FA003375C76}"/>
                  </a:ext>
                </a:extLst>
              </p:cNvPr>
              <p:cNvSpPr txBox="1"/>
              <p:nvPr/>
            </p:nvSpPr>
            <p:spPr>
              <a:xfrm>
                <a:off x="5438775" y="1693764"/>
                <a:ext cx="7239000" cy="75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cf. testing, and even verifying, uniformity with just samples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samples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91A920-779E-592B-863B-9FA003375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775" y="1693764"/>
                <a:ext cx="7239000" cy="751168"/>
              </a:xfrm>
              <a:prstGeom prst="rect">
                <a:avLst/>
              </a:prstGeom>
              <a:blipFill>
                <a:blip r:embed="rId4"/>
                <a:stretch>
                  <a:fillRect l="-842" t="-4878"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A96CC5-ACC8-3FB6-675E-34FB1A7E32C1}"/>
                  </a:ext>
                </a:extLst>
              </p:cNvPr>
              <p:cNvSpPr txBox="1"/>
              <p:nvPr/>
            </p:nvSpPr>
            <p:spPr>
              <a:xfrm>
                <a:off x="180975" y="2598003"/>
                <a:ext cx="7848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Idea: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far from uniform, it must have lots of mass on “heavy” elements and lots of “light” elements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A96CC5-ACC8-3FB6-675E-34FB1A7E3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2598003"/>
                <a:ext cx="7848600" cy="830997"/>
              </a:xfrm>
              <a:prstGeom prst="rect">
                <a:avLst/>
              </a:prstGeom>
              <a:blipFill>
                <a:blip r:embed="rId5"/>
                <a:stretch>
                  <a:fillRect l="-1243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0F90FC-1ADF-A325-A206-980ABA71C6F6}"/>
              </a:ext>
            </a:extLst>
          </p:cNvPr>
          <p:cNvCxnSpPr>
            <a:cxnSpLocks/>
          </p:cNvCxnSpPr>
          <p:nvPr/>
        </p:nvCxnSpPr>
        <p:spPr>
          <a:xfrm flipV="1">
            <a:off x="504825" y="5915022"/>
            <a:ext cx="6781800" cy="19053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40C3E6-0B60-2095-CE46-FF919007C1BA}"/>
                  </a:ext>
                </a:extLst>
              </p:cNvPr>
              <p:cNvSpPr txBox="1"/>
              <p:nvPr/>
            </p:nvSpPr>
            <p:spPr>
              <a:xfrm>
                <a:off x="3276600" y="6070655"/>
                <a:ext cx="737831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40C3E6-0B60-2095-CE46-FF919007C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6070655"/>
                <a:ext cx="73783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8096D22F-4FA0-DC9A-C76E-4BB2FA4EE3BC}"/>
              </a:ext>
            </a:extLst>
          </p:cNvPr>
          <p:cNvSpPr/>
          <p:nvPr/>
        </p:nvSpPr>
        <p:spPr>
          <a:xfrm>
            <a:off x="504825" y="4387619"/>
            <a:ext cx="695325" cy="1546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ABC81-A086-CF4B-BD40-3F1C51E2B8E6}"/>
              </a:ext>
            </a:extLst>
          </p:cNvPr>
          <p:cNvSpPr/>
          <p:nvPr/>
        </p:nvSpPr>
        <p:spPr>
          <a:xfrm>
            <a:off x="2705100" y="4999082"/>
            <a:ext cx="695325" cy="9349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AA309E-3FCD-F7DD-5D2D-67DEE8592EB4}"/>
              </a:ext>
            </a:extLst>
          </p:cNvPr>
          <p:cNvSpPr/>
          <p:nvPr/>
        </p:nvSpPr>
        <p:spPr>
          <a:xfrm>
            <a:off x="5619752" y="4999082"/>
            <a:ext cx="695325" cy="9159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255710-6D0A-A12D-C867-7796FD37C480}"/>
              </a:ext>
            </a:extLst>
          </p:cNvPr>
          <p:cNvSpPr/>
          <p:nvPr/>
        </p:nvSpPr>
        <p:spPr>
          <a:xfrm>
            <a:off x="3448049" y="4095114"/>
            <a:ext cx="695325" cy="1838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6E5CB9-E615-60E3-333D-5F0D55B08FEB}"/>
              </a:ext>
            </a:extLst>
          </p:cNvPr>
          <p:cNvSpPr/>
          <p:nvPr/>
        </p:nvSpPr>
        <p:spPr>
          <a:xfrm>
            <a:off x="1971675" y="5219717"/>
            <a:ext cx="695325" cy="704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534A50-DFFB-6FD4-EB1E-56C542D74D16}"/>
              </a:ext>
            </a:extLst>
          </p:cNvPr>
          <p:cNvSpPr/>
          <p:nvPr/>
        </p:nvSpPr>
        <p:spPr>
          <a:xfrm>
            <a:off x="4171950" y="5495930"/>
            <a:ext cx="695325" cy="419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EAB86B-4D4F-843D-3FB0-857C1E62EFC3}"/>
              </a:ext>
            </a:extLst>
          </p:cNvPr>
          <p:cNvSpPr/>
          <p:nvPr/>
        </p:nvSpPr>
        <p:spPr>
          <a:xfrm>
            <a:off x="4895851" y="5715003"/>
            <a:ext cx="695325" cy="209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5F493A-BF1F-B683-A644-4540B9ECC236}"/>
              </a:ext>
            </a:extLst>
          </p:cNvPr>
          <p:cNvSpPr/>
          <p:nvPr/>
        </p:nvSpPr>
        <p:spPr>
          <a:xfrm>
            <a:off x="6343653" y="5230769"/>
            <a:ext cx="695325" cy="6937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538BBC-92F9-9B4E-9E18-30C238B91AAD}"/>
              </a:ext>
            </a:extLst>
          </p:cNvPr>
          <p:cNvSpPr/>
          <p:nvPr/>
        </p:nvSpPr>
        <p:spPr>
          <a:xfrm>
            <a:off x="1238250" y="5686426"/>
            <a:ext cx="695325" cy="238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6F6BEF-3117-03AD-C549-714F963169B2}"/>
              </a:ext>
            </a:extLst>
          </p:cNvPr>
          <p:cNvCxnSpPr>
            <a:cxnSpLocks/>
          </p:cNvCxnSpPr>
          <p:nvPr/>
        </p:nvCxnSpPr>
        <p:spPr>
          <a:xfrm flipV="1">
            <a:off x="504825" y="5105399"/>
            <a:ext cx="6781800" cy="19053"/>
          </a:xfrm>
          <a:prstGeom prst="line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31ADF44-DB78-8853-33AA-0EC421998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4950" y="129797"/>
            <a:ext cx="3143250" cy="32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[Canonne-Ron-Servedio14]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3EC1E7-574A-0BE9-1317-0F2EFCEF9163}"/>
                  </a:ext>
                </a:extLst>
              </p:cNvPr>
              <p:cNvSpPr txBox="1"/>
              <p:nvPr/>
            </p:nvSpPr>
            <p:spPr>
              <a:xfrm>
                <a:off x="-228604" y="4960976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3EC1E7-574A-0BE9-1317-0F2EFCEF9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604" y="4960976"/>
                <a:ext cx="99060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C707D5-A190-1881-5140-AD6BC770D3DF}"/>
                  </a:ext>
                </a:extLst>
              </p:cNvPr>
              <p:cNvSpPr txBox="1"/>
              <p:nvPr/>
            </p:nvSpPr>
            <p:spPr>
              <a:xfrm>
                <a:off x="7367587" y="3212180"/>
                <a:ext cx="5210176" cy="1014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400" dirty="0">
                    <a:solidFill>
                      <a:srgbClr val="7030A0"/>
                    </a:solidFill>
                  </a:rPr>
                  <a:t>Draw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samples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r>
                  <a:rPr lang="en-US" sz="2400" dirty="0">
                    <a:solidFill>
                      <a:srgbClr val="7030A0"/>
                    </a:solidFill>
                  </a:rPr>
                  <a:t>        Whp, at least one is “heavy”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C707D5-A190-1881-5140-AD6BC770D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87" y="3212180"/>
                <a:ext cx="5210176" cy="1014380"/>
              </a:xfrm>
              <a:prstGeom prst="rect">
                <a:avLst/>
              </a:prstGeom>
              <a:blipFill>
                <a:blip r:embed="rId8"/>
                <a:stretch>
                  <a:fillRect l="-1874" b="-13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EB6121A7-21C7-89EB-D602-01127643F803}"/>
              </a:ext>
            </a:extLst>
          </p:cNvPr>
          <p:cNvSpPr/>
          <p:nvPr/>
        </p:nvSpPr>
        <p:spPr>
          <a:xfrm>
            <a:off x="3592311" y="4622308"/>
            <a:ext cx="133655" cy="15003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09E6E4D-F4F5-7850-6359-AE79ABE422C9}"/>
              </a:ext>
            </a:extLst>
          </p:cNvPr>
          <p:cNvSpPr/>
          <p:nvPr/>
        </p:nvSpPr>
        <p:spPr>
          <a:xfrm>
            <a:off x="6045693" y="5422095"/>
            <a:ext cx="133655" cy="15003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8076BEC-102A-6311-EF6E-C8F8D5493992}"/>
              </a:ext>
            </a:extLst>
          </p:cNvPr>
          <p:cNvSpPr/>
          <p:nvPr/>
        </p:nvSpPr>
        <p:spPr>
          <a:xfrm>
            <a:off x="4290708" y="5676289"/>
            <a:ext cx="133655" cy="15003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28F2615-4B55-6B8B-4B4D-62F1458ED073}"/>
              </a:ext>
            </a:extLst>
          </p:cNvPr>
          <p:cNvSpPr/>
          <p:nvPr/>
        </p:nvSpPr>
        <p:spPr>
          <a:xfrm>
            <a:off x="2045190" y="5393510"/>
            <a:ext cx="133655" cy="15003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61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7EC2-589A-041E-D34A-5F261CB8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D1088B8-04EE-06C4-4533-5A67BB6E195F}"/>
              </a:ext>
            </a:extLst>
          </p:cNvPr>
          <p:cNvSpPr/>
          <p:nvPr/>
        </p:nvSpPr>
        <p:spPr>
          <a:xfrm>
            <a:off x="180975" y="959481"/>
            <a:ext cx="11755442" cy="745457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B69640-1944-256A-4C94-06778A5D6EB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dirty="0"/>
                  <a:t> Can Be Powerful!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B69640-1944-256A-4C94-06778A5D6E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43809B-9B10-6124-0713-ABA37381A935}"/>
                  </a:ext>
                </a:extLst>
              </p:cNvPr>
              <p:cNvSpPr txBox="1"/>
              <p:nvPr/>
            </p:nvSpPr>
            <p:spPr>
              <a:xfrm>
                <a:off x="180975" y="1097596"/>
                <a:ext cx="1136116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u="sng" dirty="0"/>
                  <a:t>Theorem:</a:t>
                </a:r>
                <a:r>
                  <a:rPr lang="en-US" sz="2600" dirty="0"/>
                  <a:t> Can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600" dirty="0"/>
                  <a:t>-test uniformity using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(1/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600" dirty="0"/>
                  <a:t> queries + samples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F43809B-9B10-6124-0713-ABA37381A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1097596"/>
                <a:ext cx="11361168" cy="492443"/>
              </a:xfrm>
              <a:prstGeom prst="rect">
                <a:avLst/>
              </a:prstGeom>
              <a:blipFill>
                <a:blip r:embed="rId3"/>
                <a:stretch>
                  <a:fillRect l="-966" t="-9877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16EC92-A94B-79C9-1E21-CD6CBB9466B1}"/>
                  </a:ext>
                </a:extLst>
              </p:cNvPr>
              <p:cNvSpPr txBox="1"/>
              <p:nvPr/>
            </p:nvSpPr>
            <p:spPr>
              <a:xfrm>
                <a:off x="5438775" y="1693764"/>
                <a:ext cx="7239000" cy="75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cf. testing, and even verifying, uniformity with just samples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samples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16EC92-A94B-79C9-1E21-CD6CBB946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775" y="1693764"/>
                <a:ext cx="7239000" cy="751168"/>
              </a:xfrm>
              <a:prstGeom prst="rect">
                <a:avLst/>
              </a:prstGeom>
              <a:blipFill>
                <a:blip r:embed="rId4"/>
                <a:stretch>
                  <a:fillRect l="-842" t="-4878"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BC40B-0B11-00E6-6AFD-8CEAB140D97D}"/>
                  </a:ext>
                </a:extLst>
              </p:cNvPr>
              <p:cNvSpPr txBox="1"/>
              <p:nvPr/>
            </p:nvSpPr>
            <p:spPr>
              <a:xfrm>
                <a:off x="180975" y="2598003"/>
                <a:ext cx="7848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Idea:</a:t>
                </a:r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far from uniform, it must have lots of mass on “heavy” elements and lots of “light” elements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BBC40B-0B11-00E6-6AFD-8CEAB140D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2598003"/>
                <a:ext cx="7848600" cy="830997"/>
              </a:xfrm>
              <a:prstGeom prst="rect">
                <a:avLst/>
              </a:prstGeom>
              <a:blipFill>
                <a:blip r:embed="rId5"/>
                <a:stretch>
                  <a:fillRect l="-1243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F7350D-069C-64F6-2A22-A412FFCF1A8B}"/>
              </a:ext>
            </a:extLst>
          </p:cNvPr>
          <p:cNvCxnSpPr>
            <a:cxnSpLocks/>
          </p:cNvCxnSpPr>
          <p:nvPr/>
        </p:nvCxnSpPr>
        <p:spPr>
          <a:xfrm flipV="1">
            <a:off x="504825" y="5915022"/>
            <a:ext cx="6781800" cy="19053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860DBB-15C1-9862-0F8D-517E546FD6A6}"/>
                  </a:ext>
                </a:extLst>
              </p:cNvPr>
              <p:cNvSpPr txBox="1"/>
              <p:nvPr/>
            </p:nvSpPr>
            <p:spPr>
              <a:xfrm>
                <a:off x="3276600" y="6070655"/>
                <a:ext cx="737831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860DBB-15C1-9862-0F8D-517E546FD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6070655"/>
                <a:ext cx="73783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884421D2-D0CA-F7B8-3DB3-82BC32A450D3}"/>
              </a:ext>
            </a:extLst>
          </p:cNvPr>
          <p:cNvSpPr/>
          <p:nvPr/>
        </p:nvSpPr>
        <p:spPr>
          <a:xfrm>
            <a:off x="504825" y="4387619"/>
            <a:ext cx="695325" cy="1546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126B67-285C-9A33-1F88-CF1C93484B56}"/>
              </a:ext>
            </a:extLst>
          </p:cNvPr>
          <p:cNvSpPr/>
          <p:nvPr/>
        </p:nvSpPr>
        <p:spPr>
          <a:xfrm>
            <a:off x="2705100" y="4999082"/>
            <a:ext cx="695325" cy="9349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556D3E-F0FC-218C-D778-2174E8163CDE}"/>
              </a:ext>
            </a:extLst>
          </p:cNvPr>
          <p:cNvSpPr/>
          <p:nvPr/>
        </p:nvSpPr>
        <p:spPr>
          <a:xfrm>
            <a:off x="5619752" y="4999082"/>
            <a:ext cx="695325" cy="9159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BB65EB-AC8A-FB92-DC28-8EAF92FB2C89}"/>
              </a:ext>
            </a:extLst>
          </p:cNvPr>
          <p:cNvSpPr/>
          <p:nvPr/>
        </p:nvSpPr>
        <p:spPr>
          <a:xfrm>
            <a:off x="3448049" y="4095114"/>
            <a:ext cx="695325" cy="18389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1B2FEB-1CDD-71D0-E53A-E9AA30016726}"/>
              </a:ext>
            </a:extLst>
          </p:cNvPr>
          <p:cNvSpPr/>
          <p:nvPr/>
        </p:nvSpPr>
        <p:spPr>
          <a:xfrm>
            <a:off x="1971675" y="5219717"/>
            <a:ext cx="695325" cy="704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A97390-3409-748A-8FFC-952600157C7F}"/>
              </a:ext>
            </a:extLst>
          </p:cNvPr>
          <p:cNvSpPr/>
          <p:nvPr/>
        </p:nvSpPr>
        <p:spPr>
          <a:xfrm>
            <a:off x="4171950" y="5495930"/>
            <a:ext cx="695325" cy="419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1504F9-BD89-991C-D846-22CB17900D47}"/>
              </a:ext>
            </a:extLst>
          </p:cNvPr>
          <p:cNvSpPr/>
          <p:nvPr/>
        </p:nvSpPr>
        <p:spPr>
          <a:xfrm>
            <a:off x="4895851" y="5715003"/>
            <a:ext cx="695325" cy="2095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9763C4-326B-BB73-79BC-5CE7B06CF39F}"/>
              </a:ext>
            </a:extLst>
          </p:cNvPr>
          <p:cNvSpPr/>
          <p:nvPr/>
        </p:nvSpPr>
        <p:spPr>
          <a:xfrm>
            <a:off x="6343653" y="5230769"/>
            <a:ext cx="695325" cy="6937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D7BE90-CA51-F0AE-D9E4-A54601293ED9}"/>
              </a:ext>
            </a:extLst>
          </p:cNvPr>
          <p:cNvSpPr/>
          <p:nvPr/>
        </p:nvSpPr>
        <p:spPr>
          <a:xfrm>
            <a:off x="1238250" y="5686426"/>
            <a:ext cx="695325" cy="238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FD8F71-691D-B92B-CB4D-AEC5FB72348A}"/>
              </a:ext>
            </a:extLst>
          </p:cNvPr>
          <p:cNvCxnSpPr>
            <a:cxnSpLocks/>
          </p:cNvCxnSpPr>
          <p:nvPr/>
        </p:nvCxnSpPr>
        <p:spPr>
          <a:xfrm flipV="1">
            <a:off x="504825" y="5105399"/>
            <a:ext cx="6781800" cy="19053"/>
          </a:xfrm>
          <a:prstGeom prst="line">
            <a:avLst/>
          </a:prstGeom>
          <a:ln w="2540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7A7CB1-53A0-EF16-64C5-12E1E20EC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4950" y="129797"/>
            <a:ext cx="3143250" cy="3231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[Canonne-Ron-Servedio14]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27D1663-309F-117E-0DCE-705678081364}"/>
                  </a:ext>
                </a:extLst>
              </p:cNvPr>
              <p:cNvSpPr txBox="1"/>
              <p:nvPr/>
            </p:nvSpPr>
            <p:spPr>
              <a:xfrm>
                <a:off x="-228604" y="4960976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1/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27D1663-309F-117E-0DCE-705678081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604" y="4960976"/>
                <a:ext cx="990600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C7DEE6-5B1A-5681-7F4D-2BA14C48C369}"/>
                  </a:ext>
                </a:extLst>
              </p:cNvPr>
              <p:cNvSpPr txBox="1"/>
              <p:nvPr/>
            </p:nvSpPr>
            <p:spPr>
              <a:xfrm>
                <a:off x="7367587" y="3212180"/>
                <a:ext cx="5210176" cy="2858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400" dirty="0">
                    <a:solidFill>
                      <a:srgbClr val="7030A0"/>
                    </a:solidFill>
                  </a:rPr>
                  <a:t>Draw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samples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r>
                  <a:rPr lang="en-US" sz="2400" dirty="0">
                    <a:solidFill>
                      <a:srgbClr val="7030A0"/>
                    </a:solidFill>
                  </a:rPr>
                  <a:t>        Whp, at least one is “heavy”</a:t>
                </a:r>
              </a:p>
              <a:p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2. Draw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samples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Uni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        Whp, at least one is “light” </a:t>
                </a:r>
              </a:p>
              <a:p>
                <a:r>
                  <a:rPr lang="en-US" sz="2400" dirty="0"/>
                  <a:t>3. Compare each pair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using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400" dirty="0"/>
                  <a:t> queries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C7DEE6-5B1A-5681-7F4D-2BA14C48C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87" y="3212180"/>
                <a:ext cx="5210176" cy="2858475"/>
              </a:xfrm>
              <a:prstGeom prst="rect">
                <a:avLst/>
              </a:prstGeom>
              <a:blipFill>
                <a:blip r:embed="rId8"/>
                <a:stretch>
                  <a:fillRect l="-1874" b="-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Oval 27">
            <a:extLst>
              <a:ext uri="{FF2B5EF4-FFF2-40B4-BE49-F238E27FC236}">
                <a16:creationId xmlns:a16="http://schemas.microsoft.com/office/drawing/2014/main" id="{D2637918-0CBC-DC66-E510-EFEDADB2B7B4}"/>
              </a:ext>
            </a:extLst>
          </p:cNvPr>
          <p:cNvSpPr/>
          <p:nvPr/>
        </p:nvSpPr>
        <p:spPr>
          <a:xfrm>
            <a:off x="3592311" y="4622308"/>
            <a:ext cx="133655" cy="15003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DF57864-7415-9661-08AD-66F201BE6B19}"/>
              </a:ext>
            </a:extLst>
          </p:cNvPr>
          <p:cNvSpPr/>
          <p:nvPr/>
        </p:nvSpPr>
        <p:spPr>
          <a:xfrm>
            <a:off x="6045693" y="5422095"/>
            <a:ext cx="133655" cy="15003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B0FF03-27D5-D7DA-0B72-B7C3A555D551}"/>
              </a:ext>
            </a:extLst>
          </p:cNvPr>
          <p:cNvSpPr/>
          <p:nvPr/>
        </p:nvSpPr>
        <p:spPr>
          <a:xfrm>
            <a:off x="4290708" y="5676289"/>
            <a:ext cx="133655" cy="15003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0B128FA-B918-8459-9AA4-B1224A992DA6}"/>
              </a:ext>
            </a:extLst>
          </p:cNvPr>
          <p:cNvSpPr/>
          <p:nvPr/>
        </p:nvSpPr>
        <p:spPr>
          <a:xfrm>
            <a:off x="2045190" y="5393510"/>
            <a:ext cx="133655" cy="15003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CAD874-DE6F-4522-5840-A7893094357C}"/>
              </a:ext>
            </a:extLst>
          </p:cNvPr>
          <p:cNvSpPr/>
          <p:nvPr/>
        </p:nvSpPr>
        <p:spPr>
          <a:xfrm>
            <a:off x="4972097" y="5214519"/>
            <a:ext cx="133655" cy="15003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9BD4289-B87B-1DC2-A7A3-D41C9762B1E0}"/>
              </a:ext>
            </a:extLst>
          </p:cNvPr>
          <p:cNvSpPr/>
          <p:nvPr/>
        </p:nvSpPr>
        <p:spPr>
          <a:xfrm>
            <a:off x="6862605" y="5324471"/>
            <a:ext cx="133655" cy="15003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1531693-95AA-F2F9-D176-3666175CAA87}"/>
              </a:ext>
            </a:extLst>
          </p:cNvPr>
          <p:cNvSpPr/>
          <p:nvPr/>
        </p:nvSpPr>
        <p:spPr>
          <a:xfrm>
            <a:off x="2764477" y="5655616"/>
            <a:ext cx="133655" cy="15003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E745049-18A2-1401-1827-0E46051840F5}"/>
              </a:ext>
            </a:extLst>
          </p:cNvPr>
          <p:cNvSpPr/>
          <p:nvPr/>
        </p:nvSpPr>
        <p:spPr>
          <a:xfrm>
            <a:off x="909641" y="5664979"/>
            <a:ext cx="133655" cy="15003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5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21F0-4ABE-66B8-41CA-744E668A5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16D1683-6EC0-58CF-07CB-1D082689393D}"/>
              </a:ext>
            </a:extLst>
          </p:cNvPr>
          <p:cNvSpPr/>
          <p:nvPr/>
        </p:nvSpPr>
        <p:spPr>
          <a:xfrm>
            <a:off x="7798777" y="5606142"/>
            <a:ext cx="4212249" cy="83988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566CE21-8EC9-5E47-D02A-F5013C1C1855}"/>
              </a:ext>
            </a:extLst>
          </p:cNvPr>
          <p:cNvSpPr/>
          <p:nvPr/>
        </p:nvSpPr>
        <p:spPr>
          <a:xfrm>
            <a:off x="180975" y="3988118"/>
            <a:ext cx="8943975" cy="83988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1B953D7-44B4-1D41-B923-BBA82294AA55}"/>
              </a:ext>
            </a:extLst>
          </p:cNvPr>
          <p:cNvSpPr/>
          <p:nvPr/>
        </p:nvSpPr>
        <p:spPr>
          <a:xfrm>
            <a:off x="142142" y="1912315"/>
            <a:ext cx="9045820" cy="989172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26E3F9-6DF2-85CC-C4BC-9BE3F93AFB1C}"/>
              </a:ext>
            </a:extLst>
          </p:cNvPr>
          <p:cNvSpPr/>
          <p:nvPr/>
        </p:nvSpPr>
        <p:spPr>
          <a:xfrm>
            <a:off x="180975" y="959481"/>
            <a:ext cx="10515600" cy="745457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1E45CD-12AE-2143-C4DE-2E456A97C00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dirty="0"/>
                  <a:t> Can Be Powerful!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1E45CD-12AE-2143-C4DE-2E456A97C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0975" y="1825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6EB2E3-1A18-5693-EA11-2BBFA7B9D887}"/>
                  </a:ext>
                </a:extLst>
              </p:cNvPr>
              <p:cNvSpPr txBox="1"/>
              <p:nvPr/>
            </p:nvSpPr>
            <p:spPr>
              <a:xfrm>
                <a:off x="180974" y="1097596"/>
                <a:ext cx="1080045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u="sng" dirty="0"/>
                  <a:t>Theorem:</a:t>
                </a:r>
                <a:r>
                  <a:rPr lang="en-US" sz="2600" dirty="0"/>
                  <a:t> Can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600" dirty="0"/>
                  <a:t>-test uniformity using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(1/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600" dirty="0"/>
                  <a:t> queries + samples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6EB2E3-1A18-5693-EA11-2BBFA7B9D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4" y="1097596"/>
                <a:ext cx="10800451" cy="492443"/>
              </a:xfrm>
              <a:prstGeom prst="rect">
                <a:avLst/>
              </a:prstGeom>
              <a:blipFill>
                <a:blip r:embed="rId3"/>
                <a:stretch>
                  <a:fillRect l="-1016" t="-9877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4DA035D-3414-F6D6-FE5C-3AB6B79A3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4950" y="648113"/>
            <a:ext cx="3143250" cy="3231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[Canonne-Ron-Servedio14]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203139-1A0F-F25E-9E24-97961041AC1F}"/>
                  </a:ext>
                </a:extLst>
              </p:cNvPr>
              <p:cNvSpPr txBox="1"/>
              <p:nvPr/>
            </p:nvSpPr>
            <p:spPr>
              <a:xfrm>
                <a:off x="180974" y="1924488"/>
                <a:ext cx="9867900" cy="9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u="sng" dirty="0"/>
                  <a:t>Theorem:</a:t>
                </a:r>
                <a:r>
                  <a:rPr lang="en-US" sz="2600" dirty="0"/>
                  <a:t> Can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600" dirty="0"/>
                  <a:t>-test identity, i.e., equivalence to any fixed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600" dirty="0"/>
                  <a:t>, using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ra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600" dirty="0"/>
                  <a:t> queries + samples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203139-1A0F-F25E-9E24-97961041A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4" y="1924488"/>
                <a:ext cx="9867900" cy="976999"/>
              </a:xfrm>
              <a:prstGeom prst="rect">
                <a:avLst/>
              </a:prstGeom>
              <a:blipFill>
                <a:blip r:embed="rId4"/>
                <a:stretch>
                  <a:fillRect l="-1112" t="-6250" b="-1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CC0249-ECBB-7438-B687-915B83D13962}"/>
              </a:ext>
            </a:extLst>
          </p:cNvPr>
          <p:cNvSpPr txBox="1">
            <a:spLocks/>
          </p:cNvSpPr>
          <p:nvPr/>
        </p:nvSpPr>
        <p:spPr>
          <a:xfrm>
            <a:off x="9226794" y="2105271"/>
            <a:ext cx="3840193" cy="1121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[Canonne-Ron-Servedio14, Narayanan21]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1E7386-305C-5B80-6E88-FB439989B494}"/>
                  </a:ext>
                </a:extLst>
              </p:cNvPr>
              <p:cNvSpPr txBox="1"/>
              <p:nvPr/>
            </p:nvSpPr>
            <p:spPr>
              <a:xfrm>
                <a:off x="5653729" y="2942789"/>
                <a:ext cx="7239000" cy="75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cf. testing, and even verifying, uniformity with just samples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samples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1E7386-305C-5B80-6E88-FB439989B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729" y="2942789"/>
                <a:ext cx="7239000" cy="751168"/>
              </a:xfrm>
              <a:prstGeom prst="rect">
                <a:avLst/>
              </a:prstGeom>
              <a:blipFill>
                <a:blip r:embed="rId5"/>
                <a:stretch>
                  <a:fillRect l="-842" t="-4878"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877870-9E03-0B17-0465-6D9DC437E0AE}"/>
                  </a:ext>
                </a:extLst>
              </p:cNvPr>
              <p:cNvSpPr txBox="1"/>
              <p:nvPr/>
            </p:nvSpPr>
            <p:spPr>
              <a:xfrm>
                <a:off x="180974" y="3981883"/>
                <a:ext cx="10144845" cy="2871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u="sng" dirty="0"/>
                  <a:t>Theorem:</a:t>
                </a:r>
                <a:r>
                  <a:rPr lang="en-US" sz="2600" dirty="0"/>
                  <a:t> Can estimate the mass in “neighborhood” of a point whenever it’s sufficiently large</a:t>
                </a:r>
              </a:p>
              <a:p>
                <a:r>
                  <a:rPr lang="en-US" sz="2800" dirty="0"/>
                  <a:t>i.e., 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800" dirty="0"/>
                  <a:t>, can estimate to within multiplicative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        using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 queries + samples </a:t>
                </a:r>
              </a:p>
              <a:p>
                <a:pPr marL="342900" indent="-342900">
                  <a:buAutoNum type="arabicParenR"/>
                </a:pPr>
                <a:endParaRPr lang="en-US" sz="2800" dirty="0"/>
              </a:p>
              <a:p>
                <a:r>
                  <a:rPr lang="en-US" sz="2800" dirty="0"/>
                  <a:t>where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1±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8877870-9E03-0B17-0465-6D9DC437E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4" y="3981883"/>
                <a:ext cx="10144845" cy="2871876"/>
              </a:xfrm>
              <a:prstGeom prst="rect">
                <a:avLst/>
              </a:prstGeom>
              <a:blipFill>
                <a:blip r:embed="rId6"/>
                <a:stretch>
                  <a:fillRect l="-1262" t="-1911" b="-5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DCA34D8-A50C-2820-C6A0-FDFD395277B0}"/>
              </a:ext>
            </a:extLst>
          </p:cNvPr>
          <p:cNvSpPr txBox="1">
            <a:spLocks/>
          </p:cNvSpPr>
          <p:nvPr/>
        </p:nvSpPr>
        <p:spPr>
          <a:xfrm>
            <a:off x="9124950" y="4148984"/>
            <a:ext cx="3143250" cy="3231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[Canonne-Ron-Servedio14]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E38B3D-F255-616D-596C-51AC3FEC1E2C}"/>
                  </a:ext>
                </a:extLst>
              </p:cNvPr>
              <p:cNvSpPr txBox="1"/>
              <p:nvPr/>
            </p:nvSpPr>
            <p:spPr>
              <a:xfrm>
                <a:off x="7901796" y="5606142"/>
                <a:ext cx="394227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>
                    <a:solidFill>
                      <a:srgbClr val="00B050"/>
                    </a:solidFill>
                  </a:rPr>
                  <a:t>This work: </a:t>
                </a:r>
                <a:r>
                  <a:rPr lang="en-US" sz="2400" dirty="0"/>
                  <a:t>Can also sample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E38B3D-F255-616D-596C-51AC3FEC1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796" y="5606142"/>
                <a:ext cx="3942272" cy="830997"/>
              </a:xfrm>
              <a:prstGeom prst="rect">
                <a:avLst/>
              </a:prstGeom>
              <a:blipFill>
                <a:blip r:embed="rId7"/>
                <a:stretch>
                  <a:fillRect l="-231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533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" grpId="0"/>
      <p:bldP spid="4" grpId="0"/>
      <p:bldP spid="7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16921-12B4-FFE3-9464-CFDD8E75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C86FB44-3042-F52F-784B-9216F8E5A260}"/>
              </a:ext>
            </a:extLst>
          </p:cNvPr>
          <p:cNvSpPr/>
          <p:nvPr/>
        </p:nvSpPr>
        <p:spPr>
          <a:xfrm>
            <a:off x="107560" y="998469"/>
            <a:ext cx="11331232" cy="103021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797D8-0BF0-18E7-C488-E426E13CF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5"/>
            <a:ext cx="10515600" cy="1325563"/>
          </a:xfrm>
        </p:spPr>
        <p:txBody>
          <a:bodyPr/>
          <a:lstStyle/>
          <a:p>
            <a:r>
              <a:rPr lang="en-US" dirty="0"/>
              <a:t>But Not </a:t>
            </a:r>
            <a:r>
              <a:rPr lang="en-US" i="1" dirty="0"/>
              <a:t>Too</a:t>
            </a:r>
            <a:r>
              <a:rPr lang="en-US" dirty="0"/>
              <a:t> Powerful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4FF55-763B-F72A-E4C8-F8D08220D7BB}"/>
                  </a:ext>
                </a:extLst>
              </p:cNvPr>
              <p:cNvSpPr txBox="1"/>
              <p:nvPr/>
            </p:nvSpPr>
            <p:spPr>
              <a:xfrm>
                <a:off x="180975" y="1097596"/>
                <a:ext cx="11602708" cy="907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u="sng" dirty="0">
                    <a:solidFill>
                      <a:srgbClr val="00B050"/>
                    </a:solidFill>
                  </a:rPr>
                  <a:t>This work:</a:t>
                </a:r>
                <a:r>
                  <a:rPr lang="en-US" sz="2600" dirty="0">
                    <a:solidFill>
                      <a:srgbClr val="00B050"/>
                    </a:solidFill>
                  </a:rPr>
                  <a:t> </a:t>
                </a:r>
                <a:r>
                  <a:rPr lang="en-US" sz="2600" dirty="0"/>
                  <a:t>There is a label-invariant property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600" dirty="0"/>
                  <a:t> which requires at least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1/8</m:t>
                        </m:r>
                      </m:sup>
                    </m:sSup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600" dirty="0"/>
                  <a:t> queries + samples to test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C4FF55-763B-F72A-E4C8-F8D08220D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1097596"/>
                <a:ext cx="11602708" cy="907493"/>
              </a:xfrm>
              <a:prstGeom prst="rect">
                <a:avLst/>
              </a:prstGeom>
              <a:blipFill>
                <a:blip r:embed="rId2"/>
                <a:stretch>
                  <a:fillRect l="-946" t="-4027" b="-16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0CE829-6994-DBB6-0E30-632ED33863B5}"/>
                  </a:ext>
                </a:extLst>
              </p:cNvPr>
              <p:cNvSpPr txBox="1"/>
              <p:nvPr/>
            </p:nvSpPr>
            <p:spPr>
              <a:xfrm>
                <a:off x="180975" y="2185176"/>
                <a:ext cx="7556739" cy="475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uniform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over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exactly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1/4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domain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elements</m:t>
                      </m:r>
                      <m:r>
                        <m:rPr>
                          <m:lit/>
                        </m:rP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30CE829-6994-DBB6-0E30-632ED3386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2185176"/>
                <a:ext cx="7556739" cy="475964"/>
              </a:xfrm>
              <a:prstGeom prst="rect">
                <a:avLst/>
              </a:prstGeom>
              <a:blipFill>
                <a:blip r:embed="rId3"/>
                <a:stretch>
                  <a:fillRect b="-15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27949B-F583-F7A6-7277-93E0A4162B30}"/>
              </a:ext>
            </a:extLst>
          </p:cNvPr>
          <p:cNvCxnSpPr>
            <a:cxnSpLocks/>
          </p:cNvCxnSpPr>
          <p:nvPr/>
        </p:nvCxnSpPr>
        <p:spPr>
          <a:xfrm>
            <a:off x="7703389" y="3460930"/>
            <a:ext cx="4373592" cy="5177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61CA96-0D38-46DA-2771-810B7CECBD0D}"/>
                  </a:ext>
                </a:extLst>
              </p:cNvPr>
              <p:cNvSpPr txBox="1"/>
              <p:nvPr/>
            </p:nvSpPr>
            <p:spPr>
              <a:xfrm>
                <a:off x="9553395" y="3468815"/>
                <a:ext cx="737831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61CA96-0D38-46DA-2771-810B7CECB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395" y="3468815"/>
                <a:ext cx="737831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97F1C695-E36E-6F56-2B7B-61520299310C}"/>
              </a:ext>
            </a:extLst>
          </p:cNvPr>
          <p:cNvSpPr/>
          <p:nvPr/>
        </p:nvSpPr>
        <p:spPr>
          <a:xfrm>
            <a:off x="8424305" y="2253424"/>
            <a:ext cx="184858" cy="11787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9F8B58-FEB7-DA11-29D0-11E7C198C84B}"/>
              </a:ext>
            </a:extLst>
          </p:cNvPr>
          <p:cNvSpPr/>
          <p:nvPr/>
        </p:nvSpPr>
        <p:spPr>
          <a:xfrm>
            <a:off x="9737203" y="2252873"/>
            <a:ext cx="184858" cy="11787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FB314D-3EC4-9041-C6B9-628690C6880D}"/>
              </a:ext>
            </a:extLst>
          </p:cNvPr>
          <p:cNvSpPr/>
          <p:nvPr/>
        </p:nvSpPr>
        <p:spPr>
          <a:xfrm>
            <a:off x="11755401" y="2252872"/>
            <a:ext cx="184858" cy="11787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2D4F7FE-7A5A-8814-8B6F-040A8794D7A1}"/>
                  </a:ext>
                </a:extLst>
              </p:cNvPr>
              <p:cNvSpPr txBox="1"/>
              <p:nvPr/>
            </p:nvSpPr>
            <p:spPr>
              <a:xfrm>
                <a:off x="107560" y="2949851"/>
                <a:ext cx="7703568" cy="3075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Proof idea:</a:t>
                </a:r>
                <a:r>
                  <a:rPr lang="en-US" dirty="0"/>
                  <a:t>   </a:t>
                </a:r>
                <a:r>
                  <a:rPr lang="en-US" sz="2400" dirty="0"/>
                  <a:t>Distributions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 are hard to distinguish from those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uniform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over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exactly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domain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elements</m:t>
                    </m:r>
                    <m:r>
                      <m:rPr>
                        <m:lit/>
                      </m:rP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since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1/8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samples is too few to get collisions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400" dirty="0"/>
                  <a:t> queries are only helpful when they involve points in the support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, but not in the sample…but these are hard to find!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2D4F7FE-7A5A-8814-8B6F-040A8794D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60" y="2949851"/>
                <a:ext cx="7703568" cy="3075073"/>
              </a:xfrm>
              <a:prstGeom prst="rect">
                <a:avLst/>
              </a:prstGeom>
              <a:blipFill>
                <a:blip r:embed="rId5"/>
                <a:stretch>
                  <a:fillRect l="-1267" t="-1587" r="-1425" b="-3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3585B16-2812-1A38-5F74-C9012DE9A692}"/>
              </a:ext>
            </a:extLst>
          </p:cNvPr>
          <p:cNvCxnSpPr>
            <a:cxnSpLocks/>
          </p:cNvCxnSpPr>
          <p:nvPr/>
        </p:nvCxnSpPr>
        <p:spPr>
          <a:xfrm>
            <a:off x="7729000" y="5648979"/>
            <a:ext cx="4373592" cy="5177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BE7F656-F11E-B7D2-3285-48934C6958F1}"/>
                  </a:ext>
                </a:extLst>
              </p:cNvPr>
              <p:cNvSpPr txBox="1"/>
              <p:nvPr/>
            </p:nvSpPr>
            <p:spPr>
              <a:xfrm>
                <a:off x="9579006" y="5656864"/>
                <a:ext cx="737831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BE7F656-F11E-B7D2-3285-48934C695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006" y="5656864"/>
                <a:ext cx="737831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4CBEDA8B-104A-E38A-A2BD-40F19BDCFADE}"/>
              </a:ext>
            </a:extLst>
          </p:cNvPr>
          <p:cNvSpPr/>
          <p:nvPr/>
        </p:nvSpPr>
        <p:spPr>
          <a:xfrm>
            <a:off x="8065698" y="4833948"/>
            <a:ext cx="159248" cy="7808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53450C-F9C6-7DCF-E385-AE4938B67019}"/>
              </a:ext>
            </a:extLst>
          </p:cNvPr>
          <p:cNvSpPr/>
          <p:nvPr/>
        </p:nvSpPr>
        <p:spPr>
          <a:xfrm>
            <a:off x="9762814" y="4838823"/>
            <a:ext cx="159248" cy="7808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0F1D069-FF68-EF4D-98BA-4952DD6C57B5}"/>
              </a:ext>
            </a:extLst>
          </p:cNvPr>
          <p:cNvSpPr/>
          <p:nvPr/>
        </p:nvSpPr>
        <p:spPr>
          <a:xfrm>
            <a:off x="11724624" y="4847449"/>
            <a:ext cx="159249" cy="7808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362AEA5-1FDC-3967-BE84-87420030B4F8}"/>
              </a:ext>
            </a:extLst>
          </p:cNvPr>
          <p:cNvSpPr/>
          <p:nvPr/>
        </p:nvSpPr>
        <p:spPr>
          <a:xfrm>
            <a:off x="10719514" y="4838823"/>
            <a:ext cx="159248" cy="7808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632192E-0F83-BCAF-F86C-C6778253C14D}"/>
              </a:ext>
            </a:extLst>
          </p:cNvPr>
          <p:cNvSpPr/>
          <p:nvPr/>
        </p:nvSpPr>
        <p:spPr>
          <a:xfrm>
            <a:off x="10919134" y="4843394"/>
            <a:ext cx="159249" cy="7808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E23FC8D-CF18-F7D0-2550-6E2B8E8D2525}"/>
                  </a:ext>
                </a:extLst>
              </p:cNvPr>
              <p:cNvSpPr txBox="1"/>
              <p:nvPr/>
            </p:nvSpPr>
            <p:spPr>
              <a:xfrm>
                <a:off x="112725" y="6078773"/>
                <a:ext cx="79529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cf. In the full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𝐶𝑂𝑁𝐷</m:t>
                    </m:r>
                  </m:oMath>
                </a14:m>
                <a:r>
                  <a:rPr lang="en-US" dirty="0"/>
                  <a:t> query model, every label-invariant property can be tested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dirty="0"/>
                  <a:t> queries [Chakraborty-Fischer-Goldhirsh-Matsliah13]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E23FC8D-CF18-F7D0-2550-6E2B8E8D2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25" y="6078773"/>
                <a:ext cx="7952973" cy="646331"/>
              </a:xfrm>
              <a:prstGeom prst="rect">
                <a:avLst/>
              </a:prstGeom>
              <a:blipFill>
                <a:blip r:embed="rId7"/>
                <a:stretch>
                  <a:fillRect l="-613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71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7" grpId="0" animBg="1"/>
      <p:bldP spid="32" grpId="0" animBg="1"/>
      <p:bldP spid="33" grpId="0" animBg="1"/>
      <p:bldP spid="38" grpId="0"/>
      <p:bldP spid="39" grpId="0" animBg="1"/>
      <p:bldP spid="40" grpId="0" animBg="1"/>
      <p:bldP spid="41" grpId="0" animBg="1"/>
      <p:bldP spid="43" grpId="0" animBg="1"/>
      <p:bldP spid="4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745A6-AC92-5AB0-BFA8-67EB9FE1C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1142D15-5596-71C3-905E-3412E89E9AA3}"/>
              </a:ext>
            </a:extLst>
          </p:cNvPr>
          <p:cNvSpPr/>
          <p:nvPr/>
        </p:nvSpPr>
        <p:spPr>
          <a:xfrm>
            <a:off x="5889243" y="680589"/>
            <a:ext cx="6247960" cy="5966396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3EACAC-0724-C0AE-9CDB-B2D116790B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80975" y="18256"/>
                <a:ext cx="7634557" cy="876124"/>
              </a:xfrm>
            </p:spPr>
            <p:txBody>
              <a:bodyPr/>
              <a:lstStyle/>
              <a:p>
                <a:r>
                  <a:rPr lang="en-US" dirty="0"/>
                  <a:t>Verification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dirty="0"/>
                  <a:t> </a:t>
                </a:r>
                <a:r>
                  <a:rPr lang="en-US" sz="2800" dirty="0">
                    <a:solidFill>
                      <a:srgbClr val="00B050"/>
                    </a:solidFill>
                  </a:rPr>
                  <a:t>(this work)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3EACAC-0724-C0AE-9CDB-B2D116790B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0975" y="18256"/>
                <a:ext cx="7634557" cy="876124"/>
              </a:xfrm>
              <a:blipFill>
                <a:blip r:embed="rId2"/>
                <a:stretch>
                  <a:fillRect l="-3275" t="-11111" b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loud 2">
            <a:extLst>
              <a:ext uri="{FF2B5EF4-FFF2-40B4-BE49-F238E27FC236}">
                <a16:creationId xmlns:a16="http://schemas.microsoft.com/office/drawing/2014/main" id="{A24442BD-9D56-0F3D-5B8E-DD991F073F11}"/>
              </a:ext>
            </a:extLst>
          </p:cNvPr>
          <p:cNvSpPr/>
          <p:nvPr/>
        </p:nvSpPr>
        <p:spPr>
          <a:xfrm>
            <a:off x="2117683" y="1650808"/>
            <a:ext cx="1390807" cy="986732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The Elusive Aardvark - Needles Lodge">
            <a:extLst>
              <a:ext uri="{FF2B5EF4-FFF2-40B4-BE49-F238E27FC236}">
                <a16:creationId xmlns:a16="http://schemas.microsoft.com/office/drawing/2014/main" id="{F6992A6E-3CFE-E34C-F81D-9DE309F72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298" y="3560289"/>
            <a:ext cx="1437973" cy="88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ircular 5">
            <a:extLst>
              <a:ext uri="{FF2B5EF4-FFF2-40B4-BE49-F238E27FC236}">
                <a16:creationId xmlns:a16="http://schemas.microsoft.com/office/drawing/2014/main" id="{8D63AF5C-E5DE-0A86-B816-DC7B575FE1E4}"/>
              </a:ext>
            </a:extLst>
          </p:cNvPr>
          <p:cNvSpPr/>
          <p:nvPr/>
        </p:nvSpPr>
        <p:spPr>
          <a:xfrm rot="840166">
            <a:off x="2494336" y="2330040"/>
            <a:ext cx="1827807" cy="207001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36556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F99F2B-94C3-20A1-19C3-857E8E34A18A}"/>
                  </a:ext>
                </a:extLst>
              </p:cNvPr>
              <p:cNvSpPr txBox="1"/>
              <p:nvPr/>
            </p:nvSpPr>
            <p:spPr>
              <a:xfrm>
                <a:off x="2217342" y="1868143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F99F2B-94C3-20A1-19C3-857E8E34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342" y="1868143"/>
                <a:ext cx="119149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DB5FE36-0C88-C260-DB97-DD3CD4B66CAF}"/>
              </a:ext>
            </a:extLst>
          </p:cNvPr>
          <p:cNvSpPr txBox="1"/>
          <p:nvPr/>
        </p:nvSpPr>
        <p:spPr>
          <a:xfrm>
            <a:off x="2436616" y="2757914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5C46F7-35E7-6385-6CA2-9C4DFD2273DA}"/>
                  </a:ext>
                </a:extLst>
              </p:cNvPr>
              <p:cNvSpPr txBox="1"/>
              <p:nvPr/>
            </p:nvSpPr>
            <p:spPr>
              <a:xfrm>
                <a:off x="4030109" y="4513578"/>
                <a:ext cx="1082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5C46F7-35E7-6385-6CA2-9C4DFD227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109" y="4513578"/>
                <a:ext cx="1082170" cy="369332"/>
              </a:xfrm>
              <a:prstGeom prst="rect">
                <a:avLst/>
              </a:prstGeom>
              <a:blipFill>
                <a:blip r:embed="rId5"/>
                <a:stretch>
                  <a:fillRect l="-449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Down 14">
            <a:extLst>
              <a:ext uri="{FF2B5EF4-FFF2-40B4-BE49-F238E27FC236}">
                <a16:creationId xmlns:a16="http://schemas.microsoft.com/office/drawing/2014/main" id="{44C30220-8D34-8469-09E2-4D8FABC6AEFE}"/>
              </a:ext>
            </a:extLst>
          </p:cNvPr>
          <p:cNvSpPr/>
          <p:nvPr/>
        </p:nvSpPr>
        <p:spPr>
          <a:xfrm rot="2826546">
            <a:off x="1370024" y="2287179"/>
            <a:ext cx="581577" cy="1221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32D498C-9463-C858-8260-75EC7A6CD314}"/>
              </a:ext>
            </a:extLst>
          </p:cNvPr>
          <p:cNvGrpSpPr/>
          <p:nvPr/>
        </p:nvGrpSpPr>
        <p:grpSpPr>
          <a:xfrm>
            <a:off x="1959582" y="3683862"/>
            <a:ext cx="1756865" cy="766539"/>
            <a:chOff x="4101482" y="4183301"/>
            <a:chExt cx="2842203" cy="9118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A51BCC8-2BF0-38B1-D8C3-20AB5E5C2B9C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183301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3CEC57B-1758-4393-2061-3CC1F0532A69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501126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E941275-560B-8111-5374-79ADF5CB5450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4777308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DBCACC7-9205-E5FB-EE6E-230B6464BE0F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5095133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5A8F34-FB5E-7999-59CC-D1DB2A1A478A}"/>
                  </a:ext>
                </a:extLst>
              </p:cNvPr>
              <p:cNvSpPr txBox="1"/>
              <p:nvPr/>
            </p:nvSpPr>
            <p:spPr>
              <a:xfrm>
                <a:off x="553518" y="4570174"/>
                <a:ext cx="1022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35A8F34-FB5E-7999-59CC-D1DB2A1A4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8" y="4570174"/>
                <a:ext cx="1022017" cy="369332"/>
              </a:xfrm>
              <a:prstGeom prst="rect">
                <a:avLst/>
              </a:prstGeom>
              <a:blipFill>
                <a:blip r:embed="rId7"/>
                <a:stretch>
                  <a:fillRect l="-5389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B866A77-93B1-6E38-F65B-89E693863600}"/>
              </a:ext>
            </a:extLst>
          </p:cNvPr>
          <p:cNvSpPr txBox="1"/>
          <p:nvPr/>
        </p:nvSpPr>
        <p:spPr>
          <a:xfrm>
            <a:off x="2156132" y="4550789"/>
            <a:ext cx="2036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accept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reject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88667B9A-5ADE-93CF-7095-00A9C8E4ABCA}"/>
                  </a:ext>
                </a:extLst>
              </p:cNvPr>
              <p:cNvSpPr/>
              <p:nvPr/>
            </p:nvSpPr>
            <p:spPr>
              <a:xfrm>
                <a:off x="4143795" y="1909153"/>
                <a:ext cx="933687" cy="72739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PCon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88667B9A-5ADE-93CF-7095-00A9C8E4A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795" y="1909153"/>
                <a:ext cx="933687" cy="727399"/>
              </a:xfrm>
              <a:prstGeom prst="roundRect">
                <a:avLst/>
              </a:prstGeom>
              <a:blipFill>
                <a:blip r:embed="rId8"/>
                <a:stretch>
                  <a:fillRect l="-1923"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Down 25">
            <a:extLst>
              <a:ext uri="{FF2B5EF4-FFF2-40B4-BE49-F238E27FC236}">
                <a16:creationId xmlns:a16="http://schemas.microsoft.com/office/drawing/2014/main" id="{406C89D7-5CD6-9CBF-25D0-28230E9B7F0D}"/>
              </a:ext>
            </a:extLst>
          </p:cNvPr>
          <p:cNvSpPr/>
          <p:nvPr/>
        </p:nvSpPr>
        <p:spPr>
          <a:xfrm rot="16858065">
            <a:off x="3637151" y="1925680"/>
            <a:ext cx="432316" cy="5079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CFD7F1-07CD-54EC-4EAC-2F9918126DD8}"/>
              </a:ext>
            </a:extLst>
          </p:cNvPr>
          <p:cNvGrpSpPr/>
          <p:nvPr/>
        </p:nvGrpSpPr>
        <p:grpSpPr>
          <a:xfrm rot="5400000">
            <a:off x="4285266" y="2919792"/>
            <a:ext cx="727399" cy="411223"/>
            <a:chOff x="4101482" y="4183301"/>
            <a:chExt cx="2842203" cy="9118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D9CC834-5D57-208F-9C86-86A008A55157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183301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F68EA2F-073A-6D1A-05FE-6730A56826C4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501126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D97B2D0-CBF5-980A-3978-AEBD914B0F6E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4777308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0A25403-4FB9-F973-FE52-C0121E583DAF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5095133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4D502039-CB80-C6B3-FB3D-716E93271C16}"/>
              </a:ext>
            </a:extLst>
          </p:cNvPr>
          <p:cNvSpPr txBox="1"/>
          <p:nvPr/>
        </p:nvSpPr>
        <p:spPr>
          <a:xfrm>
            <a:off x="4884524" y="2847522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6AC328-DE0D-2C7C-447B-9E82AB090770}"/>
                  </a:ext>
                </a:extLst>
              </p:cNvPr>
              <p:cNvSpPr txBox="1"/>
              <p:nvPr/>
            </p:nvSpPr>
            <p:spPr>
              <a:xfrm>
                <a:off x="5973908" y="680589"/>
                <a:ext cx="6163300" cy="6832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800" dirty="0"/>
              </a:p>
              <a:p>
                <a:r>
                  <a:rPr lang="en-US" sz="2800" u="sng" dirty="0"/>
                  <a:t>Completeness: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800" dirty="0"/>
                  <a:t>,</a:t>
                </a:r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]≥2/3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Soundness:</a:t>
                </a:r>
                <a:r>
                  <a:rPr lang="en-US" sz="2800" dirty="0"/>
                  <a:t> 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800" dirty="0"/>
                  <a:t> is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800" dirty="0"/>
                  <a:t>-far from every distribution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for every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800" dirty="0"/>
              </a:p>
              <a:p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800" dirty="0"/>
                  <a:t> accepts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u="sng" dirty="0"/>
                  <a:t>Cost:</a:t>
                </a:r>
                <a:r>
                  <a:rPr lang="en-US" sz="2800" dirty="0"/>
                  <a:t> </a:t>
                </a:r>
              </a:p>
              <a:p>
                <a:pPr marL="457200" indent="-457200">
                  <a:buFontTx/>
                  <a:buChar char="-"/>
                </a:pPr>
                <a:r>
                  <a:rPr lang="en-US" sz="2800" dirty="0"/>
                  <a:t>Number of samples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/>
                  <a:t> draws from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800" dirty="0"/>
              </a:p>
              <a:p>
                <a:pPr marL="457200" indent="-457200">
                  <a:buFontTx/>
                  <a:buChar char="-"/>
                </a:pPr>
                <a:r>
                  <a:rPr lang="en-US" sz="2800" dirty="0">
                    <a:solidFill>
                      <a:schemeClr val="tx1"/>
                    </a:solidFill>
                  </a:rPr>
                  <a:t>Communication: Bits exchanged between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Tx/>
                  <a:buChar char="-"/>
                </a:pPr>
                <a:r>
                  <a:rPr lang="en-US" sz="2800" dirty="0">
                    <a:solidFill>
                      <a:srgbClr val="7030A0"/>
                    </a:solidFill>
                  </a:rPr>
                  <a:t>Number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queries </a:t>
                </a:r>
                <a14:m>
                  <m:oMath xmlns:m="http://schemas.openxmlformats.org/officeDocument/2006/math">
                    <m:r>
                      <a:rPr lang="pt-PT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makes</a:t>
                </a:r>
              </a:p>
              <a:p>
                <a:endParaRPr lang="en-US" sz="2800" dirty="0"/>
              </a:p>
              <a:p>
                <a:endParaRPr lang="en-US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26AC328-DE0D-2C7C-447B-9E82AB090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3908" y="680589"/>
                <a:ext cx="6163300" cy="6832640"/>
              </a:xfrm>
              <a:prstGeom prst="rect">
                <a:avLst/>
              </a:prstGeom>
              <a:blipFill>
                <a:blip r:embed="rId9"/>
                <a:stretch>
                  <a:fillRect l="-2077" r="-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9C8B5893-A048-09B6-5056-51844D3EA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74" y="3602142"/>
            <a:ext cx="1195773" cy="89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87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944A-DEEA-3441-3080-D51D499CC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226776BE-E54A-E18E-3576-D37522EE693C}"/>
              </a:ext>
            </a:extLst>
          </p:cNvPr>
          <p:cNvSpPr/>
          <p:nvPr/>
        </p:nvSpPr>
        <p:spPr>
          <a:xfrm>
            <a:off x="6738352" y="3365048"/>
            <a:ext cx="5122469" cy="216531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22E08C7-75A7-8069-F2EA-C2219B98E83B}"/>
              </a:ext>
            </a:extLst>
          </p:cNvPr>
          <p:cNvSpPr/>
          <p:nvPr/>
        </p:nvSpPr>
        <p:spPr>
          <a:xfrm>
            <a:off x="8133187" y="27884"/>
            <a:ext cx="3991717" cy="273003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1690E0-110A-736F-E18E-EE1F7BEE6E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80975" y="18256"/>
                <a:ext cx="7634557" cy="876124"/>
              </a:xfrm>
            </p:spPr>
            <p:txBody>
              <a:bodyPr/>
              <a:lstStyle/>
              <a:p>
                <a:r>
                  <a:rPr lang="en-US" dirty="0"/>
                  <a:t>Verification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dirty="0"/>
                  <a:t> </a:t>
                </a:r>
                <a:r>
                  <a:rPr lang="en-US" sz="2800" dirty="0">
                    <a:solidFill>
                      <a:srgbClr val="00B050"/>
                    </a:solidFill>
                  </a:rPr>
                  <a:t>(this work)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01690E0-110A-736F-E18E-EE1F7BEE6E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0975" y="18256"/>
                <a:ext cx="7634557" cy="876124"/>
              </a:xfrm>
              <a:blipFill>
                <a:blip r:embed="rId2"/>
                <a:stretch>
                  <a:fillRect l="-3275" t="-11111" b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EB48B2-5B3F-9137-8213-D3AA85E23B01}"/>
                  </a:ext>
                </a:extLst>
              </p:cNvPr>
              <p:cNvSpPr txBox="1"/>
              <p:nvPr/>
            </p:nvSpPr>
            <p:spPr>
              <a:xfrm>
                <a:off x="6840423" y="3533354"/>
                <a:ext cx="5284484" cy="1832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Baseline:</a:t>
                </a:r>
                <a:r>
                  <a:rPr lang="en-US" sz="2400" dirty="0"/>
                  <a:t> Every property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 can be verified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pt-PT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pt-PT" sz="2400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pt-PT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rad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queries + samples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B050"/>
                    </a:solidFill>
                  </a:rPr>
                  <a:t> communication</a:t>
                </a:r>
              </a:p>
              <a:p>
                <a:endParaRPr lang="en-US" dirty="0"/>
              </a:p>
              <a:p>
                <a:r>
                  <a:rPr lang="en-US" dirty="0"/>
                  <a:t>[Chiesa-Gur18 + Narayanan21]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EB48B2-5B3F-9137-8213-D3AA85E23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423" y="3533354"/>
                <a:ext cx="5284484" cy="1832233"/>
              </a:xfrm>
              <a:prstGeom prst="rect">
                <a:avLst/>
              </a:prstGeom>
              <a:blipFill>
                <a:blip r:embed="rId3"/>
                <a:stretch>
                  <a:fillRect l="-1730" t="-2667"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392DD8-9041-1241-3059-9B4332D7EE3F}"/>
                  </a:ext>
                </a:extLst>
              </p:cNvPr>
              <p:cNvSpPr txBox="1"/>
              <p:nvPr/>
            </p:nvSpPr>
            <p:spPr>
              <a:xfrm>
                <a:off x="8146303" y="-223181"/>
                <a:ext cx="4045698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000" dirty="0"/>
              </a:p>
              <a:p>
                <a:r>
                  <a:rPr lang="en-US" sz="2000" u="sng" dirty="0"/>
                  <a:t>Completeness: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r>
                  <a:rPr lang="en-US" sz="20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000" dirty="0"/>
                  <a:t> accepts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]≥2/3</m:t>
                    </m:r>
                  </m:oMath>
                </a14:m>
                <a:endParaRPr lang="en-US" sz="2000" dirty="0"/>
              </a:p>
              <a:p>
                <a:endParaRPr lang="en-US" sz="1200" dirty="0"/>
              </a:p>
              <a:p>
                <a:r>
                  <a:rPr lang="en-US" sz="2000" u="sng" dirty="0"/>
                  <a:t>Soundness: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/>
                  <a:t>-far from every distribution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for every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000" dirty="0"/>
              </a:p>
              <a:p>
                <a:r>
                  <a:rPr lang="en-US" sz="20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⁡[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PT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000" dirty="0"/>
                  <a:t> accepts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endParaRPr lang="en-US" sz="2000" dirty="0"/>
              </a:p>
              <a:p>
                <a:endParaRPr lang="en-US" sz="1200" dirty="0"/>
              </a:p>
              <a:p>
                <a:r>
                  <a:rPr lang="en-US" sz="2000" u="sng" dirty="0"/>
                  <a:t>Cost:</a:t>
                </a:r>
                <a:r>
                  <a:rPr lang="en-US" sz="2000" dirty="0"/>
                  <a:t> Samples, Communication, Queries</a:t>
                </a:r>
              </a:p>
              <a:p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392DD8-9041-1241-3059-9B4332D7E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303" y="-223181"/>
                <a:ext cx="4045698" cy="3539430"/>
              </a:xfrm>
              <a:prstGeom prst="rect">
                <a:avLst/>
              </a:prstGeom>
              <a:blipFill>
                <a:blip r:embed="rId4"/>
                <a:stretch>
                  <a:fillRect l="-1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091F2C-6FB5-D6CB-FECA-96D9F2FEFB3B}"/>
                  </a:ext>
                </a:extLst>
              </p:cNvPr>
              <p:cNvSpPr txBox="1"/>
              <p:nvPr/>
            </p:nvSpPr>
            <p:spPr>
              <a:xfrm>
                <a:off x="2709335" y="5239156"/>
                <a:ext cx="3816760" cy="1607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dirty="0">
                    <a:solidFill>
                      <a:srgbClr val="002060"/>
                    </a:solidFill>
                  </a:rPr>
                  <a:t>U</a:t>
                </a:r>
                <a:r>
                  <a:rPr lang="en-US" dirty="0">
                    <a:solidFill>
                      <a:srgbClr val="002060"/>
                    </a:solidFill>
                  </a:rPr>
                  <a:t>sing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rad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queries+samples, determine whether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𝑇𝑉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dirty="0">
                    <a:solidFill>
                      <a:srgbClr val="002060"/>
                    </a:solidFill>
                  </a:rPr>
                  <a:t>	                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𝑇𝑉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091F2C-6FB5-D6CB-FECA-96D9F2FEF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335" y="5239156"/>
                <a:ext cx="3816760" cy="1607043"/>
              </a:xfrm>
              <a:prstGeom prst="rect">
                <a:avLst/>
              </a:prstGeom>
              <a:blipFill>
                <a:blip r:embed="rId5"/>
                <a:stretch>
                  <a:fillRect l="-1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loud 31">
            <a:extLst>
              <a:ext uri="{FF2B5EF4-FFF2-40B4-BE49-F238E27FC236}">
                <a16:creationId xmlns:a16="http://schemas.microsoft.com/office/drawing/2014/main" id="{AF8A11B9-6D6F-9F88-CE62-7053E808E9BF}"/>
              </a:ext>
            </a:extLst>
          </p:cNvPr>
          <p:cNvSpPr/>
          <p:nvPr/>
        </p:nvSpPr>
        <p:spPr>
          <a:xfrm>
            <a:off x="2117683" y="1650808"/>
            <a:ext cx="1390807" cy="986732"/>
          </a:xfrm>
          <a:prstGeom prst="cloud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2" descr="The Elusive Aardvark - Needles Lodge">
            <a:extLst>
              <a:ext uri="{FF2B5EF4-FFF2-40B4-BE49-F238E27FC236}">
                <a16:creationId xmlns:a16="http://schemas.microsoft.com/office/drawing/2014/main" id="{484F6E5A-CE55-0438-59C3-17B483F5D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298" y="3560289"/>
            <a:ext cx="1437973" cy="88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Arrow: Circular 35">
            <a:extLst>
              <a:ext uri="{FF2B5EF4-FFF2-40B4-BE49-F238E27FC236}">
                <a16:creationId xmlns:a16="http://schemas.microsoft.com/office/drawing/2014/main" id="{47D3C1FE-6959-BF59-8C04-A49984B81FAE}"/>
              </a:ext>
            </a:extLst>
          </p:cNvPr>
          <p:cNvSpPr/>
          <p:nvPr/>
        </p:nvSpPr>
        <p:spPr>
          <a:xfrm rot="840166">
            <a:off x="2494336" y="2330040"/>
            <a:ext cx="1827807" cy="207001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536556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DA27A2-E456-0FFC-E362-B64082AD9D2F}"/>
                  </a:ext>
                </a:extLst>
              </p:cNvPr>
              <p:cNvSpPr txBox="1"/>
              <p:nvPr/>
            </p:nvSpPr>
            <p:spPr>
              <a:xfrm>
                <a:off x="2217342" y="1868143"/>
                <a:ext cx="11914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FDA27A2-E456-0FFC-E362-B64082AD9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342" y="1868143"/>
                <a:ext cx="11914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EA50E9FE-EA63-C842-226B-BEDF776CA7CF}"/>
              </a:ext>
            </a:extLst>
          </p:cNvPr>
          <p:cNvSpPr txBox="1"/>
          <p:nvPr/>
        </p:nvSpPr>
        <p:spPr>
          <a:xfrm>
            <a:off x="2436616" y="2757914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i.i.d.</a:t>
            </a:r>
            <a:r>
              <a:rPr lang="en-US" dirty="0"/>
              <a:t>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AFDCF9E-DD93-059A-CD05-9EDE4664372C}"/>
                  </a:ext>
                </a:extLst>
              </p:cNvPr>
              <p:cNvSpPr txBox="1"/>
              <p:nvPr/>
            </p:nvSpPr>
            <p:spPr>
              <a:xfrm>
                <a:off x="4030109" y="4513578"/>
                <a:ext cx="1082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Verifier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AFDCF9E-DD93-059A-CD05-9EDE46643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109" y="4513578"/>
                <a:ext cx="1082170" cy="369332"/>
              </a:xfrm>
              <a:prstGeom prst="rect">
                <a:avLst/>
              </a:prstGeom>
              <a:blipFill>
                <a:blip r:embed="rId8"/>
                <a:stretch>
                  <a:fillRect l="-449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Arrow: Down 41">
            <a:extLst>
              <a:ext uri="{FF2B5EF4-FFF2-40B4-BE49-F238E27FC236}">
                <a16:creationId xmlns:a16="http://schemas.microsoft.com/office/drawing/2014/main" id="{9D850AEB-FE21-8DDF-D560-7C90978326BE}"/>
              </a:ext>
            </a:extLst>
          </p:cNvPr>
          <p:cNvSpPr/>
          <p:nvPr/>
        </p:nvSpPr>
        <p:spPr>
          <a:xfrm rot="2826546">
            <a:off x="1370024" y="2287179"/>
            <a:ext cx="581577" cy="12212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76D6AC8-3A7F-24EC-97EE-5934425563B4}"/>
                  </a:ext>
                </a:extLst>
              </p:cNvPr>
              <p:cNvSpPr txBox="1"/>
              <p:nvPr/>
            </p:nvSpPr>
            <p:spPr>
              <a:xfrm>
                <a:off x="553518" y="4570174"/>
                <a:ext cx="10220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Prover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76D6AC8-3A7F-24EC-97EE-593442556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18" y="4570174"/>
                <a:ext cx="1022017" cy="369332"/>
              </a:xfrm>
              <a:prstGeom prst="rect">
                <a:avLst/>
              </a:prstGeom>
              <a:blipFill>
                <a:blip r:embed="rId10"/>
                <a:stretch>
                  <a:fillRect l="-5389"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EDCA5444-47B5-8E51-4E83-3B083F1BF6B2}"/>
                  </a:ext>
                </a:extLst>
              </p:cNvPr>
              <p:cNvSpPr/>
              <p:nvPr/>
            </p:nvSpPr>
            <p:spPr>
              <a:xfrm>
                <a:off x="4143795" y="1909153"/>
                <a:ext cx="933687" cy="727399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PCon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EDCA5444-47B5-8E51-4E83-3B083F1BF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795" y="1909153"/>
                <a:ext cx="933687" cy="727399"/>
              </a:xfrm>
              <a:prstGeom prst="roundRect">
                <a:avLst/>
              </a:prstGeom>
              <a:blipFill>
                <a:blip r:embed="rId11"/>
                <a:stretch>
                  <a:fillRect l="-1923"/>
                </a:stretch>
              </a:blipFill>
              <a:ln>
                <a:solidFill>
                  <a:schemeClr val="accent5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Arrow: Down 51">
            <a:extLst>
              <a:ext uri="{FF2B5EF4-FFF2-40B4-BE49-F238E27FC236}">
                <a16:creationId xmlns:a16="http://schemas.microsoft.com/office/drawing/2014/main" id="{9C642021-62A7-88AC-52E2-650F35742C4E}"/>
              </a:ext>
            </a:extLst>
          </p:cNvPr>
          <p:cNvSpPr/>
          <p:nvPr/>
        </p:nvSpPr>
        <p:spPr>
          <a:xfrm rot="16858065">
            <a:off x="3637151" y="1925680"/>
            <a:ext cx="432316" cy="5079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4D3698F-71C7-4964-98AD-D469B2D8A3DF}"/>
              </a:ext>
            </a:extLst>
          </p:cNvPr>
          <p:cNvGrpSpPr/>
          <p:nvPr/>
        </p:nvGrpSpPr>
        <p:grpSpPr>
          <a:xfrm rot="5400000">
            <a:off x="4285266" y="2919792"/>
            <a:ext cx="727399" cy="411223"/>
            <a:chOff x="4101482" y="4183301"/>
            <a:chExt cx="2842203" cy="911832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6C85692-69CC-9AE6-709C-A43A3CB5E55F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183301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3AA80E1-6461-0A87-3B3B-A962C1C17FF9}"/>
                </a:ext>
              </a:extLst>
            </p:cNvPr>
            <p:cNvCxnSpPr>
              <a:cxnSpLocks/>
            </p:cNvCxnSpPr>
            <p:nvPr/>
          </p:nvCxnSpPr>
          <p:spPr>
            <a:xfrm>
              <a:off x="4101482" y="4501126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94662FC-5424-46E7-763B-7D1353589162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4777308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C59FE3B-BC54-DA65-EE9F-7FCC375DB2E6}"/>
                </a:ext>
              </a:extLst>
            </p:cNvPr>
            <p:cNvCxnSpPr>
              <a:cxnSpLocks/>
            </p:cNvCxnSpPr>
            <p:nvPr/>
          </p:nvCxnSpPr>
          <p:spPr>
            <a:xfrm>
              <a:off x="4105235" y="5095133"/>
              <a:ext cx="283845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182B018-8777-025F-B9E1-13110857FC28}"/>
              </a:ext>
            </a:extLst>
          </p:cNvPr>
          <p:cNvSpPr txBox="1"/>
          <p:nvPr/>
        </p:nvSpPr>
        <p:spPr>
          <a:xfrm>
            <a:off x="4884524" y="2847522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8E641DD-684E-7BF4-DC6F-200421F6CD9F}"/>
              </a:ext>
            </a:extLst>
          </p:cNvPr>
          <p:cNvCxnSpPr>
            <a:cxnSpLocks/>
          </p:cNvCxnSpPr>
          <p:nvPr/>
        </p:nvCxnSpPr>
        <p:spPr>
          <a:xfrm>
            <a:off x="1870133" y="4078530"/>
            <a:ext cx="18343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F67C289-DE74-C69A-2796-06A14D918D91}"/>
                  </a:ext>
                </a:extLst>
              </p:cNvPr>
              <p:cNvSpPr txBox="1"/>
              <p:nvPr/>
            </p:nvSpPr>
            <p:spPr>
              <a:xfrm>
                <a:off x="2363433" y="3634441"/>
                <a:ext cx="941189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F67C289-DE74-C69A-2796-06A14D918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433" y="3634441"/>
                <a:ext cx="941189" cy="408445"/>
              </a:xfrm>
              <a:prstGeom prst="rect">
                <a:avLst/>
              </a:prstGeom>
              <a:blipFill>
                <a:blip r:embed="rId12"/>
                <a:stretch>
                  <a:fillRect t="-10448" r="-14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688136-4B88-72C0-9065-8F27773328A9}"/>
                  </a:ext>
                </a:extLst>
              </p:cNvPr>
              <p:cNvSpPr txBox="1"/>
              <p:nvPr/>
            </p:nvSpPr>
            <p:spPr>
              <a:xfrm>
                <a:off x="166991" y="5632051"/>
                <a:ext cx="2542344" cy="937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dirty="0"/>
                  <a:t> = discretization of </a:t>
                </a:r>
                <a14:m>
                  <m:oMath xmlns:m="http://schemas.openxmlformats.org/officeDocument/2006/math">
                    <m:r>
                      <a:rPr lang="pt-PT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to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, described in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bits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688136-4B88-72C0-9065-8F2777332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91" y="5632051"/>
                <a:ext cx="2542344" cy="937564"/>
              </a:xfrm>
              <a:prstGeom prst="rect">
                <a:avLst/>
              </a:prstGeom>
              <a:blipFill>
                <a:blip r:embed="rId13"/>
                <a:stretch>
                  <a:fillRect l="-1918" t="-2597" b="-9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1763C285-4ECA-68BC-9A5D-9D2D66AE8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63" y="3611656"/>
            <a:ext cx="1181637" cy="88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362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2B00C-B164-61D8-CA99-7367F18B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CF984C5-12BD-14E5-B121-9C3E521B6C6C}"/>
              </a:ext>
            </a:extLst>
          </p:cNvPr>
          <p:cNvSpPr/>
          <p:nvPr/>
        </p:nvSpPr>
        <p:spPr>
          <a:xfrm>
            <a:off x="180975" y="730479"/>
            <a:ext cx="11830050" cy="186526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984C49-FE42-E973-44B9-EC0693AEE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6"/>
            <a:ext cx="7634557" cy="876124"/>
          </a:xfrm>
        </p:spPr>
        <p:txBody>
          <a:bodyPr/>
          <a:lstStyle/>
          <a:p>
            <a:r>
              <a:rPr lang="en-US" dirty="0"/>
              <a:t>Main Results</a:t>
            </a:r>
            <a:endParaRPr lang="en-US" sz="28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C72BB9-5662-C632-541E-D1B30F8ED5CC}"/>
                  </a:ext>
                </a:extLst>
              </p:cNvPr>
              <p:cNvSpPr txBox="1"/>
              <p:nvPr/>
            </p:nvSpPr>
            <p:spPr>
              <a:xfrm>
                <a:off x="180975" y="730478"/>
                <a:ext cx="11602708" cy="2190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dirty="0"/>
                  <a:t>Every label-invariant property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600" dirty="0"/>
                  <a:t> of distributions on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600" dirty="0"/>
                  <a:t> can be verified using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600" dirty="0"/>
                  <a:t> samples,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600" dirty="0"/>
                  <a:t> queries, and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600" i="1" dirty="0"/>
                  <a:t> </a:t>
                </a:r>
                <a:r>
                  <a:rPr lang="en-US" sz="2600" dirty="0"/>
                  <a:t>communication (over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600" dirty="0"/>
                  <a:t> rounds of interactions)</a:t>
                </a:r>
                <a:endParaRPr lang="en-US" sz="2600" i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C72BB9-5662-C632-541E-D1B30F8ED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730478"/>
                <a:ext cx="11602708" cy="2190343"/>
              </a:xfrm>
              <a:prstGeom prst="rect">
                <a:avLst/>
              </a:prstGeom>
              <a:blipFill>
                <a:blip r:embed="rId2"/>
                <a:stretch>
                  <a:fillRect l="-946" t="-2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E962EF6-5856-B514-1BB6-79999E8A7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1450206"/>
                  </p:ext>
                </p:extLst>
              </p:nvPr>
            </p:nvGraphicFramePr>
            <p:xfrm>
              <a:off x="2631060" y="3316078"/>
              <a:ext cx="6830202" cy="26097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76734">
                      <a:extLst>
                        <a:ext uri="{9D8B030D-6E8A-4147-A177-3AD203B41FA5}">
                          <a16:colId xmlns:a16="http://schemas.microsoft.com/office/drawing/2014/main" val="2129190881"/>
                        </a:ext>
                      </a:extLst>
                    </a:gridCol>
                    <a:gridCol w="2276734">
                      <a:extLst>
                        <a:ext uri="{9D8B030D-6E8A-4147-A177-3AD203B41FA5}">
                          <a16:colId xmlns:a16="http://schemas.microsoft.com/office/drawing/2014/main" val="403886255"/>
                        </a:ext>
                      </a:extLst>
                    </a:gridCol>
                    <a:gridCol w="2276734">
                      <a:extLst>
                        <a:ext uri="{9D8B030D-6E8A-4147-A177-3AD203B41FA5}">
                          <a16:colId xmlns:a16="http://schemas.microsoft.com/office/drawing/2014/main" val="2068337526"/>
                        </a:ext>
                      </a:extLst>
                    </a:gridCol>
                  </a:tblGrid>
                  <a:tr h="5641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func>
                                  <m:func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—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—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8944702"/>
                      </a:ext>
                    </a:extLst>
                  </a:tr>
                  <a:tr h="5641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1/8</m:t>
                                    </m:r>
                                  </m:sup>
                                </m:sSup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1/8</m:t>
                                    </m:r>
                                  </m:sup>
                                </m:sSup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—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5154784"/>
                      </a:ext>
                    </a:extLst>
                  </a:tr>
                  <a:tr h="14733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—</a:t>
                          </a:r>
                        </a:p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89970178"/>
                      </a:ext>
                    </a:extLst>
                  </a:tr>
                  <a:tr h="5641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poly</m:t>
                              </m:r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poly</m:t>
                              </m:r>
                              <m:func>
                                <m:func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2000" dirty="0"/>
                            <a:t>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354644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E962EF6-5856-B514-1BB6-79999E8A73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1450206"/>
                  </p:ext>
                </p:extLst>
              </p:nvPr>
            </p:nvGraphicFramePr>
            <p:xfrm>
              <a:off x="2631060" y="3316078"/>
              <a:ext cx="6830202" cy="2609749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76734">
                      <a:extLst>
                        <a:ext uri="{9D8B030D-6E8A-4147-A177-3AD203B41FA5}">
                          <a16:colId xmlns:a16="http://schemas.microsoft.com/office/drawing/2014/main" val="2129190881"/>
                        </a:ext>
                      </a:extLst>
                    </a:gridCol>
                    <a:gridCol w="2276734">
                      <a:extLst>
                        <a:ext uri="{9D8B030D-6E8A-4147-A177-3AD203B41FA5}">
                          <a16:colId xmlns:a16="http://schemas.microsoft.com/office/drawing/2014/main" val="403886255"/>
                        </a:ext>
                      </a:extLst>
                    </a:gridCol>
                    <a:gridCol w="2276734">
                      <a:extLst>
                        <a:ext uri="{9D8B030D-6E8A-4147-A177-3AD203B41FA5}">
                          <a16:colId xmlns:a16="http://schemas.microsoft.com/office/drawing/2014/main" val="2068337526"/>
                        </a:ext>
                      </a:extLst>
                    </a:gridCol>
                  </a:tblGrid>
                  <a:tr h="5641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7" t="-5376" r="-200535" b="-3645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—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—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8944702"/>
                      </a:ext>
                    </a:extLst>
                  </a:tr>
                  <a:tr h="7124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7" t="-83761" r="-200535" b="-1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267" t="-83761" r="-100535" b="-1897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—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5154784"/>
                      </a:ext>
                    </a:extLst>
                  </a:tr>
                  <a:tr h="7689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7" t="-169291" r="-200535" b="-74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/>
                            <a:t>—</a:t>
                          </a:r>
                        </a:p>
                        <a:p>
                          <a:pPr algn="ctr"/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67" t="-169291" r="-535" b="-74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9970178"/>
                      </a:ext>
                    </a:extLst>
                  </a:tr>
                  <a:tr h="5641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7" t="-367742" r="-200535" b="-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267" t="-367742" r="-100535" b="-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67" t="-367742" r="-535" b="-21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54644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BB3993C-B819-C1F2-D916-AAC0AA702F32}"/>
              </a:ext>
            </a:extLst>
          </p:cNvPr>
          <p:cNvSpPr txBox="1"/>
          <p:nvPr/>
        </p:nvSpPr>
        <p:spPr>
          <a:xfrm>
            <a:off x="3295294" y="2827275"/>
            <a:ext cx="1190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8C23CD-B31C-D59E-8AFD-916C4ACCE5FD}"/>
              </a:ext>
            </a:extLst>
          </p:cNvPr>
          <p:cNvSpPr txBox="1"/>
          <p:nvPr/>
        </p:nvSpPr>
        <p:spPr>
          <a:xfrm>
            <a:off x="5500781" y="2807898"/>
            <a:ext cx="1190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D99DC7-16AE-2F33-D22F-EB7C69980F6B}"/>
              </a:ext>
            </a:extLst>
          </p:cNvPr>
          <p:cNvSpPr txBox="1"/>
          <p:nvPr/>
        </p:nvSpPr>
        <p:spPr>
          <a:xfrm>
            <a:off x="7530864" y="2807898"/>
            <a:ext cx="1815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Communication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31216A-6A3D-1698-3014-DBA61891C9EE}"/>
              </a:ext>
            </a:extLst>
          </p:cNvPr>
          <p:cNvSpPr txBox="1"/>
          <p:nvPr/>
        </p:nvSpPr>
        <p:spPr>
          <a:xfrm>
            <a:off x="180978" y="3386647"/>
            <a:ext cx="177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Samples only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3AFC17-CD51-F801-31EE-2060D2D2BA59}"/>
                  </a:ext>
                </a:extLst>
              </p:cNvPr>
              <p:cNvSpPr txBox="1"/>
              <p:nvPr/>
            </p:nvSpPr>
            <p:spPr>
              <a:xfrm>
                <a:off x="180975" y="3968139"/>
                <a:ext cx="21395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Samples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3AFC17-CD51-F801-31EE-2060D2D2B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3968139"/>
                <a:ext cx="2139531" cy="369332"/>
              </a:xfrm>
              <a:prstGeom prst="rect">
                <a:avLst/>
              </a:prstGeom>
              <a:blipFill>
                <a:blip r:embed="rId4"/>
                <a:stretch>
                  <a:fillRect l="-2564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D2D5A97-C562-37E6-2AEB-D99C9C073506}"/>
              </a:ext>
            </a:extLst>
          </p:cNvPr>
          <p:cNvSpPr txBox="1"/>
          <p:nvPr/>
        </p:nvSpPr>
        <p:spPr>
          <a:xfrm>
            <a:off x="180975" y="4618631"/>
            <a:ext cx="213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Samples + Prover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67F80D-DCE1-6C70-11F4-D8B3BF13CDE8}"/>
                  </a:ext>
                </a:extLst>
              </p:cNvPr>
              <p:cNvSpPr txBox="1"/>
              <p:nvPr/>
            </p:nvSpPr>
            <p:spPr>
              <a:xfrm>
                <a:off x="180975" y="5226328"/>
                <a:ext cx="21395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Samples + Prover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67F80D-DCE1-6C70-11F4-D8B3BF13C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5226328"/>
                <a:ext cx="2139531" cy="646331"/>
              </a:xfrm>
              <a:prstGeom prst="rect">
                <a:avLst/>
              </a:prstGeom>
              <a:blipFill>
                <a:blip r:embed="rId5"/>
                <a:stretch>
                  <a:fillRect l="-2564" t="-3774" r="-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509F8D0-C0E7-6736-1E01-5EA9A14C8188}"/>
              </a:ext>
            </a:extLst>
          </p:cNvPr>
          <p:cNvSpPr txBox="1"/>
          <p:nvPr/>
        </p:nvSpPr>
        <p:spPr>
          <a:xfrm>
            <a:off x="9644332" y="3400394"/>
            <a:ext cx="219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[Valiant-Valiant11]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204BE1-4522-A820-67D6-D709E9C2D5F5}"/>
              </a:ext>
            </a:extLst>
          </p:cNvPr>
          <p:cNvSpPr txBox="1"/>
          <p:nvPr/>
        </p:nvSpPr>
        <p:spPr>
          <a:xfrm>
            <a:off x="9644332" y="3968139"/>
            <a:ext cx="219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This 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289570-A1D4-588F-69A3-D1148D0938F9}"/>
              </a:ext>
            </a:extLst>
          </p:cNvPr>
          <p:cNvSpPr txBox="1"/>
          <p:nvPr/>
        </p:nvSpPr>
        <p:spPr>
          <a:xfrm>
            <a:off x="9644332" y="4618631"/>
            <a:ext cx="2665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[Herman-Rothblum22, Herman-Rothblum23]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C925FD-0805-E75C-FC45-35FD27A40CF6}"/>
              </a:ext>
            </a:extLst>
          </p:cNvPr>
          <p:cNvSpPr txBox="1"/>
          <p:nvPr/>
        </p:nvSpPr>
        <p:spPr>
          <a:xfrm>
            <a:off x="9644332" y="5361456"/>
            <a:ext cx="219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This work</a:t>
            </a:r>
          </a:p>
        </p:txBody>
      </p:sp>
    </p:spTree>
    <p:extLst>
      <p:ext uri="{BB962C8B-B14F-4D97-AF65-F5344CB8AC3E}">
        <p14:creationId xmlns:p14="http://schemas.microsoft.com/office/powerpoint/2010/main" val="264231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3" grpId="0"/>
      <p:bldP spid="14" grpId="0"/>
      <p:bldP spid="15" grpId="0"/>
      <p:bldP spid="16" grpId="0"/>
      <p:bldP spid="18" grpId="0"/>
      <p:bldP spid="19" grpId="0"/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BF0FB-804A-B7D8-3529-8A10E6C9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EFBDFE1-DF2D-14A0-8659-F5C337EDB009}"/>
              </a:ext>
            </a:extLst>
          </p:cNvPr>
          <p:cNvSpPr/>
          <p:nvPr/>
        </p:nvSpPr>
        <p:spPr>
          <a:xfrm>
            <a:off x="180974" y="1234961"/>
            <a:ext cx="6896833" cy="1790013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A3B3173-CD31-9882-3E10-B9B2DDEA0359}"/>
              </a:ext>
            </a:extLst>
          </p:cNvPr>
          <p:cNvSpPr/>
          <p:nvPr/>
        </p:nvSpPr>
        <p:spPr>
          <a:xfrm>
            <a:off x="6393708" y="64050"/>
            <a:ext cx="5736746" cy="127512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CFBD0-816F-F913-EBB4-B8AEEB26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6"/>
            <a:ext cx="7634557" cy="876124"/>
          </a:xfrm>
        </p:spPr>
        <p:txBody>
          <a:bodyPr/>
          <a:lstStyle/>
          <a:p>
            <a:r>
              <a:rPr lang="en-US" dirty="0"/>
              <a:t>Proof Overview</a:t>
            </a:r>
            <a:endParaRPr lang="en-US" sz="28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1DAD0E-2AF6-9EA0-AD05-2591F2817D22}"/>
                  </a:ext>
                </a:extLst>
              </p:cNvPr>
              <p:cNvSpPr txBox="1"/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Every label-invariant property can be verified using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000" dirty="0"/>
                  <a:t> samples,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000" dirty="0"/>
                  <a:t> queries, and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communication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1DAD0E-2AF6-9EA0-AD05-2591F2817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blipFill>
                <a:blip r:embed="rId2"/>
                <a:stretch>
                  <a:fillRect l="-1169" t="-2655" b="-6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DBED54D-416C-58CF-BAE8-2F58E2F6D6FE}"/>
              </a:ext>
            </a:extLst>
          </p:cNvPr>
          <p:cNvSpPr txBox="1"/>
          <p:nvPr/>
        </p:nvSpPr>
        <p:spPr>
          <a:xfrm>
            <a:off x="180975" y="1345070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1. Verifying a label-invariant property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11BA1-3EFB-4CDE-A8A6-36CD14E48E31}"/>
              </a:ext>
            </a:extLst>
          </p:cNvPr>
          <p:cNvSpPr txBox="1"/>
          <p:nvPr/>
        </p:nvSpPr>
        <p:spPr>
          <a:xfrm>
            <a:off x="1903382" y="2532532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2. Verifying a bucket histogram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1FC397-E82E-5059-B573-9114646FE8C1}"/>
              </a:ext>
            </a:extLst>
          </p:cNvPr>
          <p:cNvSpPr txBox="1"/>
          <p:nvPr/>
        </p:nvSpPr>
        <p:spPr>
          <a:xfrm>
            <a:off x="3415879" y="3914565"/>
            <a:ext cx="66252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3. Verifying the probability mass of one 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38161-1E8D-FAA0-7D9F-E1E393FF6A02}"/>
              </a:ext>
            </a:extLst>
          </p:cNvPr>
          <p:cNvSpPr txBox="1"/>
          <p:nvPr/>
        </p:nvSpPr>
        <p:spPr>
          <a:xfrm>
            <a:off x="6304382" y="5296598"/>
            <a:ext cx="603849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4. Verifying the support size of a nearly-flat distribution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5F2A19AD-C6FD-351F-732B-CD1CB9633CD0}"/>
              </a:ext>
            </a:extLst>
          </p:cNvPr>
          <p:cNvSpPr/>
          <p:nvPr/>
        </p:nvSpPr>
        <p:spPr>
          <a:xfrm rot="15552840" flipV="1">
            <a:off x="4616226" y="111176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5B6E28B4-CDBB-6D59-FCB3-F19AE92D05D7}"/>
              </a:ext>
            </a:extLst>
          </p:cNvPr>
          <p:cNvSpPr/>
          <p:nvPr/>
        </p:nvSpPr>
        <p:spPr>
          <a:xfrm rot="15552840" flipV="1">
            <a:off x="6781276" y="2443074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A0F3547D-6951-E91D-B714-0B7A9E5E4DD2}"/>
              </a:ext>
            </a:extLst>
          </p:cNvPr>
          <p:cNvSpPr/>
          <p:nvPr/>
        </p:nvSpPr>
        <p:spPr>
          <a:xfrm rot="15552840" flipV="1">
            <a:off x="9331819" y="378042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67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" grpId="0"/>
      <p:bldP spid="9" grpId="0"/>
      <p:bldP spid="10" grpId="0"/>
      <p:bldP spid="17" grpId="0" animBg="1"/>
      <p:bldP spid="21" grpId="0" animBg="1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A148-4345-C832-F5CE-D5A5A043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4" y="-83449"/>
            <a:ext cx="10515600" cy="1325563"/>
          </a:xfrm>
        </p:spPr>
        <p:txBody>
          <a:bodyPr/>
          <a:lstStyle/>
          <a:p>
            <a:r>
              <a:rPr lang="en-US" dirty="0"/>
              <a:t>Bucket Histograms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96C21D-CBAA-B965-DE0C-BC0E505995F3}"/>
              </a:ext>
            </a:extLst>
          </p:cNvPr>
          <p:cNvSpPr txBox="1"/>
          <p:nvPr/>
        </p:nvSpPr>
        <p:spPr>
          <a:xfrm>
            <a:off x="5261646" y="206839"/>
            <a:ext cx="7086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label-invariant property depends only on a distribution’s weights, not on the underlying elements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D9C53E-A3F5-3202-D73A-80E455F656B4}"/>
              </a:ext>
            </a:extLst>
          </p:cNvPr>
          <p:cNvCxnSpPr>
            <a:cxnSpLocks/>
          </p:cNvCxnSpPr>
          <p:nvPr/>
        </p:nvCxnSpPr>
        <p:spPr>
          <a:xfrm>
            <a:off x="1255473" y="2868265"/>
            <a:ext cx="4852179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5706E3-D527-A850-22C2-3F537D7E89C9}"/>
                  </a:ext>
                </a:extLst>
              </p:cNvPr>
              <p:cNvSpPr txBox="1"/>
              <p:nvPr/>
            </p:nvSpPr>
            <p:spPr>
              <a:xfrm>
                <a:off x="1033883" y="2935833"/>
                <a:ext cx="52376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1      2      3      4      5      6      7      8      9     10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5706E3-D527-A850-22C2-3F537D7E8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883" y="2935833"/>
                <a:ext cx="5237672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94B28DB-4354-1536-56E5-A577447B1DB4}"/>
              </a:ext>
            </a:extLst>
          </p:cNvPr>
          <p:cNvSpPr/>
          <p:nvPr/>
        </p:nvSpPr>
        <p:spPr>
          <a:xfrm>
            <a:off x="1255474" y="2126848"/>
            <a:ext cx="426828" cy="7048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FB763A-F9CD-FEA3-A567-B01D2F715AC3}"/>
              </a:ext>
            </a:extLst>
          </p:cNvPr>
          <p:cNvSpPr/>
          <p:nvPr/>
        </p:nvSpPr>
        <p:spPr>
          <a:xfrm>
            <a:off x="1736756" y="1501821"/>
            <a:ext cx="426829" cy="132985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6FA5B7-E3CA-6D7B-0587-B19784687CED}"/>
              </a:ext>
            </a:extLst>
          </p:cNvPr>
          <p:cNvSpPr/>
          <p:nvPr/>
        </p:nvSpPr>
        <p:spPr>
          <a:xfrm>
            <a:off x="2218039" y="1789235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54A238-AB5F-2443-8836-58292A040CCE}"/>
              </a:ext>
            </a:extLst>
          </p:cNvPr>
          <p:cNvSpPr/>
          <p:nvPr/>
        </p:nvSpPr>
        <p:spPr>
          <a:xfrm>
            <a:off x="2690696" y="2363539"/>
            <a:ext cx="426829" cy="4663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287519-341D-04FC-6327-C43E35D4528A}"/>
              </a:ext>
            </a:extLst>
          </p:cNvPr>
          <p:cNvSpPr/>
          <p:nvPr/>
        </p:nvSpPr>
        <p:spPr>
          <a:xfrm>
            <a:off x="3154727" y="2363539"/>
            <a:ext cx="426829" cy="472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19689F-8744-928F-3D6C-BB138D60ACEB}"/>
              </a:ext>
            </a:extLst>
          </p:cNvPr>
          <p:cNvSpPr/>
          <p:nvPr/>
        </p:nvSpPr>
        <p:spPr>
          <a:xfrm>
            <a:off x="3618758" y="1789235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655FEB-7943-26BF-4A1F-7539668733CA}"/>
              </a:ext>
            </a:extLst>
          </p:cNvPr>
          <p:cNvSpPr/>
          <p:nvPr/>
        </p:nvSpPr>
        <p:spPr>
          <a:xfrm>
            <a:off x="4096004" y="1789235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4FF2CB-A01D-7240-9807-25D0A0AE38EE}"/>
              </a:ext>
            </a:extLst>
          </p:cNvPr>
          <p:cNvSpPr/>
          <p:nvPr/>
        </p:nvSpPr>
        <p:spPr>
          <a:xfrm>
            <a:off x="5048232" y="2126848"/>
            <a:ext cx="426828" cy="7048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04F3228-2FDF-4B20-5F5E-EC9DBC71ACB7}"/>
              </a:ext>
            </a:extLst>
          </p:cNvPr>
          <p:cNvSpPr/>
          <p:nvPr/>
        </p:nvSpPr>
        <p:spPr>
          <a:xfrm>
            <a:off x="5512263" y="2357485"/>
            <a:ext cx="426829" cy="472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7CB8E66-23F1-EE33-7FC1-AC2CA71EBA1A}"/>
              </a:ext>
            </a:extLst>
          </p:cNvPr>
          <p:cNvCxnSpPr>
            <a:cxnSpLocks/>
          </p:cNvCxnSpPr>
          <p:nvPr/>
        </p:nvCxnSpPr>
        <p:spPr>
          <a:xfrm>
            <a:off x="7064489" y="2886203"/>
            <a:ext cx="4852179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A45F526-A071-2B53-B01E-3803F0B4FAFD}"/>
                  </a:ext>
                </a:extLst>
              </p:cNvPr>
              <p:cNvSpPr txBox="1"/>
              <p:nvPr/>
            </p:nvSpPr>
            <p:spPr>
              <a:xfrm>
                <a:off x="6842899" y="2953771"/>
                <a:ext cx="52376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1      2      3      4      5      6      7      8      9     10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A45F526-A071-2B53-B01E-3803F0B4F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899" y="2953771"/>
                <a:ext cx="523767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B5FA3B6-B573-B009-2B62-32E03EFC4A05}"/>
              </a:ext>
            </a:extLst>
          </p:cNvPr>
          <p:cNvSpPr/>
          <p:nvPr/>
        </p:nvSpPr>
        <p:spPr>
          <a:xfrm>
            <a:off x="7558436" y="2144786"/>
            <a:ext cx="426828" cy="7048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AE145E3-2BE3-FC44-BB34-005A1D17487E}"/>
              </a:ext>
            </a:extLst>
          </p:cNvPr>
          <p:cNvSpPr/>
          <p:nvPr/>
        </p:nvSpPr>
        <p:spPr>
          <a:xfrm>
            <a:off x="10363416" y="1807173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03D61A-68BB-8C79-B846-6658FAAD60AF}"/>
              </a:ext>
            </a:extLst>
          </p:cNvPr>
          <p:cNvSpPr/>
          <p:nvPr/>
        </p:nvSpPr>
        <p:spPr>
          <a:xfrm>
            <a:off x="8022466" y="2381477"/>
            <a:ext cx="426829" cy="4663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DC94C0-EEB8-E1D5-780C-287DBBD40E8D}"/>
              </a:ext>
            </a:extLst>
          </p:cNvPr>
          <p:cNvSpPr/>
          <p:nvPr/>
        </p:nvSpPr>
        <p:spPr>
          <a:xfrm>
            <a:off x="9889846" y="2384617"/>
            <a:ext cx="426829" cy="472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6CA40AA-B5CF-78B6-4787-2226C7BBA490}"/>
              </a:ext>
            </a:extLst>
          </p:cNvPr>
          <p:cNvSpPr/>
          <p:nvPr/>
        </p:nvSpPr>
        <p:spPr>
          <a:xfrm>
            <a:off x="8485518" y="1807173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E900AF0-2E22-8799-1CAD-CCCB6A422A17}"/>
              </a:ext>
            </a:extLst>
          </p:cNvPr>
          <p:cNvSpPr/>
          <p:nvPr/>
        </p:nvSpPr>
        <p:spPr>
          <a:xfrm>
            <a:off x="11355030" y="1816367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296093-EBA4-DDC1-CE2B-FFBA648DF0CF}"/>
              </a:ext>
            </a:extLst>
          </p:cNvPr>
          <p:cNvSpPr/>
          <p:nvPr/>
        </p:nvSpPr>
        <p:spPr>
          <a:xfrm>
            <a:off x="10859223" y="1517971"/>
            <a:ext cx="426829" cy="132985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A585D32-1D2C-011E-3439-40740D8029A7}"/>
              </a:ext>
            </a:extLst>
          </p:cNvPr>
          <p:cNvSpPr/>
          <p:nvPr/>
        </p:nvSpPr>
        <p:spPr>
          <a:xfrm>
            <a:off x="9410572" y="2162188"/>
            <a:ext cx="426828" cy="70482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743063-FAFC-08FF-F707-ED788127E3F6}"/>
              </a:ext>
            </a:extLst>
          </p:cNvPr>
          <p:cNvSpPr/>
          <p:nvPr/>
        </p:nvSpPr>
        <p:spPr>
          <a:xfrm>
            <a:off x="8948570" y="2384617"/>
            <a:ext cx="426829" cy="4724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14E33E-6C45-14A9-B445-F3A943008D7C}"/>
              </a:ext>
            </a:extLst>
          </p:cNvPr>
          <p:cNvCxnSpPr>
            <a:cxnSpLocks/>
          </p:cNvCxnSpPr>
          <p:nvPr/>
        </p:nvCxnSpPr>
        <p:spPr>
          <a:xfrm>
            <a:off x="2361796" y="5868009"/>
            <a:ext cx="4852179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422562B-36E2-9599-D75C-CE4A59DEB778}"/>
              </a:ext>
            </a:extLst>
          </p:cNvPr>
          <p:cNvSpPr/>
          <p:nvPr/>
        </p:nvSpPr>
        <p:spPr>
          <a:xfrm>
            <a:off x="2404926" y="5893887"/>
            <a:ext cx="1213832" cy="1413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C55BEB-858D-453D-D12E-A4E5129599E1}"/>
              </a:ext>
            </a:extLst>
          </p:cNvPr>
          <p:cNvSpPr/>
          <p:nvPr/>
        </p:nvSpPr>
        <p:spPr>
          <a:xfrm>
            <a:off x="3631024" y="5887351"/>
            <a:ext cx="1213832" cy="13715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359ECC7-E268-30F7-4EFA-945C169A7E14}"/>
              </a:ext>
            </a:extLst>
          </p:cNvPr>
          <p:cNvSpPr/>
          <p:nvPr/>
        </p:nvSpPr>
        <p:spPr>
          <a:xfrm>
            <a:off x="4844856" y="5893887"/>
            <a:ext cx="1232430" cy="13715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758794E-39A4-1F52-2AEB-53A512E1AE78}"/>
              </a:ext>
            </a:extLst>
          </p:cNvPr>
          <p:cNvSpPr/>
          <p:nvPr/>
        </p:nvSpPr>
        <p:spPr>
          <a:xfrm>
            <a:off x="6089552" y="5876636"/>
            <a:ext cx="1124423" cy="14787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250CEB4-84E6-25A2-D720-AE2931ABB737}"/>
              </a:ext>
            </a:extLst>
          </p:cNvPr>
          <p:cNvSpPr/>
          <p:nvPr/>
        </p:nvSpPr>
        <p:spPr>
          <a:xfrm>
            <a:off x="2404926" y="5173805"/>
            <a:ext cx="1213832" cy="657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B4417E7-0E70-5820-A231-82EEDE02592C}"/>
              </a:ext>
            </a:extLst>
          </p:cNvPr>
          <p:cNvSpPr/>
          <p:nvPr/>
        </p:nvSpPr>
        <p:spPr>
          <a:xfrm>
            <a:off x="3634190" y="5181212"/>
            <a:ext cx="1213832" cy="657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E05F1BD-4336-8786-AAC6-2ACA1FD3D050}"/>
              </a:ext>
            </a:extLst>
          </p:cNvPr>
          <p:cNvSpPr/>
          <p:nvPr/>
        </p:nvSpPr>
        <p:spPr>
          <a:xfrm>
            <a:off x="4854155" y="3847382"/>
            <a:ext cx="1213832" cy="2002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1DA4540-22B2-7A69-AEAA-B43E5FE6A1BC}"/>
              </a:ext>
            </a:extLst>
          </p:cNvPr>
          <p:cNvSpPr/>
          <p:nvPr/>
        </p:nvSpPr>
        <p:spPr>
          <a:xfrm>
            <a:off x="4575575" y="1794684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15ED8DE-1EAD-6103-D0C5-AF9B6EF23FD8}"/>
              </a:ext>
            </a:extLst>
          </p:cNvPr>
          <p:cNvSpPr/>
          <p:nvPr/>
        </p:nvSpPr>
        <p:spPr>
          <a:xfrm>
            <a:off x="7101872" y="1808960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EF5A65C-FBC2-763C-6034-811E61DA5770}"/>
              </a:ext>
            </a:extLst>
          </p:cNvPr>
          <p:cNvSpPr/>
          <p:nvPr/>
        </p:nvSpPr>
        <p:spPr>
          <a:xfrm>
            <a:off x="6070234" y="5422662"/>
            <a:ext cx="1143741" cy="4001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66DF3A7-EA41-9BA2-0C95-52189DB20E28}"/>
                  </a:ext>
                </a:extLst>
              </p:cNvPr>
              <p:cNvSpPr txBox="1"/>
              <p:nvPr/>
            </p:nvSpPr>
            <p:spPr>
              <a:xfrm>
                <a:off x="5671422" y="2043673"/>
                <a:ext cx="173414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66DF3A7-EA41-9BA2-0C95-52189DB20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422" y="2043673"/>
                <a:ext cx="17341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AF625698-2610-4966-636A-AECBD2DEBCB0}"/>
              </a:ext>
            </a:extLst>
          </p:cNvPr>
          <p:cNvSpPr txBox="1"/>
          <p:nvPr/>
        </p:nvSpPr>
        <p:spPr>
          <a:xfrm>
            <a:off x="56365" y="1517971"/>
            <a:ext cx="1329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probability weights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AD707A-07C5-A10F-C9A9-6AD1045DD3C4}"/>
              </a:ext>
            </a:extLst>
          </p:cNvPr>
          <p:cNvSpPr txBox="1"/>
          <p:nvPr/>
        </p:nvSpPr>
        <p:spPr>
          <a:xfrm>
            <a:off x="3874571" y="6254489"/>
            <a:ext cx="2968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weights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1048D7-6333-EF86-41CD-EC3C028C418B}"/>
              </a:ext>
            </a:extLst>
          </p:cNvPr>
          <p:cNvSpPr txBox="1"/>
          <p:nvPr/>
        </p:nvSpPr>
        <p:spPr>
          <a:xfrm>
            <a:off x="691860" y="4719547"/>
            <a:ext cx="1706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mass on elements with given weight</a:t>
            </a:r>
          </a:p>
        </p:txBody>
      </p:sp>
    </p:spTree>
    <p:extLst>
      <p:ext uri="{BB962C8B-B14F-4D97-AF65-F5344CB8AC3E}">
        <p14:creationId xmlns:p14="http://schemas.microsoft.com/office/powerpoint/2010/main" val="81357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9" grpId="0" animBg="1"/>
      <p:bldP spid="66" grpId="0"/>
      <p:bldP spid="6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D246-00EC-ACC3-EF9B-61B069A1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49FE660-0D3D-8341-56DD-2C5EC7F45B96}"/>
              </a:ext>
            </a:extLst>
          </p:cNvPr>
          <p:cNvSpPr/>
          <p:nvPr/>
        </p:nvSpPr>
        <p:spPr>
          <a:xfrm>
            <a:off x="7266254" y="1127524"/>
            <a:ext cx="4080736" cy="1621660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E0C61-8170-8131-2B47-7C5B49C3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4" y="-83449"/>
            <a:ext cx="10515600" cy="1325563"/>
          </a:xfrm>
        </p:spPr>
        <p:txBody>
          <a:bodyPr/>
          <a:lstStyle/>
          <a:p>
            <a:r>
              <a:rPr lang="en-US" dirty="0"/>
              <a:t>Bucket Histograms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6837B50-BDC4-028B-35F5-F03F94CEEC49}"/>
              </a:ext>
            </a:extLst>
          </p:cNvPr>
          <p:cNvCxnSpPr>
            <a:cxnSpLocks/>
          </p:cNvCxnSpPr>
          <p:nvPr/>
        </p:nvCxnSpPr>
        <p:spPr>
          <a:xfrm flipV="1">
            <a:off x="881507" y="5093335"/>
            <a:ext cx="10496730" cy="29187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9CF3E6F-B815-8D96-FF9A-6B02F5C18BCE}"/>
              </a:ext>
            </a:extLst>
          </p:cNvPr>
          <p:cNvSpPr/>
          <p:nvPr/>
        </p:nvSpPr>
        <p:spPr>
          <a:xfrm>
            <a:off x="924637" y="5139774"/>
            <a:ext cx="1213832" cy="1413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847AAFB-3A52-AE13-C4A1-706DD1CDFC4A}"/>
              </a:ext>
            </a:extLst>
          </p:cNvPr>
          <p:cNvSpPr/>
          <p:nvPr/>
        </p:nvSpPr>
        <p:spPr>
          <a:xfrm>
            <a:off x="2150735" y="5141864"/>
            <a:ext cx="1213832" cy="13715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79099B-AADD-A692-2E1D-B41F7C74DC2A}"/>
              </a:ext>
            </a:extLst>
          </p:cNvPr>
          <p:cNvSpPr/>
          <p:nvPr/>
        </p:nvSpPr>
        <p:spPr>
          <a:xfrm>
            <a:off x="5627642" y="5122522"/>
            <a:ext cx="1143742" cy="1222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4A3179E-08AA-3267-6709-A1FB85894320}"/>
              </a:ext>
            </a:extLst>
          </p:cNvPr>
          <p:cNvSpPr/>
          <p:nvPr/>
        </p:nvSpPr>
        <p:spPr>
          <a:xfrm>
            <a:off x="9013074" y="5105447"/>
            <a:ext cx="1124423" cy="14787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233D21-669D-F347-50A9-7F221A161EA2}"/>
              </a:ext>
            </a:extLst>
          </p:cNvPr>
          <p:cNvSpPr/>
          <p:nvPr/>
        </p:nvSpPr>
        <p:spPr>
          <a:xfrm>
            <a:off x="924637" y="3572897"/>
            <a:ext cx="1213832" cy="1513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76DD518-1363-7F00-CD6E-5C055069FCA0}"/>
              </a:ext>
            </a:extLst>
          </p:cNvPr>
          <p:cNvSpPr/>
          <p:nvPr/>
        </p:nvSpPr>
        <p:spPr>
          <a:xfrm>
            <a:off x="2153901" y="4190690"/>
            <a:ext cx="1213832" cy="9026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3472417-7E5A-7B94-0EBC-4E039680D78C}"/>
              </a:ext>
            </a:extLst>
          </p:cNvPr>
          <p:cNvSpPr/>
          <p:nvPr/>
        </p:nvSpPr>
        <p:spPr>
          <a:xfrm>
            <a:off x="5627642" y="3847776"/>
            <a:ext cx="1143741" cy="12418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7C290EB-1D03-AE5C-2C41-9E337DF42731}"/>
              </a:ext>
            </a:extLst>
          </p:cNvPr>
          <p:cNvSpPr txBox="1"/>
          <p:nvPr/>
        </p:nvSpPr>
        <p:spPr>
          <a:xfrm>
            <a:off x="4440476" y="5966309"/>
            <a:ext cx="30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probability weight buckets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2D61C44-F0CC-D21A-90EF-0D8731D3F8EA}"/>
              </a:ext>
            </a:extLst>
          </p:cNvPr>
          <p:cNvSpPr txBox="1"/>
          <p:nvPr/>
        </p:nvSpPr>
        <p:spPr>
          <a:xfrm rot="16200000">
            <a:off x="-166744" y="4041894"/>
            <a:ext cx="1428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total weight in bucket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3D6BE-77BA-595F-96C7-9CB05C2AC74B}"/>
              </a:ext>
            </a:extLst>
          </p:cNvPr>
          <p:cNvSpPr txBox="1"/>
          <p:nvPr/>
        </p:nvSpPr>
        <p:spPr>
          <a:xfrm>
            <a:off x="5703532" y="348499"/>
            <a:ext cx="5959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Even when probabilities are not so nice…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5675C7-543D-2658-EFC7-FF0863134883}"/>
                  </a:ext>
                </a:extLst>
              </p:cNvPr>
              <p:cNvSpPr txBox="1"/>
              <p:nvPr/>
            </p:nvSpPr>
            <p:spPr>
              <a:xfrm>
                <a:off x="613593" y="5371824"/>
                <a:ext cx="62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5675C7-543D-2658-EFC7-FF0863134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93" y="5371824"/>
                <a:ext cx="62208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730528-C663-672D-FE21-E2CD36B33A73}"/>
                  </a:ext>
                </a:extLst>
              </p:cNvPr>
              <p:cNvSpPr txBox="1"/>
              <p:nvPr/>
            </p:nvSpPr>
            <p:spPr>
              <a:xfrm>
                <a:off x="2511686" y="5278890"/>
                <a:ext cx="1705761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730528-C663-672D-FE21-E2CD36B33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686" y="5278890"/>
                <a:ext cx="1705761" cy="5533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16ADEF-0EA1-D312-59F4-C43A3C9166E9}"/>
                  </a:ext>
                </a:extLst>
              </p:cNvPr>
              <p:cNvSpPr txBox="1"/>
              <p:nvPr/>
            </p:nvSpPr>
            <p:spPr>
              <a:xfrm>
                <a:off x="1315745" y="5285569"/>
                <a:ext cx="1705761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16ADEF-0EA1-D312-59F4-C43A3C916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5745" y="5285569"/>
                <a:ext cx="1705761" cy="553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819CCA-E4E7-4150-7F56-31BDCE2DC36B}"/>
                  </a:ext>
                </a:extLst>
              </p:cNvPr>
              <p:cNvSpPr txBox="1"/>
              <p:nvPr/>
            </p:nvSpPr>
            <p:spPr>
              <a:xfrm>
                <a:off x="10480550" y="5253421"/>
                <a:ext cx="1705761" cy="584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2819CCA-E4E7-4150-7F56-31BDCE2DC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0550" y="5253421"/>
                <a:ext cx="1705761" cy="584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8B8185-5C4B-271E-07EF-A404C6A4F445}"/>
                  </a:ext>
                </a:extLst>
              </p:cNvPr>
              <p:cNvSpPr txBox="1"/>
              <p:nvPr/>
            </p:nvSpPr>
            <p:spPr>
              <a:xfrm>
                <a:off x="9373380" y="5244787"/>
                <a:ext cx="1705761" cy="584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8B8185-5C4B-271E-07EF-A404C6A4F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3380" y="5244787"/>
                <a:ext cx="1705761" cy="5849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3AE1BC-37AD-ABC6-6E17-B03D8F6E21C6}"/>
                  </a:ext>
                </a:extLst>
              </p:cNvPr>
              <p:cNvSpPr txBox="1"/>
              <p:nvPr/>
            </p:nvSpPr>
            <p:spPr>
              <a:xfrm>
                <a:off x="4812731" y="5244787"/>
                <a:ext cx="1705761" cy="593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03AE1BC-37AD-ABC6-6E17-B03D8F6E2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731" y="5244787"/>
                <a:ext cx="1705761" cy="5935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8FC71F-5411-D4DC-1F00-7489C9F5C4AE}"/>
                  </a:ext>
                </a:extLst>
              </p:cNvPr>
              <p:cNvSpPr txBox="1"/>
              <p:nvPr/>
            </p:nvSpPr>
            <p:spPr>
              <a:xfrm>
                <a:off x="5937153" y="5235073"/>
                <a:ext cx="1705761" cy="593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8FC71F-5411-D4DC-1F00-7489C9F5C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153" y="5235073"/>
                <a:ext cx="1705761" cy="5935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AB112729-AD91-BAC5-7EE8-4F024166F3C9}"/>
              </a:ext>
            </a:extLst>
          </p:cNvPr>
          <p:cNvSpPr/>
          <p:nvPr/>
        </p:nvSpPr>
        <p:spPr>
          <a:xfrm>
            <a:off x="10150951" y="5113764"/>
            <a:ext cx="1213832" cy="13715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DCB496-4723-DFDE-560F-33125FF29903}"/>
              </a:ext>
            </a:extLst>
          </p:cNvPr>
          <p:cNvSpPr/>
          <p:nvPr/>
        </p:nvSpPr>
        <p:spPr>
          <a:xfrm>
            <a:off x="9013074" y="4278251"/>
            <a:ext cx="1143741" cy="7957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4A6FE9-9D25-E6E5-89D9-168555F20FD9}"/>
              </a:ext>
            </a:extLst>
          </p:cNvPr>
          <p:cNvSpPr/>
          <p:nvPr/>
        </p:nvSpPr>
        <p:spPr>
          <a:xfrm>
            <a:off x="10168204" y="3737169"/>
            <a:ext cx="1178786" cy="13294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A5EB5D-FF39-DC3C-3E5B-D8A861F72C6F}"/>
              </a:ext>
            </a:extLst>
          </p:cNvPr>
          <p:cNvSpPr txBox="1"/>
          <p:nvPr/>
        </p:nvSpPr>
        <p:spPr>
          <a:xfrm>
            <a:off x="4203467" y="5210441"/>
            <a:ext cx="6469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E58CDD-DEE6-30C6-5FAA-224CDBB2C2D8}"/>
              </a:ext>
            </a:extLst>
          </p:cNvPr>
          <p:cNvSpPr txBox="1"/>
          <p:nvPr/>
        </p:nvSpPr>
        <p:spPr>
          <a:xfrm>
            <a:off x="7787009" y="5226540"/>
            <a:ext cx="64698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B79D61-28F8-5E96-9D00-F7C26F864D2C}"/>
                  </a:ext>
                </a:extLst>
              </p:cNvPr>
              <p:cNvSpPr txBox="1"/>
              <p:nvPr/>
            </p:nvSpPr>
            <p:spPr>
              <a:xfrm>
                <a:off x="8283925" y="5251570"/>
                <a:ext cx="1705761" cy="584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B79D61-28F8-5E96-9D00-F7C26F864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3925" y="5251570"/>
                <a:ext cx="1705761" cy="5849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706E97-318F-19C6-22E4-9FB6A9C77128}"/>
                  </a:ext>
                </a:extLst>
              </p:cNvPr>
              <p:cNvSpPr txBox="1"/>
              <p:nvPr/>
            </p:nvSpPr>
            <p:spPr>
              <a:xfrm>
                <a:off x="7723247" y="1261980"/>
                <a:ext cx="3252381" cy="1372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u="sng" dirty="0"/>
                  <a:t>Hope:</a:t>
                </a:r>
                <a:r>
                  <a:rPr lang="en-US" sz="2400" b="0" dirty="0"/>
                  <a:t> only need to learn a histogram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sz="2400" dirty="0"/>
                  <a:t> bins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706E97-318F-19C6-22E4-9FB6A9C77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247" y="1261980"/>
                <a:ext cx="3252381" cy="1372812"/>
              </a:xfrm>
              <a:prstGeom prst="rect">
                <a:avLst/>
              </a:prstGeom>
              <a:blipFill>
                <a:blip r:embed="rId10"/>
                <a:stretch>
                  <a:fillRect l="-3002" t="-3556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F54374-9E6C-8940-7C65-C413C20B8133}"/>
                  </a:ext>
                </a:extLst>
              </p:cNvPr>
              <p:cNvSpPr txBox="1"/>
              <p:nvPr/>
            </p:nvSpPr>
            <p:spPr>
              <a:xfrm>
                <a:off x="259410" y="1330033"/>
                <a:ext cx="621783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Learning a distribution’s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/>
                  <a:t>-bucket histogram suffices to learn any label-invariant property</a:t>
                </a:r>
              </a:p>
              <a:p>
                <a:r>
                  <a:rPr lang="en-US" dirty="0"/>
                  <a:t>[Batu-Fischer-Fortnow-Kumar-Rubinfeld-White-01, …, Herman-Rothblum22, Herman-Rothblum23]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F54374-9E6C-8940-7C65-C413C20B8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10" y="1330033"/>
                <a:ext cx="6217835" cy="1384995"/>
              </a:xfrm>
              <a:prstGeom prst="rect">
                <a:avLst/>
              </a:prstGeom>
              <a:blipFill>
                <a:blip r:embed="rId11"/>
                <a:stretch>
                  <a:fillRect l="-1569" t="-3524" b="-6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087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3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277D3-404D-FC65-119B-C3501D48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08907D-EC7E-A5F1-A6AE-E7D574C9B2B5}"/>
              </a:ext>
            </a:extLst>
          </p:cNvPr>
          <p:cNvSpPr/>
          <p:nvPr/>
        </p:nvSpPr>
        <p:spPr>
          <a:xfrm>
            <a:off x="6393708" y="64050"/>
            <a:ext cx="5736746" cy="127512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2ECB4A-CA16-853D-4EB0-2800FC1348D8}"/>
              </a:ext>
            </a:extLst>
          </p:cNvPr>
          <p:cNvSpPr/>
          <p:nvPr/>
        </p:nvSpPr>
        <p:spPr>
          <a:xfrm>
            <a:off x="1682234" y="2389182"/>
            <a:ext cx="8606384" cy="2235572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AA2981-0009-5C89-AFB7-D0E4B8D09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6"/>
            <a:ext cx="7634557" cy="876124"/>
          </a:xfrm>
        </p:spPr>
        <p:txBody>
          <a:bodyPr/>
          <a:lstStyle/>
          <a:p>
            <a:r>
              <a:rPr lang="en-US" dirty="0"/>
              <a:t>Proof Overview</a:t>
            </a:r>
            <a:endParaRPr lang="en-US" sz="28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6922A9-FA53-C297-082D-074734756A87}"/>
                  </a:ext>
                </a:extLst>
              </p:cNvPr>
              <p:cNvSpPr txBox="1"/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Every label-invariant property can be verified using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000" dirty="0"/>
                  <a:t> samples,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000" dirty="0"/>
                  <a:t> queries, and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communication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6922A9-FA53-C297-082D-074734756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blipFill>
                <a:blip r:embed="rId2"/>
                <a:stretch>
                  <a:fillRect l="-1169" t="-2655" b="-6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D68ED3-D117-3874-D987-8B3E99A3B7B4}"/>
              </a:ext>
            </a:extLst>
          </p:cNvPr>
          <p:cNvSpPr txBox="1"/>
          <p:nvPr/>
        </p:nvSpPr>
        <p:spPr>
          <a:xfrm>
            <a:off x="180975" y="1345070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1. Verifying a label-invariant property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D454F-5BD8-507B-6241-F0FEC3386BBF}"/>
              </a:ext>
            </a:extLst>
          </p:cNvPr>
          <p:cNvSpPr txBox="1"/>
          <p:nvPr/>
        </p:nvSpPr>
        <p:spPr>
          <a:xfrm>
            <a:off x="1903382" y="2532532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2. Verifying a bucket histogram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39038-3C17-0464-350E-AB2FDE31C011}"/>
              </a:ext>
            </a:extLst>
          </p:cNvPr>
          <p:cNvSpPr txBox="1"/>
          <p:nvPr/>
        </p:nvSpPr>
        <p:spPr>
          <a:xfrm>
            <a:off x="3415879" y="3914565"/>
            <a:ext cx="66252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3. Verifying the probability mass of one 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9DD70E-23B1-0B13-292F-0B35A37E0FE4}"/>
              </a:ext>
            </a:extLst>
          </p:cNvPr>
          <p:cNvSpPr txBox="1"/>
          <p:nvPr/>
        </p:nvSpPr>
        <p:spPr>
          <a:xfrm>
            <a:off x="6304382" y="5296598"/>
            <a:ext cx="603849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4. Verifying the support size of a nearly-flat distribution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6CB5003-9B81-215C-8049-E7EB677123A9}"/>
              </a:ext>
            </a:extLst>
          </p:cNvPr>
          <p:cNvSpPr/>
          <p:nvPr/>
        </p:nvSpPr>
        <p:spPr>
          <a:xfrm rot="15552840" flipV="1">
            <a:off x="4616226" y="111176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5A8FC64A-998C-1F63-47B3-4ECDF6A52EF1}"/>
              </a:ext>
            </a:extLst>
          </p:cNvPr>
          <p:cNvSpPr/>
          <p:nvPr/>
        </p:nvSpPr>
        <p:spPr>
          <a:xfrm rot="15552840" flipV="1">
            <a:off x="6781276" y="2443074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4376C206-FF5A-E632-ABD2-51189D75DEA5}"/>
              </a:ext>
            </a:extLst>
          </p:cNvPr>
          <p:cNvSpPr/>
          <p:nvPr/>
        </p:nvSpPr>
        <p:spPr>
          <a:xfrm rot="15552840" flipV="1">
            <a:off x="9331819" y="378042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6320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C2BC4-09A1-CB8B-07F4-3327E19C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C164BA6-D676-6F69-A241-778AE7C7F803}"/>
              </a:ext>
            </a:extLst>
          </p:cNvPr>
          <p:cNvSpPr/>
          <p:nvPr/>
        </p:nvSpPr>
        <p:spPr>
          <a:xfrm>
            <a:off x="6701113" y="3907678"/>
            <a:ext cx="5410374" cy="18130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58FF4-F0B4-312F-42A1-0EBB53B2B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54" y="-83449"/>
            <a:ext cx="10515600" cy="1325563"/>
          </a:xfrm>
        </p:spPr>
        <p:txBody>
          <a:bodyPr/>
          <a:lstStyle/>
          <a:p>
            <a:r>
              <a:rPr lang="en-US" dirty="0"/>
              <a:t>Verifying a Bucket Histogram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1FC2C5-C178-638C-DCB3-E09F48602827}"/>
              </a:ext>
            </a:extLst>
          </p:cNvPr>
          <p:cNvGrpSpPr/>
          <p:nvPr/>
        </p:nvGrpSpPr>
        <p:grpSpPr>
          <a:xfrm>
            <a:off x="6984993" y="175103"/>
            <a:ext cx="5025853" cy="1407954"/>
            <a:chOff x="852374" y="3572897"/>
            <a:chExt cx="10525863" cy="2279477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E54D357-B5B7-00A4-F395-7EB15340A1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507" y="5093335"/>
              <a:ext cx="10496730" cy="29187"/>
            </a:xfrm>
            <a:prstGeom prst="line">
              <a:avLst/>
            </a:prstGeom>
            <a:ln w="508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C97FC5F-4E0E-23B4-8338-373902B1F846}"/>
                </a:ext>
              </a:extLst>
            </p:cNvPr>
            <p:cNvSpPr/>
            <p:nvPr/>
          </p:nvSpPr>
          <p:spPr>
            <a:xfrm>
              <a:off x="924637" y="5125809"/>
              <a:ext cx="1213831" cy="14133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C49B5D9-AE62-F3D4-815C-B8C6F6002DF8}"/>
                </a:ext>
              </a:extLst>
            </p:cNvPr>
            <p:cNvSpPr/>
            <p:nvPr/>
          </p:nvSpPr>
          <p:spPr>
            <a:xfrm>
              <a:off x="2150735" y="5141864"/>
              <a:ext cx="1213832" cy="137155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0A564A8-9E8B-C86C-2792-13EFC6375D12}"/>
                </a:ext>
              </a:extLst>
            </p:cNvPr>
            <p:cNvSpPr/>
            <p:nvPr/>
          </p:nvSpPr>
          <p:spPr>
            <a:xfrm>
              <a:off x="5627642" y="5122522"/>
              <a:ext cx="1143742" cy="122265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2CFF14B-408F-7B3A-3B14-A0A3253A20F4}"/>
                </a:ext>
              </a:extLst>
            </p:cNvPr>
            <p:cNvSpPr/>
            <p:nvPr/>
          </p:nvSpPr>
          <p:spPr>
            <a:xfrm>
              <a:off x="9013074" y="5091481"/>
              <a:ext cx="1124424" cy="147873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58AC2D4-7496-F004-2A8E-0CE0F19644A7}"/>
                </a:ext>
              </a:extLst>
            </p:cNvPr>
            <p:cNvSpPr/>
            <p:nvPr/>
          </p:nvSpPr>
          <p:spPr>
            <a:xfrm>
              <a:off x="924637" y="3572897"/>
              <a:ext cx="1213832" cy="15130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FA75CBF-86B2-7A71-401D-7A09D6CD1474}"/>
                </a:ext>
              </a:extLst>
            </p:cNvPr>
            <p:cNvSpPr/>
            <p:nvPr/>
          </p:nvSpPr>
          <p:spPr>
            <a:xfrm>
              <a:off x="2153901" y="4190690"/>
              <a:ext cx="1213832" cy="9026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EDE08D5-1A1E-2C43-0014-2D5EFC518D35}"/>
                </a:ext>
              </a:extLst>
            </p:cNvPr>
            <p:cNvSpPr/>
            <p:nvPr/>
          </p:nvSpPr>
          <p:spPr>
            <a:xfrm>
              <a:off x="5627642" y="3847776"/>
              <a:ext cx="1143741" cy="124185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7038008-4F1F-E7BC-8B9D-B6672C5C7FCB}"/>
                    </a:ext>
                  </a:extLst>
                </p:cNvPr>
                <p:cNvSpPr txBox="1"/>
                <p:nvPr/>
              </p:nvSpPr>
              <p:spPr>
                <a:xfrm>
                  <a:off x="852374" y="5278890"/>
                  <a:ext cx="1394736" cy="3986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0" dirty="0"/>
                    <a:t>Bucket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7038008-4F1F-E7BC-8B9D-B6672C5C7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374" y="5278890"/>
                  <a:ext cx="1394736" cy="398632"/>
                </a:xfrm>
                <a:prstGeom prst="rect">
                  <a:avLst/>
                </a:prstGeom>
                <a:blipFill>
                  <a:blip r:embed="rId2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B9C115-7185-3EDE-B886-87B7108420DA}"/>
                </a:ext>
              </a:extLst>
            </p:cNvPr>
            <p:cNvSpPr/>
            <p:nvPr/>
          </p:nvSpPr>
          <p:spPr>
            <a:xfrm>
              <a:off x="10150951" y="5113764"/>
              <a:ext cx="1213832" cy="137155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34A7070-B970-EE84-0A37-C8B2C5C02174}"/>
                </a:ext>
              </a:extLst>
            </p:cNvPr>
            <p:cNvSpPr/>
            <p:nvPr/>
          </p:nvSpPr>
          <p:spPr>
            <a:xfrm>
              <a:off x="9013074" y="4278251"/>
              <a:ext cx="1143741" cy="79574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15B215E-069E-279C-8267-02118E40A45D}"/>
                </a:ext>
              </a:extLst>
            </p:cNvPr>
            <p:cNvSpPr/>
            <p:nvPr/>
          </p:nvSpPr>
          <p:spPr>
            <a:xfrm>
              <a:off x="10168204" y="3737169"/>
              <a:ext cx="1178786" cy="132945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497A19-F229-88D3-5E2B-33D2EE9AAA1B}"/>
                </a:ext>
              </a:extLst>
            </p:cNvPr>
            <p:cNvSpPr txBox="1"/>
            <p:nvPr/>
          </p:nvSpPr>
          <p:spPr>
            <a:xfrm>
              <a:off x="4203467" y="5210441"/>
              <a:ext cx="64698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/>
                <a:t>…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6350A6-441F-0C26-D13F-37423B0E2312}"/>
                </a:ext>
              </a:extLst>
            </p:cNvPr>
            <p:cNvSpPr txBox="1"/>
            <p:nvPr/>
          </p:nvSpPr>
          <p:spPr>
            <a:xfrm>
              <a:off x="7787009" y="5226540"/>
              <a:ext cx="64698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/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55D5311-721B-0EE1-4670-AD4DB258087A}"/>
                    </a:ext>
                  </a:extLst>
                </p:cNvPr>
                <p:cNvSpPr txBox="1"/>
                <p:nvPr/>
              </p:nvSpPr>
              <p:spPr>
                <a:xfrm>
                  <a:off x="2123869" y="5271997"/>
                  <a:ext cx="1472190" cy="3986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0" dirty="0"/>
                    <a:t>Bucket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55D5311-721B-0EE1-4670-AD4DB25808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869" y="5271997"/>
                  <a:ext cx="1472190" cy="398632"/>
                </a:xfrm>
                <a:prstGeom prst="rect">
                  <a:avLst/>
                </a:prstGeom>
                <a:blipFill>
                  <a:blip r:embed="rId3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E5F172C-BFB9-1429-C4A8-98478406C1BA}"/>
                    </a:ext>
                  </a:extLst>
                </p:cNvPr>
                <p:cNvSpPr txBox="1"/>
                <p:nvPr/>
              </p:nvSpPr>
              <p:spPr>
                <a:xfrm>
                  <a:off x="5544820" y="5261065"/>
                  <a:ext cx="1442100" cy="3986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b="0" dirty="0"/>
                    <a:t>Bucket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E5F172C-BFB9-1429-C4A8-98478406C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4820" y="5261065"/>
                  <a:ext cx="1442100" cy="398632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B1E89B7-2E09-9F35-BF41-A6DAA14CBEF3}"/>
                    </a:ext>
                  </a:extLst>
                </p:cNvPr>
                <p:cNvSpPr txBox="1"/>
                <p:nvPr/>
              </p:nvSpPr>
              <p:spPr>
                <a:xfrm>
                  <a:off x="8748070" y="5204596"/>
                  <a:ext cx="1584899" cy="64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00" b="0" dirty="0"/>
                    <a:t>Bucket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B1E89B7-2E09-9F35-BF41-A6DAA14CBE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8070" y="5204596"/>
                  <a:ext cx="1584899" cy="64777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693212-A119-81DD-1CD5-B5780D688774}"/>
                  </a:ext>
                </a:extLst>
              </p:cNvPr>
              <p:cNvSpPr txBox="1"/>
              <p:nvPr/>
            </p:nvSpPr>
            <p:spPr>
              <a:xfrm>
                <a:off x="11409076" y="1191200"/>
                <a:ext cx="15848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0" dirty="0"/>
                  <a:t>Bucket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693212-A119-81DD-1CD5-B5780D688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9076" y="1191200"/>
                <a:ext cx="1584898" cy="246221"/>
              </a:xfrm>
              <a:prstGeom prst="rect">
                <a:avLst/>
              </a:prstGeom>
              <a:blipFill>
                <a:blip r:embed="rId6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2" descr="The Elusive Aardvark - Needles Lodge">
            <a:extLst>
              <a:ext uri="{FF2B5EF4-FFF2-40B4-BE49-F238E27FC236}">
                <a16:creationId xmlns:a16="http://schemas.microsoft.com/office/drawing/2014/main" id="{1D493458-B49F-31E7-E61F-F89EF2973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203" y="1665326"/>
            <a:ext cx="1437973" cy="88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AEC44D-30C3-AA27-77EF-572EC20F2960}"/>
                  </a:ext>
                </a:extLst>
              </p:cNvPr>
              <p:cNvSpPr txBox="1"/>
              <p:nvPr/>
            </p:nvSpPr>
            <p:spPr>
              <a:xfrm>
                <a:off x="4759203" y="1204416"/>
                <a:ext cx="17607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Verifier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AEC44D-30C3-AA27-77EF-572EC20F2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203" y="1204416"/>
                <a:ext cx="1760756" cy="461665"/>
              </a:xfrm>
              <a:prstGeom prst="rect">
                <a:avLst/>
              </a:prstGeom>
              <a:blipFill>
                <a:blip r:embed="rId8"/>
                <a:stretch>
                  <a:fillRect l="-5536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902F1ED-BBE6-1094-F316-5DF50AB5AC85}"/>
              </a:ext>
            </a:extLst>
          </p:cNvPr>
          <p:cNvCxnSpPr>
            <a:cxnSpLocks/>
          </p:cNvCxnSpPr>
          <p:nvPr/>
        </p:nvCxnSpPr>
        <p:spPr>
          <a:xfrm>
            <a:off x="2464515" y="3158143"/>
            <a:ext cx="175454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113215-CDB9-0AE4-0208-26FAD66C6BF0}"/>
                  </a:ext>
                </a:extLst>
              </p:cNvPr>
              <p:cNvSpPr txBox="1"/>
              <p:nvPr/>
            </p:nvSpPr>
            <p:spPr>
              <a:xfrm>
                <a:off x="613224" y="1206064"/>
                <a:ext cx="1508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113215-CDB9-0AE4-0208-26FAD66C6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24" y="1206064"/>
                <a:ext cx="1508195" cy="461665"/>
              </a:xfrm>
              <a:prstGeom prst="rect">
                <a:avLst/>
              </a:prstGeom>
              <a:blipFill>
                <a:blip r:embed="rId10"/>
                <a:stretch>
                  <a:fillRect l="-647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B23CE5-0521-F7AF-228F-154127CD4621}"/>
                  </a:ext>
                </a:extLst>
              </p:cNvPr>
              <p:cNvSpPr txBox="1"/>
              <p:nvPr/>
            </p:nvSpPr>
            <p:spPr>
              <a:xfrm>
                <a:off x="6727814" y="1761949"/>
                <a:ext cx="5490887" cy="422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sz="2400" dirty="0"/>
                  <a:t>Verifier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 for some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sz="2400" b="0" dirty="0"/>
              </a:p>
              <a:p>
                <a:pPr marL="342900" indent="-342900">
                  <a:buAutoNum type="arabicPeriod"/>
                </a:pPr>
                <a:endParaRPr lang="en-US" sz="2400" dirty="0"/>
              </a:p>
              <a:p>
                <a:pPr marL="342900" indent="-342900">
                  <a:buAutoNum type="arabicPeriod"/>
                </a:pPr>
                <a:r>
                  <a:rPr lang="en-US" sz="2400" dirty="0"/>
                  <a:t>Prover sends back “tags”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      claiming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from bucket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3. Prover sends “anchor points”</a:t>
                </a:r>
              </a:p>
              <a:p>
                <a:r>
                  <a:rPr lang="en-US" sz="2400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 claiming that each</a:t>
                </a:r>
              </a:p>
              <a:p>
                <a:r>
                  <a:rPr lang="en-US" sz="2400" dirty="0"/>
                  <a:t>    	a)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is in bucket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	b)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has a “heavy neighborhood”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B23CE5-0521-F7AF-228F-154127CD4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814" y="1761949"/>
                <a:ext cx="5490887" cy="4223529"/>
              </a:xfrm>
              <a:prstGeom prst="rect">
                <a:avLst/>
              </a:prstGeom>
              <a:blipFill>
                <a:blip r:embed="rId11"/>
                <a:stretch>
                  <a:fillRect l="-1778" t="-1299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0251C3-28FF-D768-3411-AC4ED467CA85}"/>
                  </a:ext>
                </a:extLst>
              </p:cNvPr>
              <p:cNvSpPr txBox="1"/>
              <p:nvPr/>
            </p:nvSpPr>
            <p:spPr>
              <a:xfrm>
                <a:off x="2464515" y="2554508"/>
                <a:ext cx="17545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0251C3-28FF-D768-3411-AC4ED467C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515" y="2554508"/>
                <a:ext cx="175454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42B5CC1-D906-1F73-7A36-F37E96A4EF81}"/>
              </a:ext>
            </a:extLst>
          </p:cNvPr>
          <p:cNvCxnSpPr>
            <a:cxnSpLocks/>
          </p:cNvCxnSpPr>
          <p:nvPr/>
        </p:nvCxnSpPr>
        <p:spPr>
          <a:xfrm>
            <a:off x="2464515" y="4072659"/>
            <a:ext cx="175454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33723CD-7E81-7BE3-D709-3A8B86DD6883}"/>
                  </a:ext>
                </a:extLst>
              </p:cNvPr>
              <p:cNvSpPr txBox="1"/>
              <p:nvPr/>
            </p:nvSpPr>
            <p:spPr>
              <a:xfrm>
                <a:off x="2464515" y="3469024"/>
                <a:ext cx="17545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33723CD-7E81-7BE3-D709-3A8B86DD6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515" y="3469024"/>
                <a:ext cx="1754545" cy="461665"/>
              </a:xfrm>
              <a:prstGeom prst="rect">
                <a:avLst/>
              </a:prstGeom>
              <a:blipFill>
                <a:blip r:embed="rId1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7333E6-29C7-A731-C7E4-697F72A18944}"/>
              </a:ext>
            </a:extLst>
          </p:cNvPr>
          <p:cNvCxnSpPr>
            <a:cxnSpLocks/>
          </p:cNvCxnSpPr>
          <p:nvPr/>
        </p:nvCxnSpPr>
        <p:spPr>
          <a:xfrm>
            <a:off x="2464515" y="5122207"/>
            <a:ext cx="175454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20EA12-5A6D-19E3-8911-E008F72EB0F6}"/>
                  </a:ext>
                </a:extLst>
              </p:cNvPr>
              <p:cNvSpPr txBox="1"/>
              <p:nvPr/>
            </p:nvSpPr>
            <p:spPr>
              <a:xfrm>
                <a:off x="2464515" y="4518572"/>
                <a:ext cx="17545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920EA12-5A6D-19E3-8911-E008F72EB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515" y="4518572"/>
                <a:ext cx="1754545" cy="461665"/>
              </a:xfrm>
              <a:prstGeom prst="rect">
                <a:avLst/>
              </a:prstGeom>
              <a:blipFill>
                <a:blip r:embed="rId1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7A0E19A-0444-A151-0F50-29AEB46DD596}"/>
                  </a:ext>
                </a:extLst>
              </p:cNvPr>
              <p:cNvSpPr txBox="1"/>
              <p:nvPr/>
            </p:nvSpPr>
            <p:spPr>
              <a:xfrm>
                <a:off x="5438954" y="5828330"/>
                <a:ext cx="7039155" cy="867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4. Verifier uses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𝑃𝐶𝑂𝑁𝐷</m:t>
                    </m:r>
                  </m:oMath>
                </a14:m>
                <a:r>
                  <a:rPr lang="en-US" sz="2400" dirty="0"/>
                  <a:t> queries to compare pairs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])</m:t>
                    </m:r>
                  </m:oMath>
                </a14:m>
                <a:r>
                  <a:rPr lang="en-US" sz="2400" dirty="0"/>
                  <a:t> to confirm bucket tags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7A0E19A-0444-A151-0F50-29AEB46DD5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954" y="5828330"/>
                <a:ext cx="7039155" cy="867032"/>
              </a:xfrm>
              <a:prstGeom prst="rect">
                <a:avLst/>
              </a:prstGeom>
              <a:blipFill>
                <a:blip r:embed="rId15"/>
                <a:stretch>
                  <a:fillRect l="-1299" t="-5634" b="-1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D4D9797C-F392-21A5-7963-3801F0BCB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73" y="1665326"/>
            <a:ext cx="1311149" cy="98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00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4" grpId="0"/>
      <p:bldP spid="36" grpId="0"/>
      <p:bldP spid="38" grpId="0"/>
      <p:bldP spid="3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DD4C4-F738-796E-010B-AC482935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D9D117-E6DB-FBF6-7B2B-61211E128545}"/>
              </a:ext>
            </a:extLst>
          </p:cNvPr>
          <p:cNvSpPr/>
          <p:nvPr/>
        </p:nvSpPr>
        <p:spPr>
          <a:xfrm>
            <a:off x="6393708" y="64050"/>
            <a:ext cx="5736746" cy="127512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93A165-E14A-62A8-D1AA-0DBBE3EDBE32}"/>
              </a:ext>
            </a:extLst>
          </p:cNvPr>
          <p:cNvSpPr/>
          <p:nvPr/>
        </p:nvSpPr>
        <p:spPr>
          <a:xfrm>
            <a:off x="3415879" y="3816143"/>
            <a:ext cx="8606384" cy="2600002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A81DD-A92E-FE34-AB24-C17AD6D4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6"/>
            <a:ext cx="7634557" cy="876124"/>
          </a:xfrm>
        </p:spPr>
        <p:txBody>
          <a:bodyPr/>
          <a:lstStyle/>
          <a:p>
            <a:r>
              <a:rPr lang="en-US" dirty="0"/>
              <a:t>Proof Overview</a:t>
            </a:r>
            <a:endParaRPr lang="en-US" sz="28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64F5DB-9606-2EEF-830F-8D82BA5104E6}"/>
                  </a:ext>
                </a:extLst>
              </p:cNvPr>
              <p:cNvSpPr txBox="1"/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Every label-invariant property can be verified using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000" dirty="0"/>
                  <a:t> samples,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000" dirty="0"/>
                  <a:t> queries, and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communication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64F5DB-9606-2EEF-830F-8D82BA510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blipFill>
                <a:blip r:embed="rId2"/>
                <a:stretch>
                  <a:fillRect l="-1169" t="-2655" b="-6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E8455A2-B169-ACC8-4D34-EF92972934DD}"/>
              </a:ext>
            </a:extLst>
          </p:cNvPr>
          <p:cNvSpPr txBox="1"/>
          <p:nvPr/>
        </p:nvSpPr>
        <p:spPr>
          <a:xfrm>
            <a:off x="180975" y="1345070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1. Verifying a label-invariant property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54953-0F24-7903-86A3-1493E1F21F4C}"/>
              </a:ext>
            </a:extLst>
          </p:cNvPr>
          <p:cNvSpPr txBox="1"/>
          <p:nvPr/>
        </p:nvSpPr>
        <p:spPr>
          <a:xfrm>
            <a:off x="1903382" y="2532532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2. Verifying a bucket histogram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555666-7F01-8901-8651-41A9E31D2154}"/>
              </a:ext>
            </a:extLst>
          </p:cNvPr>
          <p:cNvSpPr txBox="1"/>
          <p:nvPr/>
        </p:nvSpPr>
        <p:spPr>
          <a:xfrm>
            <a:off x="3415879" y="3914565"/>
            <a:ext cx="66252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3. Verifying the probability mass of one 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991B5D-7D6A-21AB-C6DC-677B2012D4B7}"/>
              </a:ext>
            </a:extLst>
          </p:cNvPr>
          <p:cNvSpPr txBox="1"/>
          <p:nvPr/>
        </p:nvSpPr>
        <p:spPr>
          <a:xfrm>
            <a:off x="6304382" y="5296598"/>
            <a:ext cx="603849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4. Verifying the support size of a nearly-flat distribution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35F413CC-46B3-5CC7-5681-4476749CCCA7}"/>
              </a:ext>
            </a:extLst>
          </p:cNvPr>
          <p:cNvSpPr/>
          <p:nvPr/>
        </p:nvSpPr>
        <p:spPr>
          <a:xfrm rot="15552840" flipV="1">
            <a:off x="4616226" y="111176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5B7512BC-2AB2-6068-5C37-8E0ED6CA5F63}"/>
              </a:ext>
            </a:extLst>
          </p:cNvPr>
          <p:cNvSpPr/>
          <p:nvPr/>
        </p:nvSpPr>
        <p:spPr>
          <a:xfrm rot="15552840" flipV="1">
            <a:off x="6781276" y="2443074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2C764EBD-1657-AA29-A368-3D93115369A2}"/>
              </a:ext>
            </a:extLst>
          </p:cNvPr>
          <p:cNvSpPr/>
          <p:nvPr/>
        </p:nvSpPr>
        <p:spPr>
          <a:xfrm rot="15552840" flipV="1">
            <a:off x="9331819" y="378042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053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39DCB-763C-F412-27A4-E5DD557B6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B1DBF58-B1DF-2A35-74C8-65C1918704DB}"/>
              </a:ext>
            </a:extLst>
          </p:cNvPr>
          <p:cNvSpPr/>
          <p:nvPr/>
        </p:nvSpPr>
        <p:spPr>
          <a:xfrm>
            <a:off x="5481950" y="691409"/>
            <a:ext cx="6513003" cy="258810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27739-C9AF-DA7F-4257-BFD2B84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25" y="-202748"/>
            <a:ext cx="10515600" cy="1325563"/>
          </a:xfrm>
        </p:spPr>
        <p:txBody>
          <a:bodyPr/>
          <a:lstStyle/>
          <a:p>
            <a:r>
              <a:rPr lang="en-US" dirty="0"/>
              <a:t>Verifying Probability Mass of One Point</a:t>
            </a:r>
          </a:p>
        </p:txBody>
      </p:sp>
      <p:pic>
        <p:nvPicPr>
          <p:cNvPr id="15" name="Picture 2" descr="The Elusive Aardvark - Needles Lodge">
            <a:extLst>
              <a:ext uri="{FF2B5EF4-FFF2-40B4-BE49-F238E27FC236}">
                <a16:creationId xmlns:a16="http://schemas.microsoft.com/office/drawing/2014/main" id="{074F4931-240C-5FEE-B3C9-B682B88A8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92" y="1970409"/>
            <a:ext cx="1437973" cy="889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4587AD-5DF1-8A33-E399-87A29CA35A1F}"/>
                  </a:ext>
                </a:extLst>
              </p:cNvPr>
              <p:cNvSpPr txBox="1"/>
              <p:nvPr/>
            </p:nvSpPr>
            <p:spPr>
              <a:xfrm>
                <a:off x="3690792" y="1509499"/>
                <a:ext cx="17607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Verifier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B4587AD-5DF1-8A33-E399-87A29CA35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792" y="1509499"/>
                <a:ext cx="1760756" cy="461665"/>
              </a:xfrm>
              <a:prstGeom prst="rect">
                <a:avLst/>
              </a:prstGeom>
              <a:blipFill>
                <a:blip r:embed="rId3"/>
                <a:stretch>
                  <a:fillRect l="-5190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0F37F0D-00B8-5470-EA8A-AE06AB65AFA0}"/>
                  </a:ext>
                </a:extLst>
              </p:cNvPr>
              <p:cNvSpPr txBox="1"/>
              <p:nvPr/>
            </p:nvSpPr>
            <p:spPr>
              <a:xfrm>
                <a:off x="379564" y="1521763"/>
                <a:ext cx="150819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Prover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0F37F0D-00B8-5470-EA8A-AE06AB65A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64" y="1521763"/>
                <a:ext cx="1508195" cy="461665"/>
              </a:xfrm>
              <a:prstGeom prst="rect">
                <a:avLst/>
              </a:prstGeom>
              <a:blipFill>
                <a:blip r:embed="rId5"/>
                <a:stretch>
                  <a:fillRect l="-604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11098B-14DF-6B57-5FCE-B9AB7EFF7247}"/>
              </a:ext>
            </a:extLst>
          </p:cNvPr>
          <p:cNvCxnSpPr>
            <a:cxnSpLocks/>
          </p:cNvCxnSpPr>
          <p:nvPr/>
        </p:nvCxnSpPr>
        <p:spPr>
          <a:xfrm>
            <a:off x="1813480" y="2544471"/>
            <a:ext cx="175454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463F637-3540-4236-7CA5-65C871500F20}"/>
                  </a:ext>
                </a:extLst>
              </p:cNvPr>
              <p:cNvSpPr txBox="1"/>
              <p:nvPr/>
            </p:nvSpPr>
            <p:spPr>
              <a:xfrm>
                <a:off x="1813480" y="1940836"/>
                <a:ext cx="17545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463F637-3540-4236-7CA5-65C871500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480" y="1940836"/>
                <a:ext cx="1754545" cy="461665"/>
              </a:xfrm>
              <a:prstGeom prst="rect">
                <a:avLst/>
              </a:prstGeom>
              <a:blipFill>
                <a:blip r:embed="rId6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B093ED-B410-4DEB-2969-74729FF9C37B}"/>
                  </a:ext>
                </a:extLst>
              </p:cNvPr>
              <p:cNvSpPr txBox="1"/>
              <p:nvPr/>
            </p:nvSpPr>
            <p:spPr>
              <a:xfrm>
                <a:off x="5604718" y="734526"/>
                <a:ext cx="6390236" cy="5541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Prover’s claims:</a:t>
                </a:r>
              </a:p>
              <a:p>
                <a:r>
                  <a:rPr lang="en-US" sz="2400" b="0" dirty="0"/>
                  <a:t>a)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is in bucket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, i.e.,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b)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poly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pPr marL="342900" indent="-342900">
                  <a:buAutoNum type="arabicParenR"/>
                </a:pPr>
                <a:endParaRPr lang="en-US" sz="2400" dirty="0"/>
              </a:p>
              <a:p>
                <a:r>
                  <a:rPr lang="en-US" sz="2400" dirty="0"/>
                  <a:t>where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1±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457200" indent="-457200">
                  <a:buAutoNum type="arabicPeriod"/>
                </a:pPr>
                <a:r>
                  <a:rPr lang="en-US" sz="2400" dirty="0"/>
                  <a:t>Verifier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0" dirty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400" dirty="0"/>
                  <a:t> queries to estimate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		</a:t>
                </a:r>
                <a:r>
                  <a:rPr lang="en-US" dirty="0"/>
                  <a:t>[Canonne-Ron-Servedio15]</a:t>
                </a:r>
              </a:p>
              <a:p>
                <a:pPr marL="457200" indent="-457200">
                  <a:buAutoNum type="arabicPeriod"/>
                </a:pPr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   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CB093ED-B410-4DEB-2969-74729FF9C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718" y="734526"/>
                <a:ext cx="6390236" cy="5541517"/>
              </a:xfrm>
              <a:prstGeom prst="rect">
                <a:avLst/>
              </a:prstGeom>
              <a:blipFill>
                <a:blip r:embed="rId7"/>
                <a:stretch>
                  <a:fillRect l="-1525" t="-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364CAB14-2950-C5F0-F029-116439DF3AFD}"/>
                  </a:ext>
                </a:extLst>
              </p:cNvPr>
              <p:cNvSpPr/>
              <p:nvPr/>
            </p:nvSpPr>
            <p:spPr>
              <a:xfrm>
                <a:off x="379564" y="4241102"/>
                <a:ext cx="4278700" cy="1590355"/>
              </a:xfrm>
              <a:prstGeom prst="wedgeRoundRectCallout">
                <a:avLst>
                  <a:gd name="adj1" fmla="val 73838"/>
                  <a:gd name="adj2" fmla="val 43567"/>
                  <a:gd name="adj3" fmla="val 1666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To verify prover’s claims about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suffices to check </a:t>
                </a:r>
                <a:r>
                  <a:rPr lang="en-US" sz="2400" u="sng" dirty="0"/>
                  <a:t>support size </a:t>
                </a:r>
                <a:r>
                  <a:rPr lang="en-US" sz="2400" dirty="0"/>
                  <a:t>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Speech Bubble: Rectangle with Corners Rounded 11">
                <a:extLst>
                  <a:ext uri="{FF2B5EF4-FFF2-40B4-BE49-F238E27FC236}">
                    <a16:creationId xmlns:a16="http://schemas.microsoft.com/office/drawing/2014/main" id="{364CAB14-2950-C5F0-F029-116439DF3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64" y="4241102"/>
                <a:ext cx="4278700" cy="1590355"/>
              </a:xfrm>
              <a:prstGeom prst="wedgeRoundRectCallout">
                <a:avLst>
                  <a:gd name="adj1" fmla="val 73838"/>
                  <a:gd name="adj2" fmla="val 43567"/>
                  <a:gd name="adj3" fmla="val 16667"/>
                </a:avLst>
              </a:prstGeom>
              <a:blipFill>
                <a:blip r:embed="rId8"/>
                <a:stretch>
                  <a:fillRect b="-42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F81E2B-CB3D-5792-EFAA-4E97A79DD17D}"/>
                  </a:ext>
                </a:extLst>
              </p:cNvPr>
              <p:cNvSpPr txBox="1"/>
              <p:nvPr/>
            </p:nvSpPr>
            <p:spPr>
              <a:xfrm>
                <a:off x="584859" y="5831457"/>
                <a:ext cx="501985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>
                    <a:solidFill>
                      <a:srgbClr val="00B050"/>
                    </a:solidFill>
                  </a:rPr>
                  <a:t>This work: </a:t>
                </a:r>
                <a:r>
                  <a:rPr lang="en-US" sz="2400" dirty="0"/>
                  <a:t>Can simulate samples from this distribution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F81E2B-CB3D-5792-EFAA-4E97A79DD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59" y="5831457"/>
                <a:ext cx="5019859" cy="830997"/>
              </a:xfrm>
              <a:prstGeom prst="rect">
                <a:avLst/>
              </a:prstGeom>
              <a:blipFill>
                <a:blip r:embed="rId9"/>
                <a:stretch>
                  <a:fillRect l="-1944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Merlin Identification, All About Birds, Cornell Lab of Ornithology">
            <a:extLst>
              <a:ext uri="{FF2B5EF4-FFF2-40B4-BE49-F238E27FC236}">
                <a16:creationId xmlns:a16="http://schemas.microsoft.com/office/drawing/2014/main" id="{4F9E5B1D-3E31-B29C-6CB3-4D5BFF9EE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40" y="2036409"/>
            <a:ext cx="1113579" cy="8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59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A6A39-D28F-859B-DA64-0A8DC2CCE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2DC51C-1E75-C363-123B-0B3226C5C45F}"/>
              </a:ext>
            </a:extLst>
          </p:cNvPr>
          <p:cNvSpPr/>
          <p:nvPr/>
        </p:nvSpPr>
        <p:spPr>
          <a:xfrm>
            <a:off x="6393708" y="64050"/>
            <a:ext cx="5736746" cy="127512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A12E57-3252-4C0B-F74F-8BD738DFD834}"/>
              </a:ext>
            </a:extLst>
          </p:cNvPr>
          <p:cNvSpPr/>
          <p:nvPr/>
        </p:nvSpPr>
        <p:spPr>
          <a:xfrm>
            <a:off x="5983773" y="5048291"/>
            <a:ext cx="6038490" cy="1367853"/>
          </a:xfrm>
          <a:prstGeom prst="roundRect">
            <a:avLst/>
          </a:prstGeom>
          <a:solidFill>
            <a:srgbClr val="FFFF00">
              <a:alpha val="30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186FE-D57C-E06B-7F81-E8C2EAD3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6"/>
            <a:ext cx="7634557" cy="876124"/>
          </a:xfrm>
        </p:spPr>
        <p:txBody>
          <a:bodyPr/>
          <a:lstStyle/>
          <a:p>
            <a:r>
              <a:rPr lang="en-US" dirty="0"/>
              <a:t>Proof Overview</a:t>
            </a:r>
            <a:endParaRPr lang="en-US" sz="28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38656D-92E8-1C1A-239E-66651E4AE5E1}"/>
                  </a:ext>
                </a:extLst>
              </p:cNvPr>
              <p:cNvSpPr txBox="1"/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Every label-invariant property can be verified using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000" dirty="0"/>
                  <a:t> samples,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000" dirty="0"/>
                  <a:t> queries, and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communication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38656D-92E8-1C1A-239E-66651E4AE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blipFill>
                <a:blip r:embed="rId2"/>
                <a:stretch>
                  <a:fillRect l="-1169" t="-2655" b="-6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347D4C8-F4DC-70E7-CFBE-619306C2D6D2}"/>
              </a:ext>
            </a:extLst>
          </p:cNvPr>
          <p:cNvSpPr txBox="1"/>
          <p:nvPr/>
        </p:nvSpPr>
        <p:spPr>
          <a:xfrm>
            <a:off x="180975" y="1345070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1. Verifying a label-invariant property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D889B-B9F4-BC3A-93D5-D3CB1FA9D54E}"/>
              </a:ext>
            </a:extLst>
          </p:cNvPr>
          <p:cNvSpPr txBox="1"/>
          <p:nvPr/>
        </p:nvSpPr>
        <p:spPr>
          <a:xfrm>
            <a:off x="1903382" y="2532532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2. Verifying a bucket histogram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682D3-0C14-3521-4644-9F13140DD1B1}"/>
              </a:ext>
            </a:extLst>
          </p:cNvPr>
          <p:cNvSpPr txBox="1"/>
          <p:nvPr/>
        </p:nvSpPr>
        <p:spPr>
          <a:xfrm>
            <a:off x="3415879" y="3914565"/>
            <a:ext cx="66252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3. Verifying the probability mass of one 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03E3B-7680-A1EF-F9B4-0401F893D1B6}"/>
              </a:ext>
            </a:extLst>
          </p:cNvPr>
          <p:cNvSpPr txBox="1"/>
          <p:nvPr/>
        </p:nvSpPr>
        <p:spPr>
          <a:xfrm>
            <a:off x="6304382" y="5296598"/>
            <a:ext cx="603849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4. Verifying the support size of a nearly-flat distribution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CE4DDF36-5F8C-6D0B-14C2-1E0D3BA47154}"/>
              </a:ext>
            </a:extLst>
          </p:cNvPr>
          <p:cNvSpPr/>
          <p:nvPr/>
        </p:nvSpPr>
        <p:spPr>
          <a:xfrm rot="15552840" flipV="1">
            <a:off x="4616226" y="111176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CC5092D3-06D5-AB25-A5FB-CA23A6FCACE0}"/>
              </a:ext>
            </a:extLst>
          </p:cNvPr>
          <p:cNvSpPr/>
          <p:nvPr/>
        </p:nvSpPr>
        <p:spPr>
          <a:xfrm rot="15552840" flipV="1">
            <a:off x="6781276" y="2443074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0CD039C5-A513-EF83-B4CF-C3B3E3811765}"/>
              </a:ext>
            </a:extLst>
          </p:cNvPr>
          <p:cNvSpPr/>
          <p:nvPr/>
        </p:nvSpPr>
        <p:spPr>
          <a:xfrm rot="15552840" flipV="1">
            <a:off x="9331819" y="378042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229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49902-BAF1-D1CD-CC13-884299D41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E7F8657-D2E4-966A-FD58-B7C7225C660A}"/>
              </a:ext>
            </a:extLst>
          </p:cNvPr>
          <p:cNvSpPr/>
          <p:nvPr/>
        </p:nvSpPr>
        <p:spPr>
          <a:xfrm>
            <a:off x="129640" y="781574"/>
            <a:ext cx="11932720" cy="157216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510A6-041B-AEB1-075F-3BE5722C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" y="-109327"/>
            <a:ext cx="5145656" cy="1325563"/>
          </a:xfrm>
        </p:spPr>
        <p:txBody>
          <a:bodyPr/>
          <a:lstStyle/>
          <a:p>
            <a:r>
              <a:rPr lang="en-US" dirty="0"/>
              <a:t>Verifying Support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FE48F59-2A0A-0C3C-73C4-6EAD414A23EA}"/>
                  </a:ext>
                </a:extLst>
              </p:cNvPr>
              <p:cNvSpPr txBox="1"/>
              <p:nvPr/>
            </p:nvSpPr>
            <p:spPr>
              <a:xfrm>
                <a:off x="296499" y="781573"/>
                <a:ext cx="11980168" cy="182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Input:</a:t>
                </a:r>
                <a:r>
                  <a:rPr lang="en-US" sz="2400" dirty="0"/>
                  <a:t>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promised to be “almost flat”: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in support </a:t>
                </a:r>
              </a:p>
              <a:p>
                <a:r>
                  <a:rPr lang="en-US" sz="2400" u="sng" dirty="0"/>
                  <a:t>Prover’s claim:</a:t>
                </a:r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supported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elements</a:t>
                </a:r>
              </a:p>
              <a:p>
                <a:r>
                  <a:rPr lang="en-US" sz="2400" u="sng" dirty="0"/>
                  <a:t>Goal:</a:t>
                </a:r>
                <a:r>
                  <a:rPr lang="en-US" sz="2400" dirty="0"/>
                  <a:t> Verify prover’s claim with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communication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queries/samples 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FE48F59-2A0A-0C3C-73C4-6EAD414A2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99" y="781573"/>
                <a:ext cx="11980168" cy="1824538"/>
              </a:xfrm>
              <a:prstGeom prst="rect">
                <a:avLst/>
              </a:prstGeom>
              <a:blipFill>
                <a:blip r:embed="rId3"/>
                <a:stretch>
                  <a:fillRect l="-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7A52A2-7760-4AF0-6D2B-FB51E261D9E0}"/>
              </a:ext>
            </a:extLst>
          </p:cNvPr>
          <p:cNvCxnSpPr>
            <a:cxnSpLocks/>
          </p:cNvCxnSpPr>
          <p:nvPr/>
        </p:nvCxnSpPr>
        <p:spPr>
          <a:xfrm>
            <a:off x="261686" y="4290270"/>
            <a:ext cx="4005514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3892E78-2928-92D5-58DC-7F5AA2216065}"/>
              </a:ext>
            </a:extLst>
          </p:cNvPr>
          <p:cNvSpPr/>
          <p:nvPr/>
        </p:nvSpPr>
        <p:spPr>
          <a:xfrm>
            <a:off x="3560613" y="3002391"/>
            <a:ext cx="426829" cy="124949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C83588-DFAE-C3AC-F5D8-E3079EC34552}"/>
              </a:ext>
            </a:extLst>
          </p:cNvPr>
          <p:cNvSpPr/>
          <p:nvPr/>
        </p:nvSpPr>
        <p:spPr>
          <a:xfrm>
            <a:off x="1682715" y="3211240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517B18-1071-F852-269D-87583FE442AA}"/>
              </a:ext>
            </a:extLst>
          </p:cNvPr>
          <p:cNvSpPr/>
          <p:nvPr/>
        </p:nvSpPr>
        <p:spPr>
          <a:xfrm>
            <a:off x="3099916" y="3211240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457DCA-37DA-E070-6E33-D3F35399E06D}"/>
              </a:ext>
            </a:extLst>
          </p:cNvPr>
          <p:cNvSpPr/>
          <p:nvPr/>
        </p:nvSpPr>
        <p:spPr>
          <a:xfrm>
            <a:off x="299069" y="3428999"/>
            <a:ext cx="426829" cy="82467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00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35166-97A6-18F9-2886-AC89EF4D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700D5D0-8C7F-8DC9-F698-0DBA9985A44B}"/>
              </a:ext>
            </a:extLst>
          </p:cNvPr>
          <p:cNvSpPr/>
          <p:nvPr/>
        </p:nvSpPr>
        <p:spPr>
          <a:xfrm>
            <a:off x="129640" y="781574"/>
            <a:ext cx="11932720" cy="157216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2865BB-B073-B0BF-9D51-704FC4E0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" y="-109327"/>
            <a:ext cx="5145656" cy="1325563"/>
          </a:xfrm>
        </p:spPr>
        <p:txBody>
          <a:bodyPr/>
          <a:lstStyle/>
          <a:p>
            <a:r>
              <a:rPr lang="en-US" dirty="0"/>
              <a:t>Verifying Support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5662BA9-3FDF-5EDF-1DEA-3D797C50FD5A}"/>
                  </a:ext>
                </a:extLst>
              </p:cNvPr>
              <p:cNvSpPr txBox="1"/>
              <p:nvPr/>
            </p:nvSpPr>
            <p:spPr>
              <a:xfrm>
                <a:off x="296499" y="781573"/>
                <a:ext cx="11980168" cy="182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Input:</a:t>
                </a:r>
                <a:r>
                  <a:rPr lang="en-US" sz="2400" dirty="0"/>
                  <a:t>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promised to be “almost flat”: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in support </a:t>
                </a:r>
              </a:p>
              <a:p>
                <a:r>
                  <a:rPr lang="en-US" sz="2400" u="sng" dirty="0"/>
                  <a:t>Prover’s claim:</a:t>
                </a:r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supported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elements</a:t>
                </a:r>
              </a:p>
              <a:p>
                <a:r>
                  <a:rPr lang="en-US" sz="2400" u="sng" dirty="0"/>
                  <a:t>Goal:</a:t>
                </a:r>
                <a:r>
                  <a:rPr lang="en-US" sz="2400" dirty="0"/>
                  <a:t> Verify prover’s claim with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communication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queries/samples 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5662BA9-3FDF-5EDF-1DEA-3D797C50F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99" y="781573"/>
                <a:ext cx="11980168" cy="1824538"/>
              </a:xfrm>
              <a:prstGeom prst="rect">
                <a:avLst/>
              </a:prstGeom>
              <a:blipFill>
                <a:blip r:embed="rId2"/>
                <a:stretch>
                  <a:fillRect l="-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1CCB3337-A233-00B8-22CE-4C98E855C55E}"/>
              </a:ext>
            </a:extLst>
          </p:cNvPr>
          <p:cNvSpPr/>
          <p:nvPr/>
        </p:nvSpPr>
        <p:spPr>
          <a:xfrm>
            <a:off x="1811462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0CD5C5-3C7A-4B50-B46B-59D6E81C80A2}"/>
                  </a:ext>
                </a:extLst>
              </p:cNvPr>
              <p:cNvSpPr txBox="1"/>
              <p:nvPr/>
            </p:nvSpPr>
            <p:spPr>
              <a:xfrm>
                <a:off x="4516252" y="2339412"/>
                <a:ext cx="7675747" cy="2398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2400" b="1" u="sng" dirty="0"/>
                  <a:t>Case 1</a:t>
                </a:r>
                <a:r>
                  <a:rPr lang="en-US" sz="2400" b="1" u="sng" dirty="0"/>
                  <a:t>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u="sng" dirty="0"/>
                  <a:t>Prover </a:t>
                </a:r>
                <a14:m>
                  <m:oMath xmlns:m="http://schemas.openxmlformats.org/officeDocument/2006/math">
                    <m:r>
                      <a:rPr lang="en-US" sz="2400" i="1" u="sng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u="sng" dirty="0"/>
                  <a:t> Verifier: </a:t>
                </a:r>
                <a:r>
                  <a:rPr lang="en-US" sz="2400" dirty="0"/>
                  <a:t>Send claimed support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b="1" u="sng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0CD5C5-3C7A-4B50-B46B-59D6E81C8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252" y="2339412"/>
                <a:ext cx="7675747" cy="2398092"/>
              </a:xfrm>
              <a:prstGeom prst="rect">
                <a:avLst/>
              </a:prstGeom>
              <a:blipFill>
                <a:blip r:embed="rId3"/>
                <a:stretch>
                  <a:fillRect l="-1271" t="-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595E61-8314-61B4-46BB-719423F1E11E}"/>
              </a:ext>
            </a:extLst>
          </p:cNvPr>
          <p:cNvCxnSpPr>
            <a:cxnSpLocks/>
          </p:cNvCxnSpPr>
          <p:nvPr/>
        </p:nvCxnSpPr>
        <p:spPr>
          <a:xfrm>
            <a:off x="261686" y="4290270"/>
            <a:ext cx="4005514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E491866-D5EF-C7F7-C657-C7F12A89DAD2}"/>
              </a:ext>
            </a:extLst>
          </p:cNvPr>
          <p:cNvSpPr/>
          <p:nvPr/>
        </p:nvSpPr>
        <p:spPr>
          <a:xfrm>
            <a:off x="3560613" y="3002391"/>
            <a:ext cx="426829" cy="124949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7F3696-8AAD-15CF-5C1D-D1075CE5E96C}"/>
              </a:ext>
            </a:extLst>
          </p:cNvPr>
          <p:cNvSpPr/>
          <p:nvPr/>
        </p:nvSpPr>
        <p:spPr>
          <a:xfrm>
            <a:off x="1682715" y="3211240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464C3D-9F8F-E7DF-54F5-CB59FE9F837F}"/>
              </a:ext>
            </a:extLst>
          </p:cNvPr>
          <p:cNvSpPr/>
          <p:nvPr/>
        </p:nvSpPr>
        <p:spPr>
          <a:xfrm>
            <a:off x="3099916" y="3211240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3054DB-D578-E354-8E26-8623EC7B10D4}"/>
              </a:ext>
            </a:extLst>
          </p:cNvPr>
          <p:cNvSpPr/>
          <p:nvPr/>
        </p:nvSpPr>
        <p:spPr>
          <a:xfrm>
            <a:off x="299069" y="3428999"/>
            <a:ext cx="426829" cy="82467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044FAC-A23C-773B-3462-01168DB028E8}"/>
              </a:ext>
            </a:extLst>
          </p:cNvPr>
          <p:cNvSpPr/>
          <p:nvPr/>
        </p:nvSpPr>
        <p:spPr>
          <a:xfrm>
            <a:off x="3207065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719865-0B33-E6A6-E662-052BA215F977}"/>
              </a:ext>
            </a:extLst>
          </p:cNvPr>
          <p:cNvSpPr/>
          <p:nvPr/>
        </p:nvSpPr>
        <p:spPr>
          <a:xfrm>
            <a:off x="3692325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C8510E-3B58-3275-FB09-1E9FA7D28F79}"/>
              </a:ext>
            </a:extLst>
          </p:cNvPr>
          <p:cNvSpPr/>
          <p:nvPr/>
        </p:nvSpPr>
        <p:spPr>
          <a:xfrm>
            <a:off x="415859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60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F6E9A-7055-F06F-87A4-E8C866BE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7A14293-FB02-9D5F-A308-97E61ACCB83E}"/>
              </a:ext>
            </a:extLst>
          </p:cNvPr>
          <p:cNvSpPr/>
          <p:nvPr/>
        </p:nvSpPr>
        <p:spPr>
          <a:xfrm>
            <a:off x="129640" y="781574"/>
            <a:ext cx="11932720" cy="157216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04890-64F0-5058-F76C-7CB8178F4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" y="-109327"/>
            <a:ext cx="5145656" cy="1325563"/>
          </a:xfrm>
        </p:spPr>
        <p:txBody>
          <a:bodyPr/>
          <a:lstStyle/>
          <a:p>
            <a:r>
              <a:rPr lang="en-US" dirty="0"/>
              <a:t>Verifying Support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1D852E-4A5A-2D60-6A33-1293D7E0C69C}"/>
                  </a:ext>
                </a:extLst>
              </p:cNvPr>
              <p:cNvSpPr txBox="1"/>
              <p:nvPr/>
            </p:nvSpPr>
            <p:spPr>
              <a:xfrm>
                <a:off x="296499" y="781573"/>
                <a:ext cx="11980168" cy="182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Input:</a:t>
                </a:r>
                <a:r>
                  <a:rPr lang="en-US" sz="2400" dirty="0"/>
                  <a:t>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promised to be “almost flat”: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in support </a:t>
                </a:r>
              </a:p>
              <a:p>
                <a:r>
                  <a:rPr lang="en-US" sz="2400" u="sng" dirty="0"/>
                  <a:t>Prover’s claim:</a:t>
                </a:r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supported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elements</a:t>
                </a:r>
              </a:p>
              <a:p>
                <a:r>
                  <a:rPr lang="en-US" sz="2400" u="sng" dirty="0"/>
                  <a:t>Goal:</a:t>
                </a:r>
                <a:r>
                  <a:rPr lang="en-US" sz="2400" dirty="0"/>
                  <a:t> Verify prover’s claim with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communication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queries/samples 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1D852E-4A5A-2D60-6A33-1293D7E0C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99" y="781573"/>
                <a:ext cx="11980168" cy="1824538"/>
              </a:xfrm>
              <a:prstGeom prst="rect">
                <a:avLst/>
              </a:prstGeom>
              <a:blipFill>
                <a:blip r:embed="rId2"/>
                <a:stretch>
                  <a:fillRect l="-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BFA3B5C4-758C-77AE-E7F8-D6B919ED86F3}"/>
              </a:ext>
            </a:extLst>
          </p:cNvPr>
          <p:cNvSpPr/>
          <p:nvPr/>
        </p:nvSpPr>
        <p:spPr>
          <a:xfrm>
            <a:off x="1811462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98090C-7176-D5A2-316A-6DBF0212F01E}"/>
                  </a:ext>
                </a:extLst>
              </p:cNvPr>
              <p:cNvSpPr txBox="1"/>
              <p:nvPr/>
            </p:nvSpPr>
            <p:spPr>
              <a:xfrm>
                <a:off x="4516252" y="2339412"/>
                <a:ext cx="7675747" cy="4259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2400" b="1" u="sng" dirty="0"/>
                  <a:t>Case 1</a:t>
                </a:r>
                <a:r>
                  <a:rPr lang="en-US" sz="2400" b="1" u="sng" dirty="0"/>
                  <a:t>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u="sng" dirty="0"/>
                  <a:t>Prover </a:t>
                </a:r>
                <a14:m>
                  <m:oMath xmlns:m="http://schemas.openxmlformats.org/officeDocument/2006/math">
                    <m:r>
                      <a:rPr lang="en-US" sz="2400" i="1" u="sng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u="sng" dirty="0"/>
                  <a:t> Verifier: </a:t>
                </a:r>
                <a:r>
                  <a:rPr lang="en-US" sz="2400" dirty="0"/>
                  <a:t>Send claimed support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Two ways prover might try to lie:</a:t>
                </a:r>
              </a:p>
              <a:p>
                <a:r>
                  <a:rPr lang="en-US" sz="2400" b="1" u="sng" dirty="0"/>
                  <a:t>Case 1a: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2400" dirty="0"/>
                  <a:t> is too small</a:t>
                </a:r>
                <a:endParaRPr lang="en-US" sz="2400" b="1" u="sng" dirty="0"/>
              </a:p>
              <a:p>
                <a:r>
                  <a:rPr lang="en-US" sz="2400" dirty="0"/>
                  <a:t>    </a:t>
                </a:r>
                <a:r>
                  <a:rPr lang="en-US" sz="2400" u="sng" dirty="0"/>
                  <a:t>Verifier:</a:t>
                </a:r>
                <a:r>
                  <a:rPr lang="en-US" sz="2400" dirty="0"/>
                  <a:t> Sample </a:t>
                </a:r>
                <a:r>
                  <a:rPr lang="pt-PT" sz="2400" dirty="0"/>
                  <a:t>from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pt-PT" sz="2400" dirty="0"/>
                  <a:t> and check it is in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endParaRPr lang="en-US" sz="2400" dirty="0"/>
              </a:p>
              <a:p>
                <a:endParaRPr lang="en-US" sz="2400" b="1" u="sng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98090C-7176-D5A2-316A-6DBF0212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252" y="2339412"/>
                <a:ext cx="7675747" cy="4259756"/>
              </a:xfrm>
              <a:prstGeom prst="rect">
                <a:avLst/>
              </a:prstGeom>
              <a:blipFill>
                <a:blip r:embed="rId3"/>
                <a:stretch>
                  <a:fillRect l="-1271" t="-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7BAB38-8009-921B-803B-9655D87F9350}"/>
              </a:ext>
            </a:extLst>
          </p:cNvPr>
          <p:cNvCxnSpPr>
            <a:cxnSpLocks/>
          </p:cNvCxnSpPr>
          <p:nvPr/>
        </p:nvCxnSpPr>
        <p:spPr>
          <a:xfrm>
            <a:off x="261686" y="4290270"/>
            <a:ext cx="4005514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3168588-A3C5-4B11-6690-4CCADD080087}"/>
              </a:ext>
            </a:extLst>
          </p:cNvPr>
          <p:cNvSpPr/>
          <p:nvPr/>
        </p:nvSpPr>
        <p:spPr>
          <a:xfrm>
            <a:off x="3560613" y="3002391"/>
            <a:ext cx="426829" cy="124949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B6E5E7-DA2C-E5D0-7A6F-ECA04F06125D}"/>
              </a:ext>
            </a:extLst>
          </p:cNvPr>
          <p:cNvSpPr/>
          <p:nvPr/>
        </p:nvSpPr>
        <p:spPr>
          <a:xfrm>
            <a:off x="1682715" y="3211240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4C059B-D52B-7C74-B498-6D0F0AF1D2DF}"/>
              </a:ext>
            </a:extLst>
          </p:cNvPr>
          <p:cNvSpPr/>
          <p:nvPr/>
        </p:nvSpPr>
        <p:spPr>
          <a:xfrm>
            <a:off x="3099916" y="3211240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48F423-36FB-1044-3BE3-046CC7A93248}"/>
              </a:ext>
            </a:extLst>
          </p:cNvPr>
          <p:cNvSpPr/>
          <p:nvPr/>
        </p:nvSpPr>
        <p:spPr>
          <a:xfrm>
            <a:off x="299069" y="3428999"/>
            <a:ext cx="426829" cy="82467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A27D9D-B35D-39E4-86D1-B61B8AC44F13}"/>
              </a:ext>
            </a:extLst>
          </p:cNvPr>
          <p:cNvSpPr/>
          <p:nvPr/>
        </p:nvSpPr>
        <p:spPr>
          <a:xfrm>
            <a:off x="3207065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58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A47C-7245-9724-C5A0-28FFDE1D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8CCB2C-53D1-93B2-1504-7BB183FED415}"/>
              </a:ext>
            </a:extLst>
          </p:cNvPr>
          <p:cNvSpPr/>
          <p:nvPr/>
        </p:nvSpPr>
        <p:spPr>
          <a:xfrm>
            <a:off x="129640" y="781574"/>
            <a:ext cx="11932720" cy="157216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CD63F-5E94-5B94-A1E0-1444470DD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" y="-109327"/>
            <a:ext cx="5145656" cy="1325563"/>
          </a:xfrm>
        </p:spPr>
        <p:txBody>
          <a:bodyPr/>
          <a:lstStyle/>
          <a:p>
            <a:r>
              <a:rPr lang="en-US" dirty="0"/>
              <a:t>Verifying Support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C014921-713F-E455-AA1D-FEC93064E073}"/>
                  </a:ext>
                </a:extLst>
              </p:cNvPr>
              <p:cNvSpPr txBox="1"/>
              <p:nvPr/>
            </p:nvSpPr>
            <p:spPr>
              <a:xfrm>
                <a:off x="296499" y="781573"/>
                <a:ext cx="11980168" cy="182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Input:</a:t>
                </a:r>
                <a:r>
                  <a:rPr lang="en-US" sz="2400" dirty="0"/>
                  <a:t> Distribution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promised to be “almost flat”: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in support </a:t>
                </a:r>
              </a:p>
              <a:p>
                <a:r>
                  <a:rPr lang="en-US" sz="2400" u="sng" dirty="0"/>
                  <a:t>Prover’s claim:</a:t>
                </a:r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supported on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elements</a:t>
                </a:r>
              </a:p>
              <a:p>
                <a:r>
                  <a:rPr lang="en-US" sz="2400" u="sng" dirty="0"/>
                  <a:t>Goal:</a:t>
                </a:r>
                <a:r>
                  <a:rPr lang="en-US" sz="2400" dirty="0"/>
                  <a:t> Verify prover’s claim with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communication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queries/samples 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C014921-713F-E455-AA1D-FEC93064E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99" y="781573"/>
                <a:ext cx="11980168" cy="1824538"/>
              </a:xfrm>
              <a:prstGeom prst="rect">
                <a:avLst/>
              </a:prstGeom>
              <a:blipFill>
                <a:blip r:embed="rId2"/>
                <a:stretch>
                  <a:fillRect l="-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4BB0391C-849C-AA79-9BE8-BE6E97B137E3}"/>
              </a:ext>
            </a:extLst>
          </p:cNvPr>
          <p:cNvSpPr/>
          <p:nvPr/>
        </p:nvSpPr>
        <p:spPr>
          <a:xfrm>
            <a:off x="3689360" y="436327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0117E1-710B-DEEA-E9B3-FDEF17FA9D72}"/>
              </a:ext>
            </a:extLst>
          </p:cNvPr>
          <p:cNvSpPr/>
          <p:nvPr/>
        </p:nvSpPr>
        <p:spPr>
          <a:xfrm>
            <a:off x="1811462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5E219B-EDFD-0172-56CC-455405BB6B0E}"/>
                  </a:ext>
                </a:extLst>
              </p:cNvPr>
              <p:cNvSpPr txBox="1"/>
              <p:nvPr/>
            </p:nvSpPr>
            <p:spPr>
              <a:xfrm>
                <a:off x="4516252" y="2339412"/>
                <a:ext cx="7675747" cy="5382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2400" b="1" u="sng" dirty="0"/>
                  <a:t>Case 1</a:t>
                </a:r>
                <a:r>
                  <a:rPr lang="en-US" sz="2400" b="1" u="sng" dirty="0"/>
                  <a:t>: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u="sng" dirty="0"/>
                  <a:t>Prover </a:t>
                </a:r>
                <a14:m>
                  <m:oMath xmlns:m="http://schemas.openxmlformats.org/officeDocument/2006/math">
                    <m:r>
                      <a:rPr lang="en-US" sz="2400" i="1" u="sng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u="sng" dirty="0"/>
                  <a:t> Verifier: </a:t>
                </a:r>
                <a:r>
                  <a:rPr lang="en-US" sz="2400" dirty="0"/>
                  <a:t>Send claimed support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Two ways prover might try to lie:</a:t>
                </a:r>
              </a:p>
              <a:p>
                <a:r>
                  <a:rPr lang="en-US" sz="2400" b="1" u="sng" dirty="0"/>
                  <a:t>Case 1a: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2400" dirty="0"/>
                  <a:t> is too small</a:t>
                </a:r>
                <a:endParaRPr lang="en-US" sz="2400" b="1" u="sng" dirty="0"/>
              </a:p>
              <a:p>
                <a:r>
                  <a:rPr lang="en-US" sz="2400" dirty="0"/>
                  <a:t>    </a:t>
                </a:r>
                <a:r>
                  <a:rPr lang="en-US" sz="2400" u="sng" dirty="0"/>
                  <a:t>Verifier:</a:t>
                </a:r>
                <a:r>
                  <a:rPr lang="en-US" sz="2400" dirty="0"/>
                  <a:t> Sample </a:t>
                </a:r>
                <a:r>
                  <a:rPr lang="pt-PT" sz="2400" dirty="0"/>
                  <a:t>from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pt-PT" sz="2400" dirty="0"/>
                  <a:t> and check it is in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endParaRPr lang="en-US" sz="2400" dirty="0"/>
              </a:p>
              <a:p>
                <a:r>
                  <a:rPr lang="en-US" sz="2400" b="1" u="sng" dirty="0"/>
                  <a:t>Case 1b: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2400" dirty="0"/>
                  <a:t> is too big</a:t>
                </a:r>
              </a:p>
              <a:p>
                <a:r>
                  <a:rPr lang="en-US" sz="2400" dirty="0"/>
                  <a:t>    </a:t>
                </a:r>
                <a:r>
                  <a:rPr lang="en-US" sz="2400" u="sng" dirty="0"/>
                  <a:t>Verifier: </a:t>
                </a:r>
                <a:r>
                  <a:rPr lang="en-US" sz="2400" dirty="0"/>
                  <a:t>Draw one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        Sample uniformly from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/>
                  <a:t>and compare mass to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b="1" u="sng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5E219B-EDFD-0172-56CC-455405BB6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252" y="2339412"/>
                <a:ext cx="7675747" cy="5382756"/>
              </a:xfrm>
              <a:prstGeom prst="rect">
                <a:avLst/>
              </a:prstGeom>
              <a:blipFill>
                <a:blip r:embed="rId3"/>
                <a:stretch>
                  <a:fillRect l="-1271" t="-2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DDE0F3-B739-A9FF-5653-6034787CB226}"/>
              </a:ext>
            </a:extLst>
          </p:cNvPr>
          <p:cNvCxnSpPr>
            <a:cxnSpLocks/>
          </p:cNvCxnSpPr>
          <p:nvPr/>
        </p:nvCxnSpPr>
        <p:spPr>
          <a:xfrm>
            <a:off x="261686" y="4290270"/>
            <a:ext cx="4005514" cy="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7C8ED-F287-5F42-CBDA-82B3FC1376F8}"/>
              </a:ext>
            </a:extLst>
          </p:cNvPr>
          <p:cNvSpPr/>
          <p:nvPr/>
        </p:nvSpPr>
        <p:spPr>
          <a:xfrm>
            <a:off x="3560613" y="3002391"/>
            <a:ext cx="426829" cy="124949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D7CF54-2AE5-0498-7803-54548D49C96C}"/>
              </a:ext>
            </a:extLst>
          </p:cNvPr>
          <p:cNvSpPr/>
          <p:nvPr/>
        </p:nvSpPr>
        <p:spPr>
          <a:xfrm>
            <a:off x="1682715" y="3211240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58D804-D58C-F1FA-BD56-B618AB5897C0}"/>
              </a:ext>
            </a:extLst>
          </p:cNvPr>
          <p:cNvSpPr/>
          <p:nvPr/>
        </p:nvSpPr>
        <p:spPr>
          <a:xfrm>
            <a:off x="3099916" y="3211240"/>
            <a:ext cx="426829" cy="104065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3F8CDE-2DB2-DCFB-2254-22ADCC6B6A11}"/>
              </a:ext>
            </a:extLst>
          </p:cNvPr>
          <p:cNvSpPr/>
          <p:nvPr/>
        </p:nvSpPr>
        <p:spPr>
          <a:xfrm>
            <a:off x="299069" y="3428999"/>
            <a:ext cx="426829" cy="82467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5EC833D-CEB8-75F4-54FF-CEA2D8193CF5}"/>
              </a:ext>
            </a:extLst>
          </p:cNvPr>
          <p:cNvSpPr/>
          <p:nvPr/>
        </p:nvSpPr>
        <p:spPr>
          <a:xfrm>
            <a:off x="1100189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00FD56-107B-CE3B-F99C-6548B49841B7}"/>
              </a:ext>
            </a:extLst>
          </p:cNvPr>
          <p:cNvSpPr/>
          <p:nvPr/>
        </p:nvSpPr>
        <p:spPr>
          <a:xfrm>
            <a:off x="2593589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5B3956-EED5-0C8D-6656-1A037AD901C2}"/>
              </a:ext>
            </a:extLst>
          </p:cNvPr>
          <p:cNvSpPr/>
          <p:nvPr/>
        </p:nvSpPr>
        <p:spPr>
          <a:xfrm>
            <a:off x="2261818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2255330-644E-21B4-BE4C-2C934CE28BA7}"/>
              </a:ext>
            </a:extLst>
          </p:cNvPr>
          <p:cNvSpPr/>
          <p:nvPr/>
        </p:nvSpPr>
        <p:spPr>
          <a:xfrm>
            <a:off x="3207065" y="4362945"/>
            <a:ext cx="169333" cy="17970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48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C9528B5-8610-8A53-5858-D7D1D73C33E2}"/>
              </a:ext>
            </a:extLst>
          </p:cNvPr>
          <p:cNvSpPr/>
          <p:nvPr/>
        </p:nvSpPr>
        <p:spPr>
          <a:xfrm>
            <a:off x="5193102" y="39343"/>
            <a:ext cx="6951452" cy="1561261"/>
          </a:xfrm>
          <a:prstGeom prst="round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91AFE-2599-A5EF-BFA5-AEC61F11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6" y="-109327"/>
            <a:ext cx="5145656" cy="1325563"/>
          </a:xfrm>
        </p:spPr>
        <p:txBody>
          <a:bodyPr/>
          <a:lstStyle/>
          <a:p>
            <a:r>
              <a:rPr lang="en-US" dirty="0"/>
              <a:t>Verifying Support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4CD4B3-D4EA-4B14-13BC-0831912C0256}"/>
                  </a:ext>
                </a:extLst>
              </p:cNvPr>
              <p:cNvSpPr txBox="1"/>
              <p:nvPr/>
            </p:nvSpPr>
            <p:spPr>
              <a:xfrm>
                <a:off x="5193102" y="80921"/>
                <a:ext cx="7060644" cy="1420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Assumption: </a:t>
                </a:r>
              </a:p>
              <a:p>
                <a14:m>
                  <m:oMath xmlns:m="http://schemas.openxmlformats.org/officeDocument/2006/math"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“almost flat”: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in support</a:t>
                </a:r>
                <a:endParaRPr lang="en-US" sz="2400" u="sng" dirty="0"/>
              </a:p>
              <a:p>
                <a:r>
                  <a:rPr lang="en-US" sz="2400" u="sng" dirty="0"/>
                  <a:t>Prover’s claim:</a:t>
                </a:r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is supported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elements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4CD4B3-D4EA-4B14-13BC-0831912C0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102" y="80921"/>
                <a:ext cx="7060644" cy="1420453"/>
              </a:xfrm>
              <a:prstGeom prst="rect">
                <a:avLst/>
              </a:prstGeom>
              <a:blipFill>
                <a:blip r:embed="rId2"/>
                <a:stretch>
                  <a:fillRect l="-1382" t="-3433" b="-9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2F8713-6B03-E075-46F2-7ED099B7D689}"/>
              </a:ext>
            </a:extLst>
          </p:cNvPr>
          <p:cNvCxnSpPr/>
          <p:nvPr/>
        </p:nvCxnSpPr>
        <p:spPr>
          <a:xfrm flipV="1">
            <a:off x="504646" y="3136333"/>
            <a:ext cx="1802920" cy="1017917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19AA19-869A-3B0D-4AB7-692BEFEE0F60}"/>
              </a:ext>
            </a:extLst>
          </p:cNvPr>
          <p:cNvCxnSpPr>
            <a:cxnSpLocks/>
          </p:cNvCxnSpPr>
          <p:nvPr/>
        </p:nvCxnSpPr>
        <p:spPr>
          <a:xfrm>
            <a:off x="504646" y="4154250"/>
            <a:ext cx="2961735" cy="1611147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4F2F7B-CDAB-9465-2A21-B32BAFBE2465}"/>
                  </a:ext>
                </a:extLst>
              </p:cNvPr>
              <p:cNvSpPr txBox="1"/>
              <p:nvPr/>
            </p:nvSpPr>
            <p:spPr>
              <a:xfrm>
                <a:off x="352246" y="5026820"/>
                <a:ext cx="1955320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2060"/>
                    </a:solidFill>
                  </a:rPr>
                  <a:t>Prover’s claim: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4F2F7B-CDAB-9465-2A21-B32BAFBE2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46" y="5026820"/>
                <a:ext cx="1955320" cy="677108"/>
              </a:xfrm>
              <a:prstGeom prst="rect">
                <a:avLst/>
              </a:prstGeom>
              <a:blipFill>
                <a:blip r:embed="rId3"/>
                <a:stretch>
                  <a:fillRect l="-2804" t="-4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6F0831-D05B-566C-F9EE-BEC0B6D6B2E4}"/>
                  </a:ext>
                </a:extLst>
              </p:cNvPr>
              <p:cNvSpPr txBox="1"/>
              <p:nvPr/>
            </p:nvSpPr>
            <p:spPr>
              <a:xfrm>
                <a:off x="352246" y="2796783"/>
                <a:ext cx="1667047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solidFill>
                      <a:srgbClr val="002060"/>
                    </a:solidFill>
                  </a:rPr>
                  <a:t>Prover’s claim: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86F0831-D05B-566C-F9EE-BEC0B6D6B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46" y="2796783"/>
                <a:ext cx="1667047" cy="677108"/>
              </a:xfrm>
              <a:prstGeom prst="rect">
                <a:avLst/>
              </a:prstGeom>
              <a:blipFill>
                <a:blip r:embed="rId4"/>
                <a:stretch>
                  <a:fillRect l="-3297" t="-4505" r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493542-24C2-B6FB-2BA8-0C7D54C6A849}"/>
                  </a:ext>
                </a:extLst>
              </p:cNvPr>
              <p:cNvSpPr txBox="1"/>
              <p:nvPr/>
            </p:nvSpPr>
            <p:spPr>
              <a:xfrm>
                <a:off x="2307566" y="2738519"/>
                <a:ext cx="2656936" cy="652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Prover </a:t>
                </a:r>
                <a14:m>
                  <m:oMath xmlns:m="http://schemas.openxmlformats.org/officeDocument/2006/math">
                    <m:r>
                      <a:rPr lang="en-US" b="0" i="1" u="sng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u="sng" dirty="0"/>
                  <a:t> Verifier:</a:t>
                </a:r>
              </a:p>
              <a:p>
                <a:r>
                  <a:rPr lang="en-US" dirty="0"/>
                  <a:t>Send claimed support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5493542-24C2-B6FB-2BA8-0C7D54C6A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566" y="2738519"/>
                <a:ext cx="2656936" cy="652038"/>
              </a:xfrm>
              <a:prstGeom prst="rect">
                <a:avLst/>
              </a:prstGeom>
              <a:blipFill>
                <a:blip r:embed="rId5"/>
                <a:stretch>
                  <a:fillRect l="-2069" t="-3738" r="-4828" b="-14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ED8D2CA-1F6D-53A2-6616-3DAFC30AC80F}"/>
              </a:ext>
            </a:extLst>
          </p:cNvPr>
          <p:cNvCxnSpPr/>
          <p:nvPr/>
        </p:nvCxnSpPr>
        <p:spPr>
          <a:xfrm flipV="1">
            <a:off x="4426789" y="2007290"/>
            <a:ext cx="1802920" cy="1017917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EF8735-A72E-1449-5060-A7A0CDA23B20}"/>
                  </a:ext>
                </a:extLst>
              </p:cNvPr>
              <p:cNvSpPr txBox="1"/>
              <p:nvPr/>
            </p:nvSpPr>
            <p:spPr>
              <a:xfrm>
                <a:off x="5193102" y="2945041"/>
                <a:ext cx="1492369" cy="652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Possible lie:</a:t>
                </a:r>
              </a:p>
              <a:p>
                <a:r>
                  <a:rPr lang="en-US" b="0" dirty="0"/>
                  <a:t>|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|≪|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EF8735-A72E-1449-5060-A7A0CDA23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102" y="2945041"/>
                <a:ext cx="1492369" cy="652038"/>
              </a:xfrm>
              <a:prstGeom prst="rect">
                <a:avLst/>
              </a:prstGeom>
              <a:blipFill>
                <a:blip r:embed="rId6"/>
                <a:stretch>
                  <a:fillRect l="-3673" t="-3738" b="-14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0C873F-D720-BEC0-AEF6-2EBD90B37B23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26789" y="3516913"/>
            <a:ext cx="2175294" cy="12446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CF09DE-6949-8C5D-F4CA-8DA19E2211FB}"/>
                  </a:ext>
                </a:extLst>
              </p:cNvPr>
              <p:cNvSpPr txBox="1"/>
              <p:nvPr/>
            </p:nvSpPr>
            <p:spPr>
              <a:xfrm>
                <a:off x="3802809" y="4713336"/>
                <a:ext cx="1525440" cy="652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Possible lie: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1CF09DE-6949-8C5D-F4CA-8DA19E221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809" y="4713336"/>
                <a:ext cx="1525440" cy="652038"/>
              </a:xfrm>
              <a:prstGeom prst="rect">
                <a:avLst/>
              </a:prstGeom>
              <a:blipFill>
                <a:blip r:embed="rId7"/>
                <a:stretch>
                  <a:fillRect l="-3600" t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CCC41C-79FA-A7F0-87B6-DC660541BD8C}"/>
                  </a:ext>
                </a:extLst>
              </p:cNvPr>
              <p:cNvSpPr txBox="1"/>
              <p:nvPr/>
            </p:nvSpPr>
            <p:spPr>
              <a:xfrm>
                <a:off x="6373482" y="1681271"/>
                <a:ext cx="4304581" cy="652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Verifier:</a:t>
                </a:r>
              </a:p>
              <a:p>
                <a:r>
                  <a:rPr lang="en-US" dirty="0"/>
                  <a:t>Sample </a:t>
                </a:r>
                <a:r>
                  <a:rPr lang="pt-PT" dirty="0"/>
                  <a:t>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pt-PT" dirty="0"/>
                  <a:t> and check it is in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CCC41C-79FA-A7F0-87B6-DC660541B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482" y="1681271"/>
                <a:ext cx="4304581" cy="652038"/>
              </a:xfrm>
              <a:prstGeom prst="rect">
                <a:avLst/>
              </a:prstGeom>
              <a:blipFill>
                <a:blip r:embed="rId8"/>
                <a:stretch>
                  <a:fillRect l="-1275" t="-4673" b="-14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4BAD18F-15E5-E67D-F863-721E14C92FC4}"/>
                  </a:ext>
                </a:extLst>
              </p:cNvPr>
              <p:cNvSpPr txBox="1"/>
              <p:nvPr/>
            </p:nvSpPr>
            <p:spPr>
              <a:xfrm>
                <a:off x="925343" y="960082"/>
                <a:ext cx="35224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pt-PT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= true support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4BAD18F-15E5-E67D-F863-721E14C92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43" y="960082"/>
                <a:ext cx="3522451" cy="461665"/>
              </a:xfrm>
              <a:prstGeom prst="rect">
                <a:avLst/>
              </a:prstGeom>
              <a:blipFill>
                <a:blip r:embed="rId9"/>
                <a:stretch>
                  <a:fillRect l="-276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93E729-3FE1-7342-DB85-CA77968635E4}"/>
                  </a:ext>
                </a:extLst>
              </p:cNvPr>
              <p:cNvSpPr txBox="1"/>
              <p:nvPr/>
            </p:nvSpPr>
            <p:spPr>
              <a:xfrm>
                <a:off x="6602083" y="3176854"/>
                <a:ext cx="5651664" cy="929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Verifier:</a:t>
                </a:r>
              </a:p>
              <a:p>
                <a:r>
                  <a:rPr lang="en-US" dirty="0"/>
                  <a:t>Draw one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Sample uniformly from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dirty="0"/>
                  <a:t> and compare mass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93E729-3FE1-7342-DB85-CA7796863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083" y="3176854"/>
                <a:ext cx="5651664" cy="929037"/>
              </a:xfrm>
              <a:prstGeom prst="rect">
                <a:avLst/>
              </a:prstGeom>
              <a:blipFill>
                <a:blip r:embed="rId10"/>
                <a:stretch>
                  <a:fillRect l="-863" t="-2614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6E3AB0-8380-90CC-6E2C-1FCAF973C791}"/>
                  </a:ext>
                </a:extLst>
              </p:cNvPr>
              <p:cNvSpPr txBox="1"/>
              <p:nvPr/>
            </p:nvSpPr>
            <p:spPr>
              <a:xfrm>
                <a:off x="4036440" y="1915881"/>
                <a:ext cx="1525440" cy="652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Possible lie: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≫|</m:t>
                      </m:r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6E3AB0-8380-90CC-6E2C-1FCAF973C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440" y="1915881"/>
                <a:ext cx="1525440" cy="652038"/>
              </a:xfrm>
              <a:prstGeom prst="rect">
                <a:avLst/>
              </a:prstGeom>
              <a:blipFill>
                <a:blip r:embed="rId11"/>
                <a:stretch>
                  <a:fillRect l="-3200" t="-3738" b="-7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8707BE-557D-3603-DD2C-5D7928133740}"/>
              </a:ext>
            </a:extLst>
          </p:cNvPr>
          <p:cNvCxnSpPr>
            <a:cxnSpLocks/>
          </p:cNvCxnSpPr>
          <p:nvPr/>
        </p:nvCxnSpPr>
        <p:spPr>
          <a:xfrm flipV="1">
            <a:off x="3558395" y="5114558"/>
            <a:ext cx="2815087" cy="650839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6A547B-24B4-FF0D-8308-9FE678328BDB}"/>
                  </a:ext>
                </a:extLst>
              </p:cNvPr>
              <p:cNvSpPr txBox="1"/>
              <p:nvPr/>
            </p:nvSpPr>
            <p:spPr>
              <a:xfrm>
                <a:off x="6373482" y="4337704"/>
                <a:ext cx="56516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Verifier </a:t>
                </a:r>
                <a14:m>
                  <m:oMath xmlns:m="http://schemas.openxmlformats.org/officeDocument/2006/math">
                    <m:r>
                      <a:rPr lang="en-US" i="1" u="sng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u="sng" dirty="0"/>
                  <a:t>Prover:</a:t>
                </a:r>
              </a:p>
              <a:p>
                <a:r>
                  <a:rPr lang="en-US" dirty="0"/>
                  <a:t>Draw one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hide it amongst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samples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u="sng" dirty="0"/>
                  <a:t>Prover </a:t>
                </a:r>
                <a14:m>
                  <m:oMath xmlns:m="http://schemas.openxmlformats.org/officeDocument/2006/math">
                    <m:r>
                      <a:rPr lang="en-US" i="1" u="sng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u="sng" dirty="0"/>
                  <a:t> Verifier:</a:t>
                </a:r>
                <a:r>
                  <a:rPr lang="en-US" dirty="0"/>
                  <a:t> Location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86A547B-24B4-FF0D-8308-9FE678328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482" y="4337704"/>
                <a:ext cx="5651664" cy="1200329"/>
              </a:xfrm>
              <a:prstGeom prst="rect">
                <a:avLst/>
              </a:prstGeom>
              <a:blipFill>
                <a:blip r:embed="rId12"/>
                <a:stretch>
                  <a:fillRect l="-971" t="-2551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13B5CED-45A8-FD23-7FE8-50D6456FC3F6}"/>
                  </a:ext>
                </a:extLst>
              </p:cNvPr>
              <p:cNvSpPr txBox="1"/>
              <p:nvPr/>
            </p:nvSpPr>
            <p:spPr>
              <a:xfrm>
                <a:off x="4036440" y="6166619"/>
                <a:ext cx="1525440" cy="652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Possible lie: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≪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13B5CED-45A8-FD23-7FE8-50D6456FC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440" y="6166619"/>
                <a:ext cx="1525440" cy="652038"/>
              </a:xfrm>
              <a:prstGeom prst="rect">
                <a:avLst/>
              </a:prstGeom>
              <a:blipFill>
                <a:blip r:embed="rId13"/>
                <a:stretch>
                  <a:fillRect l="-3200" t="-4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49D0E8C-882F-2C30-2FE0-B1C68B7EAE07}"/>
              </a:ext>
            </a:extLst>
          </p:cNvPr>
          <p:cNvCxnSpPr>
            <a:cxnSpLocks/>
          </p:cNvCxnSpPr>
          <p:nvPr/>
        </p:nvCxnSpPr>
        <p:spPr>
          <a:xfrm>
            <a:off x="3512388" y="5888810"/>
            <a:ext cx="3266537" cy="573693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BB71783-2A8F-3FA8-7C05-90167289CA30}"/>
                  </a:ext>
                </a:extLst>
              </p:cNvPr>
              <p:cNvSpPr txBox="1"/>
              <p:nvPr/>
            </p:nvSpPr>
            <p:spPr>
              <a:xfrm>
                <a:off x="6813431" y="5618328"/>
                <a:ext cx="56516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/>
                  <a:t>Verifier </a:t>
                </a:r>
                <a14:m>
                  <m:oMath xmlns:m="http://schemas.openxmlformats.org/officeDocument/2006/math">
                    <m:r>
                      <a:rPr lang="en-US" i="1" u="sng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u="sng" dirty="0"/>
                  <a:t>Prover:</a:t>
                </a:r>
              </a:p>
              <a:p>
                <a:r>
                  <a:rPr lang="en-US" dirty="0"/>
                  <a:t>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samples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u="sng" dirty="0"/>
                  <a:t>Prover </a:t>
                </a:r>
                <a14:m>
                  <m:oMath xmlns:m="http://schemas.openxmlformats.org/officeDocument/2006/math">
                    <m:r>
                      <a:rPr lang="en-US" i="1" u="sng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u="sng" dirty="0"/>
                  <a:t> Verifier:</a:t>
                </a:r>
                <a:r>
                  <a:rPr lang="en-US" dirty="0"/>
                  <a:t> Identify some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i="1" dirty="0"/>
              </a:p>
              <a:p>
                <a:r>
                  <a:rPr lang="en-US" u="sng" dirty="0"/>
                  <a:t>Verifier: </a:t>
                </a:r>
                <a:r>
                  <a:rPr lang="en-US" dirty="0"/>
                  <a:t>Draw one point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compare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BB71783-2A8F-3FA8-7C05-90167289C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431" y="5618328"/>
                <a:ext cx="5651664" cy="1200329"/>
              </a:xfrm>
              <a:prstGeom prst="rect">
                <a:avLst/>
              </a:prstGeom>
              <a:blipFill>
                <a:blip r:embed="rId14"/>
                <a:stretch>
                  <a:fillRect l="-971" t="-2538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1272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55DC5-144A-32CB-9D5B-51C82D67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7E43-113E-E048-297B-6C07E744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18256"/>
            <a:ext cx="7634557" cy="876124"/>
          </a:xfrm>
        </p:spPr>
        <p:txBody>
          <a:bodyPr/>
          <a:lstStyle/>
          <a:p>
            <a:r>
              <a:rPr lang="en-US" dirty="0"/>
              <a:t>Proof Overview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EAE2D9-13A5-3227-9C89-FD3DCB42EF20}"/>
              </a:ext>
            </a:extLst>
          </p:cNvPr>
          <p:cNvSpPr txBox="1"/>
          <p:nvPr/>
        </p:nvSpPr>
        <p:spPr>
          <a:xfrm>
            <a:off x="180975" y="1345070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1. Verifying a label-invariant property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4FF2D5-AF91-EA11-F429-675CCA47C463}"/>
              </a:ext>
            </a:extLst>
          </p:cNvPr>
          <p:cNvSpPr txBox="1"/>
          <p:nvPr/>
        </p:nvSpPr>
        <p:spPr>
          <a:xfrm>
            <a:off x="1903382" y="2532532"/>
            <a:ext cx="6038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2. Verifying a bucket histogram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0D7A04-A371-42F1-7A28-F2EB5BC22C2C}"/>
              </a:ext>
            </a:extLst>
          </p:cNvPr>
          <p:cNvSpPr txBox="1"/>
          <p:nvPr/>
        </p:nvSpPr>
        <p:spPr>
          <a:xfrm>
            <a:off x="3415879" y="3914565"/>
            <a:ext cx="66252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3. Verifying the probability mass of one point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D5ED3-4158-2559-3A44-95C13A14AF66}"/>
              </a:ext>
            </a:extLst>
          </p:cNvPr>
          <p:cNvSpPr txBox="1"/>
          <p:nvPr/>
        </p:nvSpPr>
        <p:spPr>
          <a:xfrm>
            <a:off x="6304382" y="5296598"/>
            <a:ext cx="603849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4. Verifying the support size of a nearly-flat distribution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9710C79A-5FB8-CFA8-2C20-7932604D8EB7}"/>
              </a:ext>
            </a:extLst>
          </p:cNvPr>
          <p:cNvSpPr/>
          <p:nvPr/>
        </p:nvSpPr>
        <p:spPr>
          <a:xfrm rot="15552840" flipV="1">
            <a:off x="4616226" y="111176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452D712-3044-8887-65AA-EADBB088ED5A}"/>
              </a:ext>
            </a:extLst>
          </p:cNvPr>
          <p:cNvSpPr/>
          <p:nvPr/>
        </p:nvSpPr>
        <p:spPr>
          <a:xfrm rot="15552840" flipV="1">
            <a:off x="6781276" y="2443074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08E87641-48C3-C59B-DE6D-3D76632ECFEA}"/>
              </a:ext>
            </a:extLst>
          </p:cNvPr>
          <p:cNvSpPr/>
          <p:nvPr/>
        </p:nvSpPr>
        <p:spPr>
          <a:xfrm rot="15552840" flipV="1">
            <a:off x="9331819" y="3780420"/>
            <a:ext cx="2068511" cy="2346387"/>
          </a:xfrm>
          <a:prstGeom prst="circularArrow">
            <a:avLst>
              <a:gd name="adj1" fmla="val 7793"/>
              <a:gd name="adj2" fmla="val 936142"/>
              <a:gd name="adj3" fmla="val 19989511"/>
              <a:gd name="adj4" fmla="val 14630884"/>
              <a:gd name="adj5" fmla="val 125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9E5B6E-DCB3-D27D-A9F2-C8ADA17503C4}"/>
              </a:ext>
            </a:extLst>
          </p:cNvPr>
          <p:cNvSpPr/>
          <p:nvPr/>
        </p:nvSpPr>
        <p:spPr>
          <a:xfrm>
            <a:off x="6393708" y="64050"/>
            <a:ext cx="5736746" cy="127512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F350ED-14DB-239D-954E-D73FF24EC60C}"/>
                  </a:ext>
                </a:extLst>
              </p:cNvPr>
              <p:cNvSpPr txBox="1"/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Every label-invariant property can be verified using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000" dirty="0"/>
                  <a:t> samples,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000" dirty="0"/>
                  <a:t> queries, and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communication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F350ED-14DB-239D-954E-D73FF24EC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5254" y="18256"/>
                <a:ext cx="5736746" cy="1377108"/>
              </a:xfrm>
              <a:prstGeom prst="rect">
                <a:avLst/>
              </a:prstGeom>
              <a:blipFill>
                <a:blip r:embed="rId2"/>
                <a:stretch>
                  <a:fillRect l="-1169" t="-2655" b="-6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161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B093BC-B039-2933-7249-84C11EA2990F}"/>
              </a:ext>
            </a:extLst>
          </p:cNvPr>
          <p:cNvSpPr/>
          <p:nvPr/>
        </p:nvSpPr>
        <p:spPr>
          <a:xfrm>
            <a:off x="234351" y="799488"/>
            <a:ext cx="11723298" cy="1890445"/>
          </a:xfrm>
          <a:prstGeom prst="round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D20A0-3C8E-5C54-5722-A17C852D2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51" y="-100702"/>
            <a:ext cx="10515600" cy="1325563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01E36D-5B36-A368-D910-55CF7BEB6A53}"/>
                  </a:ext>
                </a:extLst>
              </p:cNvPr>
              <p:cNvSpPr txBox="1"/>
              <p:nvPr/>
            </p:nvSpPr>
            <p:spPr>
              <a:xfrm>
                <a:off x="294646" y="799489"/>
                <a:ext cx="11602708" cy="21903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u="sng" dirty="0">
                    <a:solidFill>
                      <a:srgbClr val="00B050"/>
                    </a:solidFill>
                  </a:rPr>
                  <a:t>This work:</a:t>
                </a:r>
                <a:r>
                  <a:rPr lang="en-US" sz="2600" dirty="0">
                    <a:solidFill>
                      <a:srgbClr val="00B050"/>
                    </a:solidFill>
                  </a:rPr>
                  <a:t> </a:t>
                </a:r>
                <a:r>
                  <a:rPr lang="en-US" sz="2600" dirty="0"/>
                  <a:t>Can verify any label-invariant property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600" dirty="0"/>
                  <a:t> of distributions on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600" dirty="0"/>
                  <a:t> using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600" dirty="0"/>
                  <a:t> samples,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600" dirty="0"/>
                  <a:t> queries, and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600" i="1" dirty="0"/>
                  <a:t> </a:t>
                </a:r>
                <a:r>
                  <a:rPr lang="en-US" sz="2600" dirty="0"/>
                  <a:t>communication (over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poly</m:t>
                    </m:r>
                    <m:func>
                      <m:func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sz="2600" dirty="0"/>
                  <a:t> rounds of interactions)</a:t>
                </a:r>
                <a:endParaRPr lang="en-US" sz="2600" i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701E36D-5B36-A368-D910-55CF7BEB6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6" y="799489"/>
                <a:ext cx="11602708" cy="2190343"/>
              </a:xfrm>
              <a:prstGeom prst="rect">
                <a:avLst/>
              </a:prstGeom>
              <a:blipFill>
                <a:blip r:embed="rId2"/>
                <a:stretch>
                  <a:fillRect l="-945" t="-2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72B9D9-8B10-2311-CAB4-4829AEBC1999}"/>
                  </a:ext>
                </a:extLst>
              </p:cNvPr>
              <p:cNvSpPr txBox="1"/>
              <p:nvPr/>
            </p:nvSpPr>
            <p:spPr>
              <a:xfrm>
                <a:off x="294646" y="2782669"/>
                <a:ext cx="11602708" cy="3777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u="sng" dirty="0"/>
                  <a:t>Open Questions:</a:t>
                </a:r>
              </a:p>
              <a:p>
                <a:pPr marL="514350" indent="-514350">
                  <a:buAutoNum type="arabicPeriod"/>
                </a:pPr>
                <a:r>
                  <a:rPr lang="en-US" sz="2600" dirty="0"/>
                  <a:t>Reduce rounds? Reduce communication?</a:t>
                </a:r>
              </a:p>
              <a:p>
                <a:pPr marL="514350" indent="-514350">
                  <a:buAutoNum type="arabicPeriod"/>
                </a:pPr>
                <a:r>
                  <a:rPr lang="en-US" sz="2600" dirty="0"/>
                  <a:t>What can we do 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e>
                    </m:rad>
                  </m:oMath>
                </a14:m>
                <a:r>
                  <a:rPr lang="en-US" sz="2600" dirty="0"/>
                  <a:t> or even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>
                        <a:latin typeface="Cambria Math" panose="02040503050406030204" pitchFamily="18" charset="0"/>
                      </a:rPr>
                      <m:t>PCOND</m:t>
                    </m:r>
                  </m:oMath>
                </a14:m>
                <a:r>
                  <a:rPr lang="en-US" sz="2600" dirty="0"/>
                  <a:t> queries?</a:t>
                </a:r>
              </a:p>
              <a:p>
                <a:pPr marL="514350" indent="-514350">
                  <a:buAutoNum type="arabicPeriod"/>
                </a:pPr>
                <a:r>
                  <a:rPr lang="en-US" sz="2600" dirty="0"/>
                  <a:t>Doubly-efficient protocols?     [Herman-Rothblum23]</a:t>
                </a:r>
              </a:p>
              <a:p>
                <a:pPr marL="514350" indent="-514350">
                  <a:buAutoNum type="arabicPeriod"/>
                </a:pPr>
                <a:r>
                  <a:rPr lang="en-US" sz="2600" dirty="0"/>
                  <a:t>Public-coin protocols?    [Herman24]</a:t>
                </a:r>
              </a:p>
              <a:p>
                <a:pPr marL="514350" indent="-514350">
                  <a:buAutoNum type="arabicPeriod"/>
                </a:pPr>
                <a:endParaRPr lang="en-US" sz="2600" dirty="0"/>
              </a:p>
              <a:p>
                <a:pPr marL="514350" indent="-514350">
                  <a:buAutoNum type="arabicPeriod"/>
                </a:pPr>
                <a:r>
                  <a:rPr lang="en-US" sz="2600" dirty="0"/>
                  <a:t> What are reasonable distribution access models for verification?</a:t>
                </a:r>
              </a:p>
              <a:p>
                <a:pPr marL="514350" indent="-514350">
                  <a:buAutoNum type="arabicPeriod"/>
                </a:pPr>
                <a:r>
                  <a:rPr lang="en-US" sz="2600" dirty="0"/>
                  <a:t>Other verification problems/models for machine learning?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72B9D9-8B10-2311-CAB4-4829AEBC1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6" y="2782669"/>
                <a:ext cx="11602708" cy="3777765"/>
              </a:xfrm>
              <a:prstGeom prst="rect">
                <a:avLst/>
              </a:prstGeom>
              <a:blipFill>
                <a:blip r:embed="rId3"/>
                <a:stretch>
                  <a:fillRect l="-945" t="-1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loud 5">
            <a:extLst>
              <a:ext uri="{FF2B5EF4-FFF2-40B4-BE49-F238E27FC236}">
                <a16:creationId xmlns:a16="http://schemas.microsoft.com/office/drawing/2014/main" id="{8AAE99D0-E3FE-353D-C4B9-327D0F0C7F58}"/>
              </a:ext>
            </a:extLst>
          </p:cNvPr>
          <p:cNvSpPr/>
          <p:nvPr/>
        </p:nvSpPr>
        <p:spPr>
          <a:xfrm>
            <a:off x="10049773" y="3890023"/>
            <a:ext cx="1716657" cy="121632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112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6340</TotalTime>
  <Words>3607</Words>
  <Application>Microsoft Office PowerPoint</Application>
  <PresentationFormat>Widescreen</PresentationFormat>
  <Paragraphs>581</Paragraphs>
  <Slides>42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Office Theme</vt:lpstr>
      <vt:lpstr>Interactive Proofs for Distribution Testing with Conditional Oracles</vt:lpstr>
      <vt:lpstr>Distribution Testing</vt:lpstr>
      <vt:lpstr>Distribution Testing</vt:lpstr>
      <vt:lpstr>Distribution Testing</vt:lpstr>
      <vt:lpstr>Verifying Distribution Properties</vt:lpstr>
      <vt:lpstr>Verifying Distribution Properties</vt:lpstr>
      <vt:lpstr>Verifying Distribution Properties</vt:lpstr>
      <vt:lpstr>Verifiable Data Science</vt:lpstr>
      <vt:lpstr>Verifying Distribution Properties</vt:lpstr>
      <vt:lpstr>Verifying Distribution Properties</vt:lpstr>
      <vt:lpstr>Verifying Distribution Properties</vt:lpstr>
      <vt:lpstr>Verifying Distribution Properties</vt:lpstr>
      <vt:lpstr>Verifying Distribution Properties</vt:lpstr>
      <vt:lpstr>Lower Bound for Verifying Uniformity</vt:lpstr>
      <vt:lpstr>Lower Bound for Verifying Uniformity</vt:lpstr>
      <vt:lpstr>Toward Practical Verification?</vt:lpstr>
      <vt:lpstr>Pairwise Conditional Queries</vt:lpstr>
      <vt:lpstr>Pairwise Conditional Queries</vt:lpstr>
      <vt:lpstr>PCOND Can Be Powerful!</vt:lpstr>
      <vt:lpstr>PCOND Can Be Powerful!</vt:lpstr>
      <vt:lpstr>PCOND Can Be Powerful!</vt:lpstr>
      <vt:lpstr>PCOND Can Be Powerful!</vt:lpstr>
      <vt:lpstr>PCOND Can Be Powerful!</vt:lpstr>
      <vt:lpstr>But Not Too Powerful</vt:lpstr>
      <vt:lpstr>Verification with PCOND (this work)</vt:lpstr>
      <vt:lpstr>Verification with PCOND (this work)</vt:lpstr>
      <vt:lpstr>Main Results</vt:lpstr>
      <vt:lpstr>Proof Overview</vt:lpstr>
      <vt:lpstr>Bucket Histograms</vt:lpstr>
      <vt:lpstr>Bucket Histograms</vt:lpstr>
      <vt:lpstr>Proof Overview</vt:lpstr>
      <vt:lpstr>Verifying a Bucket Histogram</vt:lpstr>
      <vt:lpstr>Proof Overview</vt:lpstr>
      <vt:lpstr>Verifying Probability Mass of One Point</vt:lpstr>
      <vt:lpstr>Proof Overview</vt:lpstr>
      <vt:lpstr>Verifying Support Size</vt:lpstr>
      <vt:lpstr>Verifying Support Size</vt:lpstr>
      <vt:lpstr>Verifying Support Size</vt:lpstr>
      <vt:lpstr>Verifying Support Size</vt:lpstr>
      <vt:lpstr>Verifying Support Size</vt:lpstr>
      <vt:lpstr>Proof Overview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Sivakumar, Satchit</dc:creator>
  <cp:lastModifiedBy>Bun, Mark</cp:lastModifiedBy>
  <cp:revision>233</cp:revision>
  <dcterms:created xsi:type="dcterms:W3CDTF">2024-04-23T15:28:46Z</dcterms:created>
  <dcterms:modified xsi:type="dcterms:W3CDTF">2025-10-17T18:15:26Z</dcterms:modified>
</cp:coreProperties>
</file>